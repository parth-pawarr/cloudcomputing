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Calibri" panose="020F0502020204030204" pitchFamily="34" charset="0"/>
      <p:regular r:id="rId23"/>
      <p:bold r:id="rId24"/>
      <p:italic r:id="rId25"/>
      <p:boldItalic r:id="rId26"/>
    </p:embeddedFont>
    <p:embeddedFont>
      <p:font typeface="Quattrocento Sans"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3618">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guide orient="horz" pos="2880"/>
        <p:guide pos="36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36399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 name="Google Shape;3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 name="Google Shape;3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44684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803766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3" name="Google Shape;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880993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 name="Google Shape;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183990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4" name="Google Shape;7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227918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8" name="Google Shape;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992609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0" name="Google Shape;10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30018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2" name="Google Shape;11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423771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4" name="Google Shape;12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214380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6" name="Google Shape;13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452844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8" name="Google Shape;14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51128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0" name="Google Shape;16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707077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1" name="Google Shape;17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871762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4" name="Google Shape;18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971037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5" name="Google Shape;19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242852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6" name="Google Shape;20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862400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6" name="Google Shape;21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543253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6" name="Google Shape;22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917419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6" name="Google Shape;23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930939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6" name="Google Shape;24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680478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2" descr="Graphical user interface&#10;&#10;Description automatically generated"/>
          <p:cNvPicPr preferRelativeResize="0"/>
          <p:nvPr/>
        </p:nvPicPr>
        <p:blipFill rotWithShape="1">
          <a:blip r:embed="rId2">
            <a:alphaModFix/>
          </a:blip>
          <a:srcRect/>
          <a:stretch/>
        </p:blipFill>
        <p:spPr>
          <a:xfrm>
            <a:off x="190500" y="138113"/>
            <a:ext cx="1776413" cy="868362"/>
          </a:xfrm>
          <a:prstGeom prst="rect">
            <a:avLst/>
          </a:prstGeom>
          <a:noFill/>
          <a:ln>
            <a:noFill/>
          </a:ln>
        </p:spPr>
      </p:pic>
      <p:sp>
        <p:nvSpPr>
          <p:cNvPr id="17" name="Google Shape;17;p2"/>
          <p:cNvSpPr txBox="1">
            <a:spLocks noGrp="1"/>
          </p:cNvSpPr>
          <p:nvPr>
            <p:ph type="title"/>
          </p:nvPr>
        </p:nvSpPr>
        <p:spPr>
          <a:xfrm>
            <a:off x="303232" y="2484471"/>
            <a:ext cx="4097318" cy="2130561"/>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50" b="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cxnSp>
        <p:nvCxnSpPr>
          <p:cNvPr id="19" name="Google Shape;19;p3"/>
          <p:cNvCxnSpPr/>
          <p:nvPr/>
        </p:nvCxnSpPr>
        <p:spPr>
          <a:xfrm>
            <a:off x="400050" y="1104900"/>
            <a:ext cx="8339138" cy="0"/>
          </a:xfrm>
          <a:prstGeom prst="straightConnector1">
            <a:avLst/>
          </a:prstGeom>
          <a:noFill/>
          <a:ln w="25400" cap="flat" cmpd="sng">
            <a:solidFill>
              <a:srgbClr val="D24726"/>
            </a:solidFill>
            <a:prstDash val="solid"/>
            <a:miter lim="800000"/>
            <a:headEnd type="none" w="sm" len="sm"/>
            <a:tailEnd type="none" w="sm" len="sm"/>
          </a:ln>
        </p:spPr>
      </p:cxnSp>
      <p:sp>
        <p:nvSpPr>
          <p:cNvPr id="20" name="Google Shape;20;p3"/>
          <p:cNvSpPr txBox="1">
            <a:spLocks noGrp="1"/>
          </p:cNvSpPr>
          <p:nvPr>
            <p:ph type="body" idx="1"/>
          </p:nvPr>
        </p:nvSpPr>
        <p:spPr>
          <a:xfrm>
            <a:off x="337947" y="2560320"/>
            <a:ext cx="7084314" cy="3977640"/>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1400"/>
              <a:buNone/>
              <a:defRPr sz="1800">
                <a:solidFill>
                  <a:srgbClr val="3F3F3F"/>
                </a:solidFill>
                <a:latin typeface="Quattrocento Sans"/>
                <a:ea typeface="Quattrocento Sans"/>
                <a:cs typeface="Quattrocento Sans"/>
                <a:sym typeface="Quattrocento Sans"/>
              </a:defRPr>
            </a:lvl1pPr>
            <a:lvl2pPr marL="914400" lvl="1" indent="-28575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2pPr>
            <a:lvl3pPr marL="1371600" lvl="2" indent="-28575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3pPr>
            <a:lvl4pPr marL="1828800" lvl="3" indent="-28575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4pPr>
            <a:lvl5pPr marL="2286000" lvl="4" indent="-28575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5pPr>
            <a:lvl6pPr marL="2743200" lvl="5" indent="-342900" algn="l">
              <a:lnSpc>
                <a:spcPct val="150000"/>
              </a:lnSpc>
              <a:spcBef>
                <a:spcPts val="900"/>
              </a:spcBef>
              <a:spcAft>
                <a:spcPts val="0"/>
              </a:spcAft>
              <a:buClr>
                <a:schemeClr val="dk1"/>
              </a:buClr>
              <a:buSzPts val="1800"/>
              <a:buChar char="•"/>
              <a:defRPr/>
            </a:lvl6pPr>
            <a:lvl7pPr marL="3200400" lvl="6" indent="-342900" algn="l">
              <a:lnSpc>
                <a:spcPct val="150000"/>
              </a:lnSpc>
              <a:spcBef>
                <a:spcPts val="900"/>
              </a:spcBef>
              <a:spcAft>
                <a:spcPts val="0"/>
              </a:spcAft>
              <a:buClr>
                <a:schemeClr val="dk1"/>
              </a:buClr>
              <a:buSzPts val="1800"/>
              <a:buChar char="•"/>
              <a:defRPr/>
            </a:lvl7pPr>
            <a:lvl8pPr marL="3657600" lvl="7" indent="-342900" algn="l">
              <a:lnSpc>
                <a:spcPct val="150000"/>
              </a:lnSpc>
              <a:spcBef>
                <a:spcPts val="900"/>
              </a:spcBef>
              <a:spcAft>
                <a:spcPts val="0"/>
              </a:spcAft>
              <a:buClr>
                <a:schemeClr val="dk1"/>
              </a:buClr>
              <a:buSzPts val="1800"/>
              <a:buChar char="•"/>
              <a:defRPr/>
            </a:lvl8pPr>
            <a:lvl9pPr marL="4114800" lvl="8" indent="-228600" algn="l">
              <a:lnSpc>
                <a:spcPct val="90000"/>
              </a:lnSpc>
              <a:spcBef>
                <a:spcPts val="900"/>
              </a:spcBef>
              <a:spcAft>
                <a:spcPts val="0"/>
              </a:spcAft>
              <a:buClr>
                <a:schemeClr val="dk1"/>
              </a:buClr>
              <a:buSzPts val="1800"/>
              <a:buNone/>
              <a:defRPr/>
            </a:lvl9pPr>
          </a:lstStyle>
          <a:p>
            <a:endParaRPr/>
          </a:p>
        </p:txBody>
      </p:sp>
      <p:sp>
        <p:nvSpPr>
          <p:cNvPr id="21" name="Google Shape;21;p3"/>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
        <p:cNvGrpSpPr/>
        <p:nvPr/>
      </p:nvGrpSpPr>
      <p:grpSpPr>
        <a:xfrm>
          <a:off x="0" y="0"/>
          <a:ext cx="0" cy="0"/>
          <a:chOff x="0" y="0"/>
          <a:chExt cx="0" cy="0"/>
        </a:xfrm>
      </p:grpSpPr>
      <p:cxnSp>
        <p:nvCxnSpPr>
          <p:cNvPr id="23" name="Google Shape;23;p4"/>
          <p:cNvCxnSpPr/>
          <p:nvPr/>
        </p:nvCxnSpPr>
        <p:spPr>
          <a:xfrm>
            <a:off x="400050" y="1104900"/>
            <a:ext cx="8339138" cy="0"/>
          </a:xfrm>
          <a:prstGeom prst="straightConnector1">
            <a:avLst/>
          </a:prstGeom>
          <a:noFill/>
          <a:ln w="25400" cap="flat" cmpd="sng">
            <a:solidFill>
              <a:srgbClr val="D24726"/>
            </a:solidFill>
            <a:prstDash val="solid"/>
            <a:miter lim="800000"/>
            <a:headEnd type="none" w="sm" len="sm"/>
            <a:tailEnd type="none" w="sm" len="sm"/>
          </a:ln>
        </p:spPr>
      </p:cxnSp>
      <p:sp>
        <p:nvSpPr>
          <p:cNvPr id="24" name="Google Shape;24;p4"/>
          <p:cNvSpPr txBox="1">
            <a:spLocks noGrp="1"/>
          </p:cNvSpPr>
          <p:nvPr>
            <p:ph type="title"/>
          </p:nvPr>
        </p:nvSpPr>
        <p:spPr>
          <a:xfrm>
            <a:off x="304800" y="448056"/>
            <a:ext cx="8410575" cy="555554"/>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SzPts val="1400"/>
              <a:buNone/>
              <a:defRPr sz="2100">
                <a:solidFill>
                  <a:srgbClr val="3A383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33375" y="1460500"/>
            <a:ext cx="3995928" cy="39776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750"/>
              </a:spcBef>
              <a:spcAft>
                <a:spcPts val="0"/>
              </a:spcAft>
              <a:buSzPts val="1400"/>
              <a:buNone/>
              <a:defRPr sz="1050">
                <a:solidFill>
                  <a:srgbClr val="3F3F3F"/>
                </a:solidFill>
              </a:defRPr>
            </a:lvl1pPr>
            <a:lvl2pPr marL="914400" lvl="1" indent="-295275" algn="l">
              <a:lnSpc>
                <a:spcPct val="100000"/>
              </a:lnSpc>
              <a:spcBef>
                <a:spcPts val="900"/>
              </a:spcBef>
              <a:spcAft>
                <a:spcPts val="0"/>
              </a:spcAft>
              <a:buClr>
                <a:srgbClr val="3F3F3F"/>
              </a:buClr>
              <a:buSzPts val="1050"/>
              <a:buChar char="•"/>
              <a:defRPr sz="1050">
                <a:solidFill>
                  <a:srgbClr val="3F3F3F"/>
                </a:solidFill>
              </a:defRPr>
            </a:lvl2pPr>
            <a:lvl3pPr marL="1371600" lvl="2" indent="-295275" algn="l">
              <a:lnSpc>
                <a:spcPct val="100000"/>
              </a:lnSpc>
              <a:spcBef>
                <a:spcPts val="900"/>
              </a:spcBef>
              <a:spcAft>
                <a:spcPts val="0"/>
              </a:spcAft>
              <a:buClr>
                <a:srgbClr val="3F3F3F"/>
              </a:buClr>
              <a:buSzPts val="1050"/>
              <a:buChar char="•"/>
              <a:defRPr sz="1050">
                <a:solidFill>
                  <a:srgbClr val="3F3F3F"/>
                </a:solidFill>
              </a:defRPr>
            </a:lvl3pPr>
            <a:lvl4pPr marL="1828800" lvl="3" indent="-295275" algn="l">
              <a:lnSpc>
                <a:spcPct val="100000"/>
              </a:lnSpc>
              <a:spcBef>
                <a:spcPts val="900"/>
              </a:spcBef>
              <a:spcAft>
                <a:spcPts val="0"/>
              </a:spcAft>
              <a:buClr>
                <a:srgbClr val="3F3F3F"/>
              </a:buClr>
              <a:buSzPts val="1050"/>
              <a:buChar char="•"/>
              <a:defRPr sz="1050">
                <a:solidFill>
                  <a:srgbClr val="3F3F3F"/>
                </a:solidFill>
              </a:defRPr>
            </a:lvl4pPr>
            <a:lvl5pPr marL="2286000" lvl="4" indent="-295275" algn="l">
              <a:lnSpc>
                <a:spcPct val="100000"/>
              </a:lnSpc>
              <a:spcBef>
                <a:spcPts val="900"/>
              </a:spcBef>
              <a:spcAft>
                <a:spcPts val="0"/>
              </a:spcAft>
              <a:buClr>
                <a:srgbClr val="3F3F3F"/>
              </a:buClr>
              <a:buSzPts val="1050"/>
              <a:buChar char="•"/>
              <a:defRPr sz="1050">
                <a:solidFill>
                  <a:srgbClr val="3F3F3F"/>
                </a:solidFill>
              </a:defRPr>
            </a:lvl5pPr>
            <a:lvl6pPr marL="2743200" lvl="5" indent="-342900" algn="l">
              <a:lnSpc>
                <a:spcPct val="150000"/>
              </a:lnSpc>
              <a:spcBef>
                <a:spcPts val="900"/>
              </a:spcBef>
              <a:spcAft>
                <a:spcPts val="0"/>
              </a:spcAft>
              <a:buClr>
                <a:schemeClr val="dk1"/>
              </a:buClr>
              <a:buSzPts val="1800"/>
              <a:buChar char="•"/>
              <a:defRPr/>
            </a:lvl6pPr>
            <a:lvl7pPr marL="3200400" lvl="6" indent="-342900" algn="l">
              <a:lnSpc>
                <a:spcPct val="150000"/>
              </a:lnSpc>
              <a:spcBef>
                <a:spcPts val="900"/>
              </a:spcBef>
              <a:spcAft>
                <a:spcPts val="0"/>
              </a:spcAft>
              <a:buClr>
                <a:schemeClr val="dk1"/>
              </a:buClr>
              <a:buSzPts val="1800"/>
              <a:buChar char="•"/>
              <a:defRPr/>
            </a:lvl7pPr>
            <a:lvl8pPr marL="3657600" lvl="7" indent="-342900" algn="l">
              <a:lnSpc>
                <a:spcPct val="150000"/>
              </a:lnSpc>
              <a:spcBef>
                <a:spcPts val="900"/>
              </a:spcBef>
              <a:spcAft>
                <a:spcPts val="0"/>
              </a:spcAft>
              <a:buClr>
                <a:schemeClr val="dk1"/>
              </a:buClr>
              <a:buSzPts val="1800"/>
              <a:buChar char="•"/>
              <a:defRPr/>
            </a:lvl8pPr>
            <a:lvl9pPr marL="4114800" lvl="8" indent="-228600" algn="l">
              <a:lnSpc>
                <a:spcPct val="90000"/>
              </a:lnSpc>
              <a:spcBef>
                <a:spcPts val="900"/>
              </a:spcBef>
              <a:spcAft>
                <a:spcPts val="0"/>
              </a:spcAft>
              <a:buClr>
                <a:schemeClr val="dk1"/>
              </a:buClr>
              <a:buSzPts val="1800"/>
              <a:buNone/>
              <a:defRPr/>
            </a:lvl9pPr>
          </a:lstStyle>
          <a:p>
            <a:endParaRPr/>
          </a:p>
        </p:txBody>
      </p:sp>
      <p:sp>
        <p:nvSpPr>
          <p:cNvPr id="26" name="Google Shape;26;p4"/>
          <p:cNvSpPr txBox="1">
            <a:spLocks noGrp="1"/>
          </p:cNvSpPr>
          <p:nvPr>
            <p:ph type="dt" idx="10"/>
          </p:nvPr>
        </p:nvSpPr>
        <p:spPr>
          <a:xfrm>
            <a:off x="404813" y="6203950"/>
            <a:ext cx="24574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900">
                <a:solidFill>
                  <a:srgbClr val="59595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3486150" y="6203950"/>
            <a:ext cx="21717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900">
                <a:solidFill>
                  <a:srgbClr val="59595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6278563" y="6203950"/>
            <a:ext cx="245745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1pPr>
            <a:lvl2pPr marL="0" lvl="1"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2pPr>
            <a:lvl3pPr marL="0" lvl="2"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3pPr>
            <a:lvl4pPr marL="0" lvl="3"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4pPr>
            <a:lvl5pPr marL="0" lvl="4"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5pPr>
            <a:lvl6pPr marL="0" lvl="5"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6pPr>
            <a:lvl7pPr marL="0" lvl="6"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7pPr>
            <a:lvl8pPr marL="0" lvl="7"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8pPr>
            <a:lvl9pPr marL="0" lvl="8" indent="0" algn="r">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1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1" name="Google Shape;11;p1"/>
          <p:cNvSpPr txBox="1">
            <a:spLocks noGrp="1"/>
          </p:cNvSpPr>
          <p:nvPr>
            <p:ph type="body" idx="1"/>
          </p:nvPr>
        </p:nvSpPr>
        <p:spPr>
          <a:xfrm>
            <a:off x="314325" y="1447800"/>
            <a:ext cx="3995738" cy="397827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750"/>
              </a:spcBef>
              <a:spcAft>
                <a:spcPts val="0"/>
              </a:spcAft>
              <a:buSzPts val="1400"/>
              <a:buNone/>
              <a:defRPr sz="1000" b="0" i="0" u="none" strike="noStrike" cap="none">
                <a:solidFill>
                  <a:schemeClr val="dk1"/>
                </a:solidFill>
                <a:latin typeface="Quattrocento Sans"/>
                <a:ea typeface="Quattrocento Sans"/>
                <a:cs typeface="Quattrocento Sans"/>
                <a:sym typeface="Quattrocento Sans"/>
              </a:defRPr>
            </a:lvl1pPr>
            <a:lvl2pPr marL="914400" marR="0" lvl="1" indent="-292100" algn="l" rtl="0">
              <a:spcBef>
                <a:spcPts val="900"/>
              </a:spcBef>
              <a:spcAft>
                <a:spcPts val="0"/>
              </a:spcAft>
              <a:buClr>
                <a:schemeClr val="dk1"/>
              </a:buClr>
              <a:buSzPts val="1000"/>
              <a:buFont typeface="Arial"/>
              <a:buChar char="•"/>
              <a:defRPr sz="1000" b="0" i="0" u="none" strike="noStrike" cap="none">
                <a:solidFill>
                  <a:schemeClr val="dk1"/>
                </a:solidFill>
                <a:latin typeface="Quattrocento Sans"/>
                <a:ea typeface="Quattrocento Sans"/>
                <a:cs typeface="Quattrocento Sans"/>
                <a:sym typeface="Quattrocento Sans"/>
              </a:defRPr>
            </a:lvl2pPr>
            <a:lvl3pPr marL="1371600" marR="0" lvl="2" indent="-292100" algn="l" rtl="0">
              <a:spcBef>
                <a:spcPts val="900"/>
              </a:spcBef>
              <a:spcAft>
                <a:spcPts val="0"/>
              </a:spcAft>
              <a:buClr>
                <a:schemeClr val="dk1"/>
              </a:buClr>
              <a:buSzPts val="1000"/>
              <a:buFont typeface="Arial"/>
              <a:buChar char="•"/>
              <a:defRPr sz="1000" b="0" i="0" u="none" strike="noStrike" cap="none">
                <a:solidFill>
                  <a:schemeClr val="dk1"/>
                </a:solidFill>
                <a:latin typeface="Quattrocento Sans"/>
                <a:ea typeface="Quattrocento Sans"/>
                <a:cs typeface="Quattrocento Sans"/>
                <a:sym typeface="Quattrocento Sans"/>
              </a:defRPr>
            </a:lvl3pPr>
            <a:lvl4pPr marL="1828800" marR="0" lvl="3" indent="-292100" algn="l" rtl="0">
              <a:spcBef>
                <a:spcPts val="900"/>
              </a:spcBef>
              <a:spcAft>
                <a:spcPts val="0"/>
              </a:spcAft>
              <a:buClr>
                <a:schemeClr val="dk1"/>
              </a:buClr>
              <a:buSzPts val="1000"/>
              <a:buFont typeface="Arial"/>
              <a:buChar char="•"/>
              <a:defRPr sz="1000" b="0" i="0" u="none" strike="noStrike" cap="none">
                <a:solidFill>
                  <a:schemeClr val="dk1"/>
                </a:solidFill>
                <a:latin typeface="Quattrocento Sans"/>
                <a:ea typeface="Quattrocento Sans"/>
                <a:cs typeface="Quattrocento Sans"/>
                <a:sym typeface="Quattrocento Sans"/>
              </a:defRPr>
            </a:lvl4pPr>
            <a:lvl5pPr marL="2286000" marR="0" lvl="4" indent="-292100" algn="l" rtl="0">
              <a:spcBef>
                <a:spcPts val="900"/>
              </a:spcBef>
              <a:spcAft>
                <a:spcPts val="0"/>
              </a:spcAft>
              <a:buClr>
                <a:schemeClr val="dk1"/>
              </a:buClr>
              <a:buSzPts val="1000"/>
              <a:buFont typeface="Arial"/>
              <a:buChar char="•"/>
              <a:defRPr sz="1000" b="0" i="0" u="none" strike="noStrike" cap="none">
                <a:solidFill>
                  <a:schemeClr val="dk1"/>
                </a:solidFill>
                <a:latin typeface="Quattrocento Sans"/>
                <a:ea typeface="Quattrocento Sans"/>
                <a:cs typeface="Quattrocento Sans"/>
                <a:sym typeface="Quattrocento Sans"/>
              </a:defRPr>
            </a:lvl5pPr>
            <a:lvl6pPr marL="2743200" marR="0" lvl="5" indent="-285750" algn="l" rtl="0">
              <a:lnSpc>
                <a:spcPct val="150000"/>
              </a:lnSpc>
              <a:spcBef>
                <a:spcPts val="900"/>
              </a:spcBef>
              <a:spcAft>
                <a:spcPts val="0"/>
              </a:spcAft>
              <a:buClr>
                <a:schemeClr val="dk1"/>
              </a:buClr>
              <a:buSzPts val="900"/>
              <a:buFont typeface="Arial"/>
              <a:buChar char="•"/>
              <a:defRPr sz="900" b="0" i="0" u="none" strike="noStrike" cap="none">
                <a:solidFill>
                  <a:schemeClr val="dk1"/>
                </a:solidFill>
                <a:latin typeface="Quattrocento Sans"/>
                <a:ea typeface="Quattrocento Sans"/>
                <a:cs typeface="Quattrocento Sans"/>
                <a:sym typeface="Quattrocento Sans"/>
              </a:defRPr>
            </a:lvl6pPr>
            <a:lvl7pPr marL="3200400" marR="0" lvl="6" indent="-285750" algn="l" rtl="0">
              <a:lnSpc>
                <a:spcPct val="150000"/>
              </a:lnSpc>
              <a:spcBef>
                <a:spcPts val="900"/>
              </a:spcBef>
              <a:spcAft>
                <a:spcPts val="0"/>
              </a:spcAft>
              <a:buClr>
                <a:schemeClr val="dk1"/>
              </a:buClr>
              <a:buSzPts val="900"/>
              <a:buFont typeface="Arial"/>
              <a:buChar char="•"/>
              <a:defRPr sz="900" b="0" i="0" u="none" strike="noStrike" cap="none">
                <a:solidFill>
                  <a:schemeClr val="dk1"/>
                </a:solidFill>
                <a:latin typeface="Quattrocento Sans"/>
                <a:ea typeface="Quattrocento Sans"/>
                <a:cs typeface="Quattrocento Sans"/>
                <a:sym typeface="Quattrocento Sans"/>
              </a:defRPr>
            </a:lvl7pPr>
            <a:lvl8pPr marL="3657600" marR="0" lvl="7" indent="-285750" algn="l" rtl="0">
              <a:lnSpc>
                <a:spcPct val="150000"/>
              </a:lnSpc>
              <a:spcBef>
                <a:spcPts val="900"/>
              </a:spcBef>
              <a:spcAft>
                <a:spcPts val="0"/>
              </a:spcAft>
              <a:buClr>
                <a:schemeClr val="dk1"/>
              </a:buClr>
              <a:buSzPts val="900"/>
              <a:buFont typeface="Arial"/>
              <a:buChar char="•"/>
              <a:defRPr sz="900" b="0" i="0" u="none" strike="noStrike" cap="none">
                <a:solidFill>
                  <a:schemeClr val="dk1"/>
                </a:solidFill>
                <a:latin typeface="Quattrocento Sans"/>
                <a:ea typeface="Quattrocento Sans"/>
                <a:cs typeface="Quattrocento Sans"/>
                <a:sym typeface="Quattrocento Sans"/>
              </a:defRPr>
            </a:lvl8pPr>
            <a:lvl9pPr marL="4114800" marR="0" lvl="8" indent="-228600" algn="l" rtl="0">
              <a:lnSpc>
                <a:spcPct val="90000"/>
              </a:lnSpc>
              <a:spcBef>
                <a:spcPts val="90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
          <p:cNvSpPr txBox="1">
            <a:spLocks noGrp="1"/>
          </p:cNvSpPr>
          <p:nvPr>
            <p:ph type="dt" idx="10"/>
          </p:nvPr>
        </p:nvSpPr>
        <p:spPr>
          <a:xfrm>
            <a:off x="404813" y="6203950"/>
            <a:ext cx="245745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595959"/>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
          <p:cNvSpPr txBox="1">
            <a:spLocks noGrp="1"/>
          </p:cNvSpPr>
          <p:nvPr>
            <p:ph type="ftr" idx="11"/>
          </p:nvPr>
        </p:nvSpPr>
        <p:spPr>
          <a:xfrm>
            <a:off x="3486150" y="6203950"/>
            <a:ext cx="21717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595959"/>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
          <p:cNvSpPr txBox="1">
            <a:spLocks noGrp="1"/>
          </p:cNvSpPr>
          <p:nvPr>
            <p:ph type="sldNum" idx="12"/>
          </p:nvPr>
        </p:nvSpPr>
        <p:spPr>
          <a:xfrm>
            <a:off x="6281738" y="6203950"/>
            <a:ext cx="245745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1pPr>
            <a:lvl2pPr marL="0" marR="0" lvl="1"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2pPr>
            <a:lvl3pPr marL="0" marR="0" lvl="2"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3pPr>
            <a:lvl4pPr marL="0" marR="0" lvl="3"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4pPr>
            <a:lvl5pPr marL="0" marR="0" lvl="4"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5pPr>
            <a:lvl6pPr marL="0" marR="0" lvl="5"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6pPr>
            <a:lvl7pPr marL="0" marR="0" lvl="6"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7pPr>
            <a:lvl8pPr marL="0" marR="0" lvl="7"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8pPr>
            <a:lvl9pPr marL="0" marR="0" lvl="8" indent="0" algn="r" rtl="0">
              <a:spcBef>
                <a:spcPts val="0"/>
              </a:spcBef>
              <a:spcAft>
                <a:spcPts val="0"/>
              </a:spcAft>
              <a:buNone/>
              <a:defRPr sz="900" b="0" i="0" u="none" strike="noStrike" cap="none">
                <a:solidFill>
                  <a:srgbClr val="595959"/>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33"/>
        <p:cNvGrpSpPr/>
        <p:nvPr/>
      </p:nvGrpSpPr>
      <p:grpSpPr>
        <a:xfrm>
          <a:off x="0" y="0"/>
          <a:ext cx="0" cy="0"/>
          <a:chOff x="0" y="0"/>
          <a:chExt cx="0" cy="0"/>
        </a:xfrm>
      </p:grpSpPr>
      <p:pic>
        <p:nvPicPr>
          <p:cNvPr id="34" name="Google Shape;34;p5" descr="Cloud computing illustration by Alex Kiselev on Dribbble"/>
          <p:cNvPicPr preferRelativeResize="0"/>
          <p:nvPr/>
        </p:nvPicPr>
        <p:blipFill rotWithShape="1">
          <a:blip r:embed="rId3">
            <a:alphaModFix/>
          </a:blip>
          <a:srcRect l="14922" t="6750" r="13823" b="7355"/>
          <a:stretch/>
        </p:blipFill>
        <p:spPr>
          <a:xfrm>
            <a:off x="4406900" y="1787525"/>
            <a:ext cx="4521200" cy="4087813"/>
          </a:xfrm>
          <a:prstGeom prst="rect">
            <a:avLst/>
          </a:prstGeom>
          <a:noFill/>
          <a:ln>
            <a:noFill/>
          </a:ln>
        </p:spPr>
      </p:pic>
      <p:sp>
        <p:nvSpPr>
          <p:cNvPr id="35" name="Google Shape;35;p5"/>
          <p:cNvSpPr txBox="1">
            <a:spLocks noGrp="1"/>
          </p:cNvSpPr>
          <p:nvPr>
            <p:ph type="title"/>
          </p:nvPr>
        </p:nvSpPr>
        <p:spPr>
          <a:xfrm>
            <a:off x="712788" y="1704975"/>
            <a:ext cx="5816600" cy="13223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Introduction to</a:t>
            </a:r>
            <a:br>
              <a:rPr lang="en-US"/>
            </a:br>
            <a:r>
              <a:rPr lang="en-US"/>
              <a:t>Cloud Computing</a:t>
            </a:r>
            <a:endParaRPr/>
          </a:p>
        </p:txBody>
      </p:sp>
      <p:sp>
        <p:nvSpPr>
          <p:cNvPr id="36" name="Google Shape;36;p5"/>
          <p:cNvSpPr txBox="1"/>
          <p:nvPr/>
        </p:nvSpPr>
        <p:spPr>
          <a:xfrm>
            <a:off x="1333500" y="3043238"/>
            <a:ext cx="4573588" cy="3222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0" i="0" u="none" strike="noStrike" cap="none">
                <a:solidFill>
                  <a:srgbClr val="7F7F7F"/>
                </a:solidFill>
                <a:latin typeface="Quattrocento Sans"/>
                <a:ea typeface="Quattrocento Sans"/>
                <a:cs typeface="Quattrocento Sans"/>
                <a:sym typeface="Quattrocento Sans"/>
              </a:rPr>
              <a:t>Fundamentals of Cloud Computing</a:t>
            </a:r>
            <a:endParaRPr sz="1500" b="0" i="0" u="none" strike="noStrike" cap="none">
              <a:solidFill>
                <a:srgbClr val="7F7F7F"/>
              </a:solidFill>
              <a:latin typeface="Quattrocento Sans"/>
              <a:ea typeface="Quattrocento Sans"/>
              <a:cs typeface="Quattrocento Sans"/>
              <a:sym typeface="Quattrocen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
        <p:cNvGrpSpPr/>
        <p:nvPr/>
      </p:nvGrpSpPr>
      <p:grpSpPr>
        <a:xfrm>
          <a:off x="0" y="0"/>
          <a:ext cx="0" cy="0"/>
          <a:chOff x="0" y="0"/>
          <a:chExt cx="0" cy="0"/>
        </a:xfrm>
      </p:grpSpPr>
      <p:pic>
        <p:nvPicPr>
          <p:cNvPr id="42" name="Google Shape;42;p6"/>
          <p:cNvPicPr preferRelativeResize="0"/>
          <p:nvPr/>
        </p:nvPicPr>
        <p:blipFill rotWithShape="1">
          <a:blip r:embed="rId3">
            <a:alphaModFix/>
          </a:blip>
          <a:srcRect/>
          <a:stretch/>
        </p:blipFill>
        <p:spPr>
          <a:xfrm>
            <a:off x="3605213" y="2493963"/>
            <a:ext cx="5778500" cy="4103687"/>
          </a:xfrm>
          <a:prstGeom prst="rect">
            <a:avLst/>
          </a:prstGeom>
          <a:noFill/>
          <a:ln>
            <a:noFill/>
          </a:ln>
        </p:spPr>
      </p:pic>
      <p:sp>
        <p:nvSpPr>
          <p:cNvPr id="43" name="Google Shape;43;p6"/>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Introduction</a:t>
            </a:r>
            <a:endParaRPr/>
          </a:p>
        </p:txBody>
      </p:sp>
      <p:sp>
        <p:nvSpPr>
          <p:cNvPr id="44" name="Google Shape;44;p6"/>
          <p:cNvSpPr txBox="1"/>
          <p:nvPr/>
        </p:nvSpPr>
        <p:spPr>
          <a:xfrm>
            <a:off x="1101725" y="1452563"/>
            <a:ext cx="3711575" cy="365125"/>
          </a:xfrm>
          <a:prstGeom prst="rect">
            <a:avLst/>
          </a:prstGeom>
          <a:noFill/>
          <a:ln>
            <a:noFill/>
          </a:ln>
        </p:spPr>
        <p:txBody>
          <a:bodyPr spcFirstLastPara="1" wrap="square" lIns="68575" tIns="34275" rIns="68575" bIns="34275" anchor="t" anchorCtr="0">
            <a:normAutofit/>
          </a:bodyPr>
          <a:lstStyle/>
          <a:p>
            <a:pPr marL="0" marR="0" lvl="0" indent="0" algn="l" rtl="0">
              <a:lnSpc>
                <a:spcPct val="81818"/>
              </a:lnSpc>
              <a:spcBef>
                <a:spcPts val="0"/>
              </a:spcBef>
              <a:spcAft>
                <a:spcPts val="0"/>
              </a:spcAft>
              <a:buNone/>
            </a:pPr>
            <a:r>
              <a:rPr lang="en-US" sz="2200" b="1" i="0" u="none" strike="noStrike" cap="none">
                <a:solidFill>
                  <a:schemeClr val="dk1"/>
                </a:solidFill>
                <a:latin typeface="Quattrocento Sans"/>
                <a:ea typeface="Quattrocento Sans"/>
                <a:cs typeface="Quattrocento Sans"/>
                <a:sym typeface="Quattrocento Sans"/>
              </a:rPr>
              <a:t>What is cloud computing?</a:t>
            </a:r>
            <a:endParaRPr/>
          </a:p>
        </p:txBody>
      </p:sp>
      <p:sp>
        <p:nvSpPr>
          <p:cNvPr id="45" name="Google Shape;45;p6"/>
          <p:cNvSpPr txBox="1"/>
          <p:nvPr/>
        </p:nvSpPr>
        <p:spPr>
          <a:xfrm>
            <a:off x="1460500" y="1820863"/>
            <a:ext cx="6364288" cy="922337"/>
          </a:xfrm>
          <a:prstGeom prst="rect">
            <a:avLst/>
          </a:prstGeom>
          <a:noFill/>
          <a:ln>
            <a:noFill/>
          </a:ln>
        </p:spPr>
        <p:txBody>
          <a:bodyPr spcFirstLastPara="1" wrap="square" lIns="91425" tIns="45700" rIns="91425" bIns="45700" anchor="t" anchorCtr="0">
            <a:spAutoFit/>
          </a:bodyPr>
          <a:lstStyle/>
          <a:p>
            <a:pPr marL="122873" marR="0" lvl="0" indent="0" algn="l" rtl="0">
              <a:spcBef>
                <a:spcPts val="0"/>
              </a:spcBef>
              <a:spcAft>
                <a:spcPts val="0"/>
              </a:spcAft>
              <a:buNone/>
            </a:pPr>
            <a:r>
              <a:rPr lang="en-US" sz="1800" b="0" i="1" u="none" strike="noStrike" cap="none">
                <a:solidFill>
                  <a:schemeClr val="dk1"/>
                </a:solidFill>
                <a:latin typeface="Quattrocento Sans"/>
                <a:ea typeface="Quattrocento Sans"/>
                <a:cs typeface="Quattrocento Sans"/>
                <a:sym typeface="Quattrocento Sans"/>
              </a:rPr>
              <a:t>Cloud computing refers to the delivery of computing services over the internet, including storage, processing power, and software applications. </a:t>
            </a:r>
            <a:endParaRPr/>
          </a:p>
        </p:txBody>
      </p:sp>
      <p:grpSp>
        <p:nvGrpSpPr>
          <p:cNvPr id="46" name="Google Shape;46;p6"/>
          <p:cNvGrpSpPr/>
          <p:nvPr/>
        </p:nvGrpSpPr>
        <p:grpSpPr>
          <a:xfrm>
            <a:off x="8715376" y="2316480"/>
            <a:ext cx="276999" cy="3755790"/>
            <a:chOff x="8715376" y="2297975"/>
            <a:chExt cx="276999" cy="3755790"/>
          </a:xfrm>
        </p:grpSpPr>
        <p:sp>
          <p:nvSpPr>
            <p:cNvPr id="47" name="Google Shape;47;p6"/>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48" name="Google Shape;48;p6"/>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
        <p:nvSpPr>
          <p:cNvPr id="49" name="Google Shape;49;p6"/>
          <p:cNvSpPr txBox="1"/>
          <p:nvPr/>
        </p:nvSpPr>
        <p:spPr>
          <a:xfrm>
            <a:off x="1101725" y="3622675"/>
            <a:ext cx="5094288" cy="923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It allows users to access resources and services on-demand, without the need for physical infrastructure or local servers.</a:t>
            </a:r>
            <a:endParaRPr sz="1800" b="0" i="0" u="none" strike="noStrike" cap="none">
              <a:solidFill>
                <a:schemeClr val="dk1"/>
              </a:solidFill>
              <a:latin typeface="Quattrocento Sans"/>
              <a:ea typeface="Quattrocento Sans"/>
              <a:cs typeface="Quattrocento Sans"/>
              <a:sym typeface="Quattrocento Sans"/>
            </a:endParaRPr>
          </a:p>
        </p:txBody>
      </p:sp>
      <p:sp>
        <p:nvSpPr>
          <p:cNvPr id="50" name="Google Shape;50;p6" descr="Cloud network connection icon, flat style 14587671 Vector Art at Vecteezy"/>
          <p:cNvSpPr/>
          <p:nvPr/>
        </p:nvSpPr>
        <p:spPr>
          <a:xfrm>
            <a:off x="6174377" y="2721918"/>
            <a:ext cx="1940447" cy="1470982"/>
          </a:xfrm>
          <a:prstGeom prst="rect">
            <a:avLst/>
          </a:prstGeom>
          <a:no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Characteristics of Cloud Computing</a:t>
            </a:r>
            <a:endParaRPr/>
          </a:p>
        </p:txBody>
      </p:sp>
      <p:sp>
        <p:nvSpPr>
          <p:cNvPr id="57" name="Google Shape;57;p7"/>
          <p:cNvSpPr txBox="1"/>
          <p:nvPr/>
        </p:nvSpPr>
        <p:spPr>
          <a:xfrm>
            <a:off x="1101725" y="1452563"/>
            <a:ext cx="3711575" cy="365125"/>
          </a:xfrm>
          <a:prstGeom prst="rect">
            <a:avLst/>
          </a:prstGeom>
          <a:noFill/>
          <a:ln>
            <a:noFill/>
          </a:ln>
        </p:spPr>
        <p:txBody>
          <a:bodyPr spcFirstLastPara="1" wrap="square" lIns="68575" tIns="34275" rIns="68575" bIns="34275" anchor="t" anchorCtr="0">
            <a:norm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Key Characteristics of Cloud Computing</a:t>
            </a:r>
            <a:endParaRPr/>
          </a:p>
        </p:txBody>
      </p:sp>
      <p:sp>
        <p:nvSpPr>
          <p:cNvPr id="58" name="Google Shape;58;p7"/>
          <p:cNvSpPr txBox="1"/>
          <p:nvPr/>
        </p:nvSpPr>
        <p:spPr>
          <a:xfrm>
            <a:off x="1357313" y="1787525"/>
            <a:ext cx="6994525" cy="3519488"/>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On-Demand Self-Service: Users can provision resources and services as needed, without requiring human interaction with service providers.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Broad Network Access: Services are accessible over the internet via standard protocols and devices.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Resource Pooling: Computing resources are pooled together to serve multiple users, allowing for efficient utilization and scalability.</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Rapid Elasticity: Resources can be scaled up or down quickly to meet changing demands.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Measured Service: Cloud service usage is measured, monitored, and billed based on actual consumption.</a:t>
            </a:r>
            <a:endParaRPr/>
          </a:p>
        </p:txBody>
      </p:sp>
      <p:grpSp>
        <p:nvGrpSpPr>
          <p:cNvPr id="59" name="Google Shape;59;p7"/>
          <p:cNvGrpSpPr/>
          <p:nvPr/>
        </p:nvGrpSpPr>
        <p:grpSpPr>
          <a:xfrm>
            <a:off x="8715376" y="2316480"/>
            <a:ext cx="276999" cy="3755790"/>
            <a:chOff x="8715376" y="2297975"/>
            <a:chExt cx="276999" cy="3755790"/>
          </a:xfrm>
        </p:grpSpPr>
        <p:sp>
          <p:nvSpPr>
            <p:cNvPr id="60" name="Google Shape;60;p7"/>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61" name="Google Shape;61;p7"/>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
        <p:cNvGrpSpPr/>
        <p:nvPr/>
      </p:nvGrpSpPr>
      <p:grpSpPr>
        <a:xfrm>
          <a:off x="0" y="0"/>
          <a:ext cx="0" cy="0"/>
          <a:chOff x="0" y="0"/>
          <a:chExt cx="0" cy="0"/>
        </a:xfrm>
      </p:grpSpPr>
      <p:sp>
        <p:nvSpPr>
          <p:cNvPr id="67" name="Google Shape;67;p8"/>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Deployment Models</a:t>
            </a:r>
            <a:endParaRPr/>
          </a:p>
        </p:txBody>
      </p:sp>
      <p:grpSp>
        <p:nvGrpSpPr>
          <p:cNvPr id="68" name="Google Shape;68;p8"/>
          <p:cNvGrpSpPr/>
          <p:nvPr/>
        </p:nvGrpSpPr>
        <p:grpSpPr>
          <a:xfrm>
            <a:off x="8715376" y="2316480"/>
            <a:ext cx="276999" cy="3755790"/>
            <a:chOff x="8715376" y="2297975"/>
            <a:chExt cx="276999" cy="3755790"/>
          </a:xfrm>
        </p:grpSpPr>
        <p:sp>
          <p:nvSpPr>
            <p:cNvPr id="69" name="Google Shape;69;p8"/>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70" name="Google Shape;70;p8"/>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71" name="Google Shape;71;p8" descr="Cloud Deployment Models PPT | Presentation design template, Powerpoint  presentation, Presentation slides templates"/>
          <p:cNvPicPr preferRelativeResize="0"/>
          <p:nvPr/>
        </p:nvPicPr>
        <p:blipFill rotWithShape="1">
          <a:blip r:embed="rId3">
            <a:alphaModFix/>
          </a:blip>
          <a:srcRect t="15842" b="12877"/>
          <a:stretch/>
        </p:blipFill>
        <p:spPr>
          <a:xfrm>
            <a:off x="1143000" y="1733005"/>
            <a:ext cx="6858000" cy="3666308"/>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Deployment Models</a:t>
            </a:r>
            <a:endParaRPr/>
          </a:p>
        </p:txBody>
      </p:sp>
      <p:sp>
        <p:nvSpPr>
          <p:cNvPr id="78" name="Google Shape;78;p9"/>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Public Cloud</a:t>
            </a:r>
            <a:endParaRPr/>
          </a:p>
        </p:txBody>
      </p:sp>
      <p:sp>
        <p:nvSpPr>
          <p:cNvPr id="79" name="Google Shape;79;p9"/>
          <p:cNvSpPr txBox="1"/>
          <p:nvPr/>
        </p:nvSpPr>
        <p:spPr>
          <a:xfrm>
            <a:off x="774700" y="2155825"/>
            <a:ext cx="4121150" cy="2913063"/>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Services are provided over a public network and available to anyone who wants to use them.</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It is a cost-effective option for businesses and individuals looking for scalability and flexibility.</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Public cloud providers, such as AWS, Azure, and GCP, offer a wide range of services accessible to the general public.</a:t>
            </a:r>
            <a:endParaRPr/>
          </a:p>
        </p:txBody>
      </p:sp>
      <p:grpSp>
        <p:nvGrpSpPr>
          <p:cNvPr id="80" name="Google Shape;80;p9"/>
          <p:cNvGrpSpPr/>
          <p:nvPr/>
        </p:nvGrpSpPr>
        <p:grpSpPr>
          <a:xfrm>
            <a:off x="3997042" y="2316480"/>
            <a:ext cx="4995333" cy="4411339"/>
            <a:chOff x="3997042" y="2297975"/>
            <a:chExt cx="4995333" cy="4411339"/>
          </a:xfrm>
        </p:grpSpPr>
        <p:sp>
          <p:nvSpPr>
            <p:cNvPr id="81" name="Google Shape;81;p9"/>
            <p:cNvSpPr txBox="1"/>
            <p:nvPr/>
          </p:nvSpPr>
          <p:spPr>
            <a:xfrm>
              <a:off x="3997042" y="6447704"/>
              <a:ext cx="4995333"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Dr. Jay Sarraf, School of Computer Engineering, KIIT Deemed to be University</a:t>
              </a:r>
              <a:endParaRPr/>
            </a:p>
          </p:txBody>
        </p:sp>
        <p:grpSp>
          <p:nvGrpSpPr>
            <p:cNvPr id="82" name="Google Shape;82;p9"/>
            <p:cNvGrpSpPr/>
            <p:nvPr/>
          </p:nvGrpSpPr>
          <p:grpSpPr>
            <a:xfrm>
              <a:off x="8715376" y="2297975"/>
              <a:ext cx="276999" cy="3755790"/>
              <a:chOff x="8715376" y="2297975"/>
              <a:chExt cx="276999" cy="3755790"/>
            </a:xfrm>
          </p:grpSpPr>
          <p:sp>
            <p:nvSpPr>
              <p:cNvPr id="83" name="Google Shape;83;p9"/>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84" name="Google Shape;84;p9"/>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grpSp>
      <p:pic>
        <p:nvPicPr>
          <p:cNvPr id="85" name="Google Shape;85;p9" descr="Types of Cloud - TAE"/>
          <p:cNvPicPr preferRelativeResize="0"/>
          <p:nvPr/>
        </p:nvPicPr>
        <p:blipFill rotWithShape="1">
          <a:blip r:embed="rId3">
            <a:alphaModFix/>
          </a:blip>
          <a:srcRect/>
          <a:stretch/>
        </p:blipFill>
        <p:spPr>
          <a:xfrm>
            <a:off x="4950976" y="2155992"/>
            <a:ext cx="3797927" cy="29136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0"/>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Deployment Models</a:t>
            </a:r>
            <a:endParaRPr/>
          </a:p>
        </p:txBody>
      </p:sp>
      <p:sp>
        <p:nvSpPr>
          <p:cNvPr id="92" name="Google Shape;92;p10"/>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Private Cloud</a:t>
            </a:r>
            <a:endParaRPr/>
          </a:p>
        </p:txBody>
      </p:sp>
      <p:sp>
        <p:nvSpPr>
          <p:cNvPr id="93" name="Google Shape;93;p10"/>
          <p:cNvSpPr txBox="1"/>
          <p:nvPr/>
        </p:nvSpPr>
        <p:spPr>
          <a:xfrm>
            <a:off x="895350" y="2024063"/>
            <a:ext cx="4122738" cy="346710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Infrastructure is dedicated to a single organization and may be located on-premises or off-premises.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Private cloud environments are designed to meet specific security, compliance, or performance requirements.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They offer enhanced control, customization, and privacy but require significant upfront investment.</a:t>
            </a:r>
            <a:endParaRPr/>
          </a:p>
        </p:txBody>
      </p:sp>
      <p:grpSp>
        <p:nvGrpSpPr>
          <p:cNvPr id="94" name="Google Shape;94;p10"/>
          <p:cNvGrpSpPr/>
          <p:nvPr/>
        </p:nvGrpSpPr>
        <p:grpSpPr>
          <a:xfrm>
            <a:off x="8715376" y="2316480"/>
            <a:ext cx="276999" cy="3755790"/>
            <a:chOff x="8715376" y="2297975"/>
            <a:chExt cx="276999" cy="3755790"/>
          </a:xfrm>
        </p:grpSpPr>
        <p:sp>
          <p:nvSpPr>
            <p:cNvPr id="95" name="Google Shape;95;p10"/>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96" name="Google Shape;96;p10"/>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97" name="Google Shape;97;p10" descr="Private Cloud - javatpoint"/>
          <p:cNvPicPr preferRelativeResize="0"/>
          <p:nvPr/>
        </p:nvPicPr>
        <p:blipFill rotWithShape="1">
          <a:blip r:embed="rId3">
            <a:alphaModFix/>
          </a:blip>
          <a:srcRect/>
          <a:stretch/>
        </p:blipFill>
        <p:spPr>
          <a:xfrm>
            <a:off x="4796164" y="2386149"/>
            <a:ext cx="3908515" cy="31268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11"/>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Deployment Models</a:t>
            </a:r>
            <a:endParaRPr/>
          </a:p>
        </p:txBody>
      </p:sp>
      <p:sp>
        <p:nvSpPr>
          <p:cNvPr id="104" name="Google Shape;104;p11"/>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Hybrid Cloud</a:t>
            </a:r>
            <a:endParaRPr/>
          </a:p>
        </p:txBody>
      </p:sp>
      <p:sp>
        <p:nvSpPr>
          <p:cNvPr id="105" name="Google Shape;105;p11"/>
          <p:cNvSpPr txBox="1"/>
          <p:nvPr/>
        </p:nvSpPr>
        <p:spPr>
          <a:xfrm>
            <a:off x="895350" y="2044700"/>
            <a:ext cx="4122738" cy="346710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Combines public and private cloud environments, allowing for flexibility and data sharing between the two.</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Organizations can leverage the benefits of both public and private clouds, ensuring optimal resource allocation.</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Hybrid cloud deployments enable workload portability and seamless integration between different environments.</a:t>
            </a:r>
            <a:endParaRPr/>
          </a:p>
        </p:txBody>
      </p:sp>
      <p:grpSp>
        <p:nvGrpSpPr>
          <p:cNvPr id="106" name="Google Shape;106;p11"/>
          <p:cNvGrpSpPr/>
          <p:nvPr/>
        </p:nvGrpSpPr>
        <p:grpSpPr>
          <a:xfrm>
            <a:off x="8715376" y="2316480"/>
            <a:ext cx="276999" cy="3755790"/>
            <a:chOff x="8715376" y="2297975"/>
            <a:chExt cx="276999" cy="3755790"/>
          </a:xfrm>
        </p:grpSpPr>
        <p:sp>
          <p:nvSpPr>
            <p:cNvPr id="107" name="Google Shape;107;p11"/>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08" name="Google Shape;108;p11"/>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109" name="Google Shape;109;p11" descr="Hybrid Cloud - javatpoint"/>
          <p:cNvPicPr preferRelativeResize="0"/>
          <p:nvPr/>
        </p:nvPicPr>
        <p:blipFill rotWithShape="1">
          <a:blip r:embed="rId3">
            <a:alphaModFix/>
          </a:blip>
          <a:srcRect/>
          <a:stretch/>
        </p:blipFill>
        <p:spPr>
          <a:xfrm>
            <a:off x="4823675" y="2316480"/>
            <a:ext cx="3989399" cy="29239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p12"/>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Deployment Models</a:t>
            </a:r>
            <a:endParaRPr/>
          </a:p>
        </p:txBody>
      </p:sp>
      <p:sp>
        <p:nvSpPr>
          <p:cNvPr id="116" name="Google Shape;116;p12"/>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Community Cloud</a:t>
            </a:r>
            <a:endParaRPr/>
          </a:p>
        </p:txBody>
      </p:sp>
      <p:sp>
        <p:nvSpPr>
          <p:cNvPr id="117" name="Google Shape;117;p12"/>
          <p:cNvSpPr txBox="1"/>
          <p:nvPr/>
        </p:nvSpPr>
        <p:spPr>
          <a:xfrm>
            <a:off x="895350" y="2052638"/>
            <a:ext cx="4451350" cy="346710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Community cloud is a deployment model where infrastructure and services are shared among a specific community or group of organizations.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It caters to the needs of a particular community, such as government agencies, educational institutions, or research organizations.</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Community cloud provides a cost-effective solution while addressing specific requirements and compliance standards of the community.</a:t>
            </a:r>
            <a:endParaRPr/>
          </a:p>
        </p:txBody>
      </p:sp>
      <p:grpSp>
        <p:nvGrpSpPr>
          <p:cNvPr id="118" name="Google Shape;118;p12"/>
          <p:cNvGrpSpPr/>
          <p:nvPr/>
        </p:nvGrpSpPr>
        <p:grpSpPr>
          <a:xfrm>
            <a:off x="8715376" y="2316480"/>
            <a:ext cx="276999" cy="3755790"/>
            <a:chOff x="8715376" y="2297975"/>
            <a:chExt cx="276999" cy="3755790"/>
          </a:xfrm>
        </p:grpSpPr>
        <p:sp>
          <p:nvSpPr>
            <p:cNvPr id="119" name="Google Shape;119;p12"/>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20" name="Google Shape;120;p12"/>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121" name="Google Shape;121;p12" descr="Community Cloud - javatpoint"/>
          <p:cNvPicPr preferRelativeResize="0"/>
          <p:nvPr/>
        </p:nvPicPr>
        <p:blipFill rotWithShape="1">
          <a:blip r:embed="rId3">
            <a:alphaModFix/>
          </a:blip>
          <a:srcRect/>
          <a:stretch/>
        </p:blipFill>
        <p:spPr>
          <a:xfrm>
            <a:off x="5347062" y="2695474"/>
            <a:ext cx="3383703" cy="24753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pic>
        <p:nvPicPr>
          <p:cNvPr id="127" name="Google Shape;127;p13" descr="Infrastructure as a Service | IAAS - javatpoint"/>
          <p:cNvPicPr preferRelativeResize="0"/>
          <p:nvPr/>
        </p:nvPicPr>
        <p:blipFill rotWithShape="1">
          <a:blip r:embed="rId3">
            <a:alphaModFix/>
          </a:blip>
          <a:srcRect/>
          <a:stretch/>
        </p:blipFill>
        <p:spPr>
          <a:xfrm>
            <a:off x="5239120" y="2795451"/>
            <a:ext cx="3568807" cy="2194568"/>
          </a:xfrm>
          <a:prstGeom prst="rect">
            <a:avLst/>
          </a:prstGeom>
          <a:noFill/>
          <a:ln>
            <a:noFill/>
          </a:ln>
        </p:spPr>
      </p:pic>
      <p:sp>
        <p:nvSpPr>
          <p:cNvPr id="128" name="Google Shape;128;p13"/>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Service Models</a:t>
            </a:r>
            <a:endParaRPr/>
          </a:p>
        </p:txBody>
      </p:sp>
      <p:sp>
        <p:nvSpPr>
          <p:cNvPr id="129" name="Google Shape;129;p13"/>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Infrastructure as a Service (IaaS)</a:t>
            </a:r>
            <a:endParaRPr/>
          </a:p>
        </p:txBody>
      </p:sp>
      <p:sp>
        <p:nvSpPr>
          <p:cNvPr id="130" name="Google Shape;130;p13"/>
          <p:cNvSpPr txBox="1"/>
          <p:nvPr/>
        </p:nvSpPr>
        <p:spPr>
          <a:xfrm>
            <a:off x="895350" y="2052638"/>
            <a:ext cx="4451350" cy="3189287"/>
          </a:xfrm>
          <a:prstGeom prst="rect">
            <a:avLst/>
          </a:prstGeom>
          <a:solidFill>
            <a:srgbClr val="F2F2F2"/>
          </a:solidFill>
          <a:ln>
            <a:noFill/>
          </a:ln>
        </p:spPr>
        <p:txBody>
          <a:bodyPr spcFirstLastPara="1" wrap="square" lIns="91425" tIns="45700" rIns="91425" bIns="45700" anchor="t" anchorCtr="0">
            <a:spAutoFit/>
          </a:bodyPr>
          <a:lstStyle/>
          <a:p>
            <a:pPr marL="122873" marR="0" lvl="0" indent="0" algn="l" rtl="0">
              <a:spcBef>
                <a:spcPts val="0"/>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IaaS provides virtualized computing resources over the internet. Users have control over the operating systems, storage, and networking components. </a:t>
            </a:r>
            <a:endParaRPr/>
          </a:p>
          <a:p>
            <a:pPr marL="122873" marR="0" lvl="0" indent="0" algn="l" rtl="0">
              <a:spcBef>
                <a:spcPts val="236"/>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They can provision and manage virtual machines (VMs), storage, and networks according to their requirements. Examples of IaaS providers include AWS EC2, Azure Virtual Machines, and Google Compute Engine.</a:t>
            </a:r>
            <a:endParaRPr/>
          </a:p>
        </p:txBody>
      </p:sp>
      <p:grpSp>
        <p:nvGrpSpPr>
          <p:cNvPr id="131" name="Google Shape;131;p13"/>
          <p:cNvGrpSpPr/>
          <p:nvPr/>
        </p:nvGrpSpPr>
        <p:grpSpPr>
          <a:xfrm>
            <a:off x="8715376" y="2316480"/>
            <a:ext cx="276999" cy="3755790"/>
            <a:chOff x="8715376" y="2297975"/>
            <a:chExt cx="276999" cy="3755790"/>
          </a:xfrm>
        </p:grpSpPr>
        <p:sp>
          <p:nvSpPr>
            <p:cNvPr id="132" name="Google Shape;132;p13"/>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33" name="Google Shape;133;p13"/>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p14"/>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Service Models</a:t>
            </a:r>
            <a:endParaRPr/>
          </a:p>
        </p:txBody>
      </p:sp>
      <p:sp>
        <p:nvSpPr>
          <p:cNvPr id="140" name="Google Shape;140;p14"/>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Platform as a Service (PaaS)</a:t>
            </a:r>
            <a:endParaRPr/>
          </a:p>
        </p:txBody>
      </p:sp>
      <p:sp>
        <p:nvSpPr>
          <p:cNvPr id="141" name="Google Shape;141;p14"/>
          <p:cNvSpPr txBox="1"/>
          <p:nvPr/>
        </p:nvSpPr>
        <p:spPr>
          <a:xfrm>
            <a:off x="895350" y="2052638"/>
            <a:ext cx="4451350" cy="4071937"/>
          </a:xfrm>
          <a:prstGeom prst="rect">
            <a:avLst/>
          </a:prstGeom>
          <a:solidFill>
            <a:srgbClr val="F2F2F2"/>
          </a:solidFill>
          <a:ln>
            <a:noFill/>
          </a:ln>
        </p:spPr>
        <p:txBody>
          <a:bodyPr spcFirstLastPara="1" wrap="square" lIns="91425" tIns="45700" rIns="91425" bIns="45700" anchor="t" anchorCtr="0">
            <a:spAutoFit/>
          </a:bodyPr>
          <a:lstStyle/>
          <a:p>
            <a:pPr marL="122873" marR="0" lvl="0" indent="0" algn="l" rtl="0">
              <a:spcBef>
                <a:spcPts val="0"/>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PaaS offers a platform for developing, testing, and deploying applications.</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Users can focus on application development without worrying about infrastructure management.</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PaaS providers manage the underlying infrastructure, including servers, storage, and networking.</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Developers can leverage pre-configured environments, development frameworks, and deployment tools.</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Examples of PaaS providers include Heroku, Google App Engine, and AWS Elastic Beanstalk.</a:t>
            </a:r>
            <a:endParaRPr/>
          </a:p>
        </p:txBody>
      </p:sp>
      <p:grpSp>
        <p:nvGrpSpPr>
          <p:cNvPr id="142" name="Google Shape;142;p14"/>
          <p:cNvGrpSpPr/>
          <p:nvPr/>
        </p:nvGrpSpPr>
        <p:grpSpPr>
          <a:xfrm>
            <a:off x="8715376" y="2316480"/>
            <a:ext cx="276999" cy="3755790"/>
            <a:chOff x="8715376" y="2297975"/>
            <a:chExt cx="276999" cy="3755790"/>
          </a:xfrm>
        </p:grpSpPr>
        <p:sp>
          <p:nvSpPr>
            <p:cNvPr id="143" name="Google Shape;143;p14"/>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44" name="Google Shape;144;p14"/>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145" name="Google Shape;145;p14" descr="Platform as a Service | PAAS - javatpoint"/>
          <p:cNvPicPr preferRelativeResize="0"/>
          <p:nvPr/>
        </p:nvPicPr>
        <p:blipFill rotWithShape="1">
          <a:blip r:embed="rId3">
            <a:alphaModFix/>
          </a:blip>
          <a:srcRect/>
          <a:stretch/>
        </p:blipFill>
        <p:spPr>
          <a:xfrm>
            <a:off x="5191274" y="2672474"/>
            <a:ext cx="3695280" cy="23562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
        <p:cNvGrpSpPr/>
        <p:nvPr/>
      </p:nvGrpSpPr>
      <p:grpSpPr>
        <a:xfrm>
          <a:off x="0" y="0"/>
          <a:ext cx="0" cy="0"/>
          <a:chOff x="0" y="0"/>
          <a:chExt cx="0" cy="0"/>
        </a:xfrm>
      </p:grpSpPr>
      <p:sp>
        <p:nvSpPr>
          <p:cNvPr id="151" name="Google Shape;151;p15"/>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Service Models</a:t>
            </a:r>
            <a:endParaRPr/>
          </a:p>
        </p:txBody>
      </p:sp>
      <p:sp>
        <p:nvSpPr>
          <p:cNvPr id="152" name="Google Shape;152;p15"/>
          <p:cNvSpPr txBox="1"/>
          <p:nvPr/>
        </p:nvSpPr>
        <p:spPr>
          <a:xfrm>
            <a:off x="774700" y="1687513"/>
            <a:ext cx="3709988"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a:solidFill>
                  <a:schemeClr val="dk1"/>
                </a:solidFill>
                <a:latin typeface="Quattrocento Sans"/>
                <a:ea typeface="Quattrocento Sans"/>
                <a:cs typeface="Quattrocento Sans"/>
                <a:sym typeface="Quattrocento Sans"/>
              </a:rPr>
              <a:t>Software as a Service (SaaS)</a:t>
            </a:r>
            <a:endParaRPr/>
          </a:p>
        </p:txBody>
      </p:sp>
      <p:sp>
        <p:nvSpPr>
          <p:cNvPr id="153" name="Google Shape;153;p15"/>
          <p:cNvSpPr txBox="1"/>
          <p:nvPr/>
        </p:nvSpPr>
        <p:spPr>
          <a:xfrm>
            <a:off x="895350" y="2052638"/>
            <a:ext cx="4451350" cy="4097337"/>
          </a:xfrm>
          <a:prstGeom prst="rect">
            <a:avLst/>
          </a:prstGeom>
          <a:solidFill>
            <a:srgbClr val="F2F2F2"/>
          </a:solidFill>
          <a:ln>
            <a:noFill/>
          </a:ln>
        </p:spPr>
        <p:txBody>
          <a:bodyPr spcFirstLastPara="1" wrap="square" lIns="91425" tIns="45700" rIns="91425" bIns="45700" anchor="t" anchorCtr="0">
            <a:spAutoFit/>
          </a:bodyPr>
          <a:lstStyle/>
          <a:p>
            <a:pPr marL="122873"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SaaS delivers software applications over the internet on a subscription basis.</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Users can access and use applications directly through a web browser or APIs.</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The provider hosts and manages the underlying infrastructure, application, and data.</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Users can typically customize certain aspects of the application to fit their needs.</a:t>
            </a:r>
            <a:endParaRPr/>
          </a:p>
          <a:p>
            <a:pPr marL="122873" marR="0" lvl="0" indent="0" algn="l" rtl="0">
              <a:spcBef>
                <a:spcPts val="236"/>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Examples of SaaS include Salesforce, Microsoft Office 365, and Google Workspace.</a:t>
            </a:r>
            <a:endParaRPr/>
          </a:p>
        </p:txBody>
      </p:sp>
      <p:grpSp>
        <p:nvGrpSpPr>
          <p:cNvPr id="154" name="Google Shape;154;p15"/>
          <p:cNvGrpSpPr/>
          <p:nvPr/>
        </p:nvGrpSpPr>
        <p:grpSpPr>
          <a:xfrm>
            <a:off x="8715376" y="2316480"/>
            <a:ext cx="276999" cy="3755790"/>
            <a:chOff x="8715376" y="2297975"/>
            <a:chExt cx="276999" cy="3755790"/>
          </a:xfrm>
        </p:grpSpPr>
        <p:sp>
          <p:nvSpPr>
            <p:cNvPr id="155" name="Google Shape;155;p15"/>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56" name="Google Shape;156;p15"/>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157" name="Google Shape;157;p15" descr="Software as a Service | SAAS - javatpoint"/>
          <p:cNvPicPr preferRelativeResize="0"/>
          <p:nvPr/>
        </p:nvPicPr>
        <p:blipFill rotWithShape="1">
          <a:blip r:embed="rId3">
            <a:alphaModFix/>
          </a:blip>
          <a:srcRect/>
          <a:stretch/>
        </p:blipFill>
        <p:spPr>
          <a:xfrm>
            <a:off x="5186081" y="2725980"/>
            <a:ext cx="3675489" cy="22935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
        <p:cNvGrpSpPr/>
        <p:nvPr/>
      </p:nvGrpSpPr>
      <p:grpSpPr>
        <a:xfrm>
          <a:off x="0" y="0"/>
          <a:ext cx="0" cy="0"/>
          <a:chOff x="0" y="0"/>
          <a:chExt cx="0" cy="0"/>
        </a:xfrm>
      </p:grpSpPr>
      <p:pic>
        <p:nvPicPr>
          <p:cNvPr id="163" name="Google Shape;163;p16" descr="What are the benefits of Cloud Computing | Cloud Computing | ESDS"/>
          <p:cNvPicPr preferRelativeResize="0"/>
          <p:nvPr/>
        </p:nvPicPr>
        <p:blipFill rotWithShape="1">
          <a:blip r:embed="rId3">
            <a:alphaModFix/>
          </a:blip>
          <a:srcRect/>
          <a:stretch/>
        </p:blipFill>
        <p:spPr>
          <a:xfrm>
            <a:off x="1976096" y="3651880"/>
            <a:ext cx="5536335" cy="2896965"/>
          </a:xfrm>
          <a:prstGeom prst="rect">
            <a:avLst/>
          </a:prstGeom>
          <a:noFill/>
          <a:ln>
            <a:noFill/>
          </a:ln>
        </p:spPr>
      </p:pic>
      <p:sp>
        <p:nvSpPr>
          <p:cNvPr id="164" name="Google Shape;164;p16"/>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Benefits of Cloud</a:t>
            </a:r>
            <a:endParaRPr/>
          </a:p>
        </p:txBody>
      </p:sp>
      <p:sp>
        <p:nvSpPr>
          <p:cNvPr id="165" name="Google Shape;165;p16"/>
          <p:cNvSpPr txBox="1"/>
          <p:nvPr/>
        </p:nvSpPr>
        <p:spPr>
          <a:xfrm>
            <a:off x="635000" y="1357313"/>
            <a:ext cx="8027988" cy="2411412"/>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Cost Savings</a:t>
            </a:r>
            <a:r>
              <a:rPr lang="en-US" sz="1800" b="0" i="0" u="none" strike="noStrike" cap="none">
                <a:solidFill>
                  <a:schemeClr val="dk1"/>
                </a:solidFill>
                <a:latin typeface="Quattrocento Sans"/>
                <a:ea typeface="Quattrocento Sans"/>
                <a:cs typeface="Quattrocento Sans"/>
                <a:sym typeface="Quattrocento Sans"/>
              </a:rPr>
              <a:t>: Pay for what you use, with no upfront infrastructure costs.</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Scalability</a:t>
            </a:r>
            <a:r>
              <a:rPr lang="en-US" sz="1800" b="0" i="0" u="none" strike="noStrike" cap="none">
                <a:solidFill>
                  <a:schemeClr val="dk1"/>
                </a:solidFill>
                <a:latin typeface="Quattrocento Sans"/>
                <a:ea typeface="Quattrocento Sans"/>
                <a:cs typeface="Quattrocento Sans"/>
                <a:sym typeface="Quattrocento Sans"/>
              </a:rPr>
              <a:t>: Easily scale resources up or down based on demand.</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Flexibility</a:t>
            </a:r>
            <a:r>
              <a:rPr lang="en-US" sz="1800" b="0" i="0" u="none" strike="noStrike" cap="none">
                <a:solidFill>
                  <a:schemeClr val="dk1"/>
                </a:solidFill>
                <a:latin typeface="Quattrocento Sans"/>
                <a:ea typeface="Quattrocento Sans"/>
                <a:cs typeface="Quattrocento Sans"/>
                <a:sym typeface="Quattrocento Sans"/>
              </a:rPr>
              <a:t>: Access resources and applications from anywhere with an internet connection.</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Reliability</a:t>
            </a:r>
            <a:r>
              <a:rPr lang="en-US" sz="1800" b="0" i="0" u="none" strike="noStrike" cap="none">
                <a:solidFill>
                  <a:schemeClr val="dk1"/>
                </a:solidFill>
                <a:latin typeface="Quattrocento Sans"/>
                <a:ea typeface="Quattrocento Sans"/>
                <a:cs typeface="Quattrocento Sans"/>
                <a:sym typeface="Quattrocento Sans"/>
              </a:rPr>
              <a:t>: Cloud providers typically offer high uptime and data redundancy.</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Collaboration</a:t>
            </a:r>
            <a:r>
              <a:rPr lang="en-US" sz="1800" b="0" i="0" u="none" strike="noStrike" cap="none">
                <a:solidFill>
                  <a:schemeClr val="dk1"/>
                </a:solidFill>
                <a:latin typeface="Quattrocento Sans"/>
                <a:ea typeface="Quattrocento Sans"/>
                <a:cs typeface="Quattrocento Sans"/>
                <a:sym typeface="Quattrocento Sans"/>
              </a:rPr>
              <a:t>: Enable seamless collaboration and data sharing among teams.</a:t>
            </a:r>
            <a:endParaRPr/>
          </a:p>
        </p:txBody>
      </p:sp>
      <p:grpSp>
        <p:nvGrpSpPr>
          <p:cNvPr id="166" name="Google Shape;166;p16"/>
          <p:cNvGrpSpPr/>
          <p:nvPr/>
        </p:nvGrpSpPr>
        <p:grpSpPr>
          <a:xfrm>
            <a:off x="8715376" y="2316480"/>
            <a:ext cx="276999" cy="3755790"/>
            <a:chOff x="8715376" y="2297975"/>
            <a:chExt cx="276999" cy="3755790"/>
          </a:xfrm>
        </p:grpSpPr>
        <p:sp>
          <p:nvSpPr>
            <p:cNvPr id="167" name="Google Shape;167;p16"/>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68" name="Google Shape;168;p16"/>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pic>
        <p:nvPicPr>
          <p:cNvPr id="174" name="Google Shape;174;p17" descr="The Impact of Cloud Computing on Business Efficiency - Stefanini"/>
          <p:cNvPicPr preferRelativeResize="0"/>
          <p:nvPr/>
        </p:nvPicPr>
        <p:blipFill rotWithShape="1">
          <a:blip r:embed="rId3">
            <a:alphaModFix/>
          </a:blip>
          <a:srcRect l="46343" r="13200"/>
          <a:stretch/>
        </p:blipFill>
        <p:spPr>
          <a:xfrm>
            <a:off x="2205659" y="4233974"/>
            <a:ext cx="2185850" cy="2532021"/>
          </a:xfrm>
          <a:prstGeom prst="rect">
            <a:avLst/>
          </a:prstGeom>
          <a:noFill/>
          <a:ln>
            <a:noFill/>
          </a:ln>
        </p:spPr>
      </p:pic>
      <p:sp>
        <p:nvSpPr>
          <p:cNvPr id="175" name="Google Shape;175;p17"/>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Common Cloud Computing Use Cases</a:t>
            </a:r>
            <a:endParaRPr/>
          </a:p>
        </p:txBody>
      </p:sp>
      <p:sp>
        <p:nvSpPr>
          <p:cNvPr id="176" name="Google Shape;176;p17"/>
          <p:cNvSpPr txBox="1"/>
          <p:nvPr/>
        </p:nvSpPr>
        <p:spPr>
          <a:xfrm>
            <a:off x="635000" y="1357313"/>
            <a:ext cx="8027988" cy="296545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Data Storage and Backup</a:t>
            </a:r>
            <a:r>
              <a:rPr lang="en-US" sz="1800" b="0" i="0" u="none" strike="noStrike" cap="none">
                <a:solidFill>
                  <a:schemeClr val="dk1"/>
                </a:solidFill>
                <a:latin typeface="Quattrocento Sans"/>
                <a:ea typeface="Quattrocento Sans"/>
                <a:cs typeface="Quattrocento Sans"/>
                <a:sym typeface="Quattrocento Sans"/>
              </a:rPr>
              <a:t>: Store and back up large amounts of data securely.</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Software Development and Testing</a:t>
            </a:r>
            <a:r>
              <a:rPr lang="en-US" sz="1800" b="0" i="0" u="none" strike="noStrike" cap="none">
                <a:solidFill>
                  <a:schemeClr val="dk1"/>
                </a:solidFill>
                <a:latin typeface="Quattrocento Sans"/>
                <a:ea typeface="Quattrocento Sans"/>
                <a:cs typeface="Quattrocento Sans"/>
                <a:sym typeface="Quattrocento Sans"/>
              </a:rPr>
              <a:t>: Rapidly create and deploy applications in a scalable environment.</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Web and Mobile Applications</a:t>
            </a:r>
            <a:r>
              <a:rPr lang="en-US" sz="1800" b="0" i="0" u="none" strike="noStrike" cap="none">
                <a:solidFill>
                  <a:schemeClr val="dk1"/>
                </a:solidFill>
                <a:latin typeface="Quattrocento Sans"/>
                <a:ea typeface="Quattrocento Sans"/>
                <a:cs typeface="Quattrocento Sans"/>
                <a:sym typeface="Quattrocento Sans"/>
              </a:rPr>
              <a:t>: Host web and mobile applications in the cloud for global accessibility.</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Big Data Analytics</a:t>
            </a:r>
            <a:r>
              <a:rPr lang="en-US" sz="1800" b="0" i="0" u="none" strike="noStrike" cap="none">
                <a:solidFill>
                  <a:schemeClr val="dk1"/>
                </a:solidFill>
                <a:latin typeface="Quattrocento Sans"/>
                <a:ea typeface="Quattrocento Sans"/>
                <a:cs typeface="Quattrocento Sans"/>
                <a:sym typeface="Quattrocento Sans"/>
              </a:rPr>
              <a:t>: Process and analyze vast amounts of data using cloud resources.</a:t>
            </a:r>
            <a:endParaRPr/>
          </a:p>
          <a:p>
            <a:pPr marL="408623" marR="0" lvl="0" indent="-285750" algn="l" rtl="0">
              <a:spcBef>
                <a:spcPts val="236"/>
              </a:spcBef>
              <a:spcAft>
                <a:spcPts val="0"/>
              </a:spcAft>
              <a:buClr>
                <a:srgbClr val="0000FF"/>
              </a:buClr>
              <a:buSzPts val="1800"/>
              <a:buFont typeface="Arial"/>
              <a:buChar char="•"/>
            </a:pPr>
            <a:r>
              <a:rPr lang="en-US" sz="1800" b="1" i="0" u="none" strike="noStrike" cap="none">
                <a:solidFill>
                  <a:schemeClr val="dk1"/>
                </a:solidFill>
                <a:latin typeface="Quattrocento Sans"/>
                <a:ea typeface="Quattrocento Sans"/>
                <a:cs typeface="Quattrocento Sans"/>
                <a:sym typeface="Quattrocento Sans"/>
              </a:rPr>
              <a:t>Disaster Recovery</a:t>
            </a:r>
            <a:r>
              <a:rPr lang="en-US" sz="1800" b="0" i="0" u="none" strike="noStrike" cap="none">
                <a:solidFill>
                  <a:schemeClr val="dk1"/>
                </a:solidFill>
                <a:latin typeface="Quattrocento Sans"/>
                <a:ea typeface="Quattrocento Sans"/>
                <a:cs typeface="Quattrocento Sans"/>
                <a:sym typeface="Quattrocento Sans"/>
              </a:rPr>
              <a:t>: Maintain data backups and recovery plans in the cloud for business continuity.</a:t>
            </a:r>
            <a:endParaRPr/>
          </a:p>
        </p:txBody>
      </p:sp>
      <p:grpSp>
        <p:nvGrpSpPr>
          <p:cNvPr id="177" name="Google Shape;177;p17"/>
          <p:cNvGrpSpPr/>
          <p:nvPr/>
        </p:nvGrpSpPr>
        <p:grpSpPr>
          <a:xfrm>
            <a:off x="3997042" y="2316480"/>
            <a:ext cx="4995333" cy="4411339"/>
            <a:chOff x="3997042" y="2297975"/>
            <a:chExt cx="4995333" cy="4411339"/>
          </a:xfrm>
        </p:grpSpPr>
        <p:sp>
          <p:nvSpPr>
            <p:cNvPr id="178" name="Google Shape;178;p17"/>
            <p:cNvSpPr txBox="1"/>
            <p:nvPr/>
          </p:nvSpPr>
          <p:spPr>
            <a:xfrm>
              <a:off x="3997042" y="6447704"/>
              <a:ext cx="4995333"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Dr. Jay Sarraf, School of Computer Engineering, KIIT Deemed to be University</a:t>
              </a:r>
              <a:endParaRPr/>
            </a:p>
          </p:txBody>
        </p:sp>
        <p:grpSp>
          <p:nvGrpSpPr>
            <p:cNvPr id="179" name="Google Shape;179;p17"/>
            <p:cNvGrpSpPr/>
            <p:nvPr/>
          </p:nvGrpSpPr>
          <p:grpSpPr>
            <a:xfrm>
              <a:off x="8715376" y="2297975"/>
              <a:ext cx="276999" cy="3755790"/>
              <a:chOff x="8715376" y="2297975"/>
              <a:chExt cx="276999" cy="3755790"/>
            </a:xfrm>
          </p:grpSpPr>
          <p:sp>
            <p:nvSpPr>
              <p:cNvPr id="180" name="Google Shape;180;p17"/>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81" name="Google Shape;181;p17"/>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
        <p:cNvGrpSpPr/>
        <p:nvPr/>
      </p:nvGrpSpPr>
      <p:grpSpPr>
        <a:xfrm>
          <a:off x="0" y="0"/>
          <a:ext cx="0" cy="0"/>
          <a:chOff x="0" y="0"/>
          <a:chExt cx="0" cy="0"/>
        </a:xfrm>
      </p:grpSpPr>
      <p:sp>
        <p:nvSpPr>
          <p:cNvPr id="187" name="Google Shape;187;p18"/>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Architecture</a:t>
            </a:r>
            <a:endParaRPr/>
          </a:p>
        </p:txBody>
      </p:sp>
      <p:sp>
        <p:nvSpPr>
          <p:cNvPr id="188" name="Google Shape;188;p18"/>
          <p:cNvSpPr txBox="1"/>
          <p:nvPr/>
        </p:nvSpPr>
        <p:spPr>
          <a:xfrm>
            <a:off x="635000" y="1357313"/>
            <a:ext cx="8027988" cy="1806575"/>
          </a:xfrm>
          <a:prstGeom prst="rect">
            <a:avLst/>
          </a:prstGeom>
          <a:solidFill>
            <a:srgbClr val="F2F2F2"/>
          </a:solidFill>
          <a:ln>
            <a:noFill/>
          </a:ln>
        </p:spPr>
        <p:txBody>
          <a:bodyPr spcFirstLastPara="1" wrap="square" lIns="91425" tIns="45700" rIns="91425" bIns="45700" anchor="t" anchorCtr="0">
            <a:spAutoFit/>
          </a:bodyPr>
          <a:lstStyle/>
          <a:p>
            <a:pPr marL="408623" marR="0" lvl="0" indent="-171450" algn="l" rtl="0">
              <a:spcBef>
                <a:spcPts val="0"/>
              </a:spcBef>
              <a:spcAft>
                <a:spcPts val="0"/>
              </a:spcAft>
              <a:buClr>
                <a:srgbClr val="0000FF"/>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Cloud architecture refers to the design and structure of cloud computing environments, including the arrangement of components and the relationships between them.</a:t>
            </a:r>
            <a:endParaRPr/>
          </a:p>
          <a:p>
            <a:pPr marL="408623" marR="0" lvl="0" indent="-285750" algn="l" rtl="0">
              <a:spcBef>
                <a:spcPts val="236"/>
              </a:spcBef>
              <a:spcAft>
                <a:spcPts val="0"/>
              </a:spcAft>
              <a:buClr>
                <a:srgbClr val="0000FF"/>
              </a:buClr>
              <a:buSzPts val="1800"/>
              <a:buFont typeface="Arial"/>
              <a:buChar char="•"/>
            </a:pPr>
            <a:r>
              <a:rPr lang="en-US" sz="1800" b="0" i="0" u="none" strike="noStrike" cap="none">
                <a:solidFill>
                  <a:schemeClr val="dk1"/>
                </a:solidFill>
                <a:latin typeface="Quattrocento Sans"/>
                <a:ea typeface="Quattrocento Sans"/>
                <a:cs typeface="Quattrocento Sans"/>
                <a:sym typeface="Quattrocento Sans"/>
              </a:rPr>
              <a:t>It involves various elements that work together to deliver cloud services and ensure reliability, scalability, and security.</a:t>
            </a:r>
            <a:endParaRPr/>
          </a:p>
        </p:txBody>
      </p:sp>
      <p:grpSp>
        <p:nvGrpSpPr>
          <p:cNvPr id="189" name="Google Shape;189;p18"/>
          <p:cNvGrpSpPr/>
          <p:nvPr/>
        </p:nvGrpSpPr>
        <p:grpSpPr>
          <a:xfrm>
            <a:off x="8715376" y="2316480"/>
            <a:ext cx="276999" cy="3755790"/>
            <a:chOff x="8715376" y="2297975"/>
            <a:chExt cx="276999" cy="3755790"/>
          </a:xfrm>
        </p:grpSpPr>
        <p:sp>
          <p:nvSpPr>
            <p:cNvPr id="190" name="Google Shape;190;p18"/>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191" name="Google Shape;191;p18"/>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192" name="Google Shape;192;p18" descr="Cloud Computing Architecture - javatpoint"/>
          <p:cNvPicPr preferRelativeResize="0"/>
          <p:nvPr/>
        </p:nvPicPr>
        <p:blipFill rotWithShape="1">
          <a:blip r:embed="rId3">
            <a:alphaModFix/>
          </a:blip>
          <a:srcRect t="8916"/>
          <a:stretch/>
        </p:blipFill>
        <p:spPr>
          <a:xfrm>
            <a:off x="2655888" y="3248025"/>
            <a:ext cx="4467225" cy="31797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
        <p:cNvGrpSpPr/>
        <p:nvPr/>
      </p:nvGrpSpPr>
      <p:grpSpPr>
        <a:xfrm>
          <a:off x="0" y="0"/>
          <a:ext cx="0" cy="0"/>
          <a:chOff x="0" y="0"/>
          <a:chExt cx="0" cy="0"/>
        </a:xfrm>
      </p:grpSpPr>
      <p:sp>
        <p:nvSpPr>
          <p:cNvPr id="198" name="Google Shape;198;p19"/>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dirty="0"/>
              <a:t>Cloud </a:t>
            </a:r>
            <a:r>
              <a:rPr lang="en-US" sz="2400" dirty="0"/>
              <a:t>S</a:t>
            </a:r>
            <a:r>
              <a:rPr lang="en-US" sz="2400" dirty="0" smtClean="0"/>
              <a:t>ystem Architecture</a:t>
            </a:r>
            <a:endParaRPr dirty="0"/>
          </a:p>
        </p:txBody>
      </p:sp>
      <p:grpSp>
        <p:nvGrpSpPr>
          <p:cNvPr id="199" name="Google Shape;199;p19"/>
          <p:cNvGrpSpPr/>
          <p:nvPr/>
        </p:nvGrpSpPr>
        <p:grpSpPr>
          <a:xfrm>
            <a:off x="8715376" y="2316480"/>
            <a:ext cx="276999" cy="3755790"/>
            <a:chOff x="8715376" y="2297975"/>
            <a:chExt cx="276999" cy="3755790"/>
          </a:xfrm>
        </p:grpSpPr>
        <p:sp>
          <p:nvSpPr>
            <p:cNvPr id="200" name="Google Shape;200;p19"/>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201" name="Google Shape;201;p19"/>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pic>
        <p:nvPicPr>
          <p:cNvPr id="202" name="Google Shape;202;p19"/>
          <p:cNvPicPr preferRelativeResize="0"/>
          <p:nvPr/>
        </p:nvPicPr>
        <p:blipFill rotWithShape="1">
          <a:blip r:embed="rId3">
            <a:alphaModFix/>
          </a:blip>
          <a:srcRect/>
          <a:stretch/>
        </p:blipFill>
        <p:spPr>
          <a:xfrm>
            <a:off x="514350" y="2008188"/>
            <a:ext cx="8056563" cy="3835400"/>
          </a:xfrm>
          <a:prstGeom prst="rect">
            <a:avLst/>
          </a:prstGeom>
          <a:noFill/>
          <a:ln>
            <a:noFill/>
          </a:ln>
          <a:effectLst>
            <a:outerShdw blurRad="190500" algn="tl" rotWithShape="0">
              <a:srgbClr val="000000">
                <a:alpha val="69803"/>
              </a:srgbClr>
            </a:outerShdw>
          </a:effectLst>
        </p:spPr>
      </p:pic>
      <p:sp>
        <p:nvSpPr>
          <p:cNvPr id="203" name="Google Shape;203;p19"/>
          <p:cNvSpPr txBox="1"/>
          <p:nvPr/>
        </p:nvSpPr>
        <p:spPr>
          <a:xfrm>
            <a:off x="2782888" y="1465263"/>
            <a:ext cx="3711575" cy="365125"/>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None/>
            </a:pPr>
            <a:r>
              <a:rPr lang="en-US" sz="1500" b="1" i="0" u="none" strike="noStrike" cap="none" dirty="0">
                <a:solidFill>
                  <a:schemeClr val="dk1"/>
                </a:solidFill>
                <a:latin typeface="Quattrocento Sans"/>
                <a:ea typeface="Quattrocento Sans"/>
                <a:cs typeface="Quattrocento Sans"/>
                <a:sym typeface="Quattrocento Sans"/>
              </a:rPr>
              <a:t>NIST Architecture of Cloud</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8"/>
        <p:cNvGrpSpPr/>
        <p:nvPr/>
      </p:nvGrpSpPr>
      <p:grpSpPr>
        <a:xfrm>
          <a:off x="0" y="0"/>
          <a:ext cx="0" cy="0"/>
          <a:chOff x="0" y="0"/>
          <a:chExt cx="0" cy="0"/>
        </a:xfrm>
      </p:grpSpPr>
      <p:sp>
        <p:nvSpPr>
          <p:cNvPr id="209" name="Google Shape;209;p20"/>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Cont…</a:t>
            </a:r>
            <a:endParaRPr/>
          </a:p>
        </p:txBody>
      </p:sp>
      <p:sp>
        <p:nvSpPr>
          <p:cNvPr id="210" name="Google Shape;210;p20"/>
          <p:cNvSpPr txBox="1"/>
          <p:nvPr/>
        </p:nvSpPr>
        <p:spPr>
          <a:xfrm>
            <a:off x="635000" y="1357313"/>
            <a:ext cx="8027988" cy="4540250"/>
          </a:xfrm>
          <a:prstGeom prst="rect">
            <a:avLst/>
          </a:prstGeom>
          <a:solidFill>
            <a:srgbClr val="F2F2F2"/>
          </a:solidFill>
          <a:ln>
            <a:noFill/>
          </a:ln>
        </p:spPr>
        <p:txBody>
          <a:bodyPr spcFirstLastPara="1" wrap="square" lIns="91425" tIns="45700" rIns="91425" bIns="45700" anchor="t" anchorCtr="0">
            <a:spAutoFit/>
          </a:bodyPr>
          <a:lstStyle/>
          <a:p>
            <a:pPr marL="408623" marR="0" lvl="0" indent="-171450" algn="l" rtl="0">
              <a:spcBef>
                <a:spcPts val="0"/>
              </a:spcBef>
              <a:spcAft>
                <a:spcPts val="0"/>
              </a:spcAft>
              <a:buClr>
                <a:srgbClr val="0000FF"/>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600"/>
              <a:buFont typeface="Arial"/>
              <a:buChar char="•"/>
            </a:pPr>
            <a:r>
              <a:rPr lang="en-US" sz="1600" b="1" i="0" u="none" strike="noStrike" cap="none">
                <a:solidFill>
                  <a:schemeClr val="dk1"/>
                </a:solidFill>
                <a:latin typeface="Quattrocento Sans"/>
                <a:ea typeface="Quattrocento Sans"/>
                <a:cs typeface="Quattrocento Sans"/>
                <a:sym typeface="Quattrocento Sans"/>
              </a:rPr>
              <a:t>Cloud Consumer</a:t>
            </a:r>
            <a:r>
              <a:rPr lang="en-US" sz="1600" b="0" i="0" u="none" strike="noStrike" cap="none">
                <a:solidFill>
                  <a:schemeClr val="dk1"/>
                </a:solidFill>
                <a:latin typeface="Quattrocento Sans"/>
                <a:ea typeface="Quattrocento Sans"/>
                <a:cs typeface="Quattrocento Sans"/>
                <a:sym typeface="Quattrocento Sans"/>
              </a:rPr>
              <a:t>: An individual or organization that engages in a business partnership with Cloud Providers and utilizes their services.</a:t>
            </a:r>
            <a:endParaRPr/>
          </a:p>
          <a:p>
            <a:pPr marL="408623" marR="0" lvl="0" indent="-184150" algn="l" rtl="0">
              <a:spcBef>
                <a:spcPts val="236"/>
              </a:spcBef>
              <a:spcAft>
                <a:spcPts val="0"/>
              </a:spcAft>
              <a:buClr>
                <a:srgbClr val="0000FF"/>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600"/>
              <a:buFont typeface="Arial"/>
              <a:buChar char="•"/>
            </a:pPr>
            <a:r>
              <a:rPr lang="en-US" sz="1600" b="1" i="0" u="none" strike="noStrike" cap="none">
                <a:solidFill>
                  <a:schemeClr val="dk1"/>
                </a:solidFill>
                <a:latin typeface="Quattrocento Sans"/>
                <a:ea typeface="Quattrocento Sans"/>
                <a:cs typeface="Quattrocento Sans"/>
                <a:sym typeface="Quattrocento Sans"/>
              </a:rPr>
              <a:t>Cloud Provider</a:t>
            </a:r>
            <a:r>
              <a:rPr lang="en-US" sz="1600" b="0" i="0" u="none" strike="noStrike" cap="none">
                <a:solidFill>
                  <a:schemeClr val="dk1"/>
                </a:solidFill>
                <a:latin typeface="Quattrocento Sans"/>
                <a:ea typeface="Quattrocento Sans"/>
                <a:cs typeface="Quattrocento Sans"/>
                <a:sym typeface="Quattrocento Sans"/>
              </a:rPr>
              <a:t>: A person, organization, or entity that is accountable for offering services to individuals or entities who are interested in them.</a:t>
            </a:r>
            <a:endParaRPr/>
          </a:p>
          <a:p>
            <a:pPr marL="408623" marR="0" lvl="0" indent="-184150" algn="l" rtl="0">
              <a:spcBef>
                <a:spcPts val="236"/>
              </a:spcBef>
              <a:spcAft>
                <a:spcPts val="0"/>
              </a:spcAft>
              <a:buClr>
                <a:srgbClr val="0000FF"/>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600"/>
              <a:buFont typeface="Arial"/>
              <a:buChar char="•"/>
            </a:pPr>
            <a:r>
              <a:rPr lang="en-US" sz="1600" b="1" i="0" u="none" strike="noStrike" cap="none">
                <a:solidFill>
                  <a:schemeClr val="dk1"/>
                </a:solidFill>
                <a:latin typeface="Quattrocento Sans"/>
                <a:ea typeface="Quattrocento Sans"/>
                <a:cs typeface="Quattrocento Sans"/>
                <a:sym typeface="Quattrocento Sans"/>
              </a:rPr>
              <a:t>Cloud Auditor</a:t>
            </a:r>
            <a:r>
              <a:rPr lang="en-US" sz="1600" b="0" i="0" u="none" strike="noStrike" cap="none">
                <a:solidFill>
                  <a:schemeClr val="dk1"/>
                </a:solidFill>
                <a:latin typeface="Quattrocento Sans"/>
                <a:ea typeface="Quattrocento Sans"/>
                <a:cs typeface="Quattrocento Sans"/>
                <a:sym typeface="Quattrocento Sans"/>
              </a:rPr>
              <a:t>: A party capable of conducting an impartial evaluation of cloud services, as well as assessing the performance, security, and operations of the cloud implementation.</a:t>
            </a:r>
            <a:endParaRPr/>
          </a:p>
          <a:p>
            <a:pPr marL="408623" marR="0" lvl="0" indent="-184150" algn="l" rtl="0">
              <a:spcBef>
                <a:spcPts val="236"/>
              </a:spcBef>
              <a:spcAft>
                <a:spcPts val="0"/>
              </a:spcAft>
              <a:buClr>
                <a:srgbClr val="0000FF"/>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600"/>
              <a:buFont typeface="Arial"/>
              <a:buChar char="•"/>
            </a:pPr>
            <a:r>
              <a:rPr lang="en-US" sz="1600" b="1" i="0" u="none" strike="noStrike" cap="none">
                <a:solidFill>
                  <a:schemeClr val="dk1"/>
                </a:solidFill>
                <a:latin typeface="Quattrocento Sans"/>
                <a:ea typeface="Quattrocento Sans"/>
                <a:cs typeface="Quattrocento Sans"/>
                <a:sym typeface="Quattrocento Sans"/>
              </a:rPr>
              <a:t>Cloud Broker</a:t>
            </a:r>
            <a:r>
              <a:rPr lang="en-US" sz="1600" b="0" i="0" u="none" strike="noStrike" cap="none">
                <a:solidFill>
                  <a:schemeClr val="dk1"/>
                </a:solidFill>
                <a:latin typeface="Quattrocento Sans"/>
                <a:ea typeface="Quattrocento Sans"/>
                <a:cs typeface="Quattrocento Sans"/>
                <a:sym typeface="Quattrocento Sans"/>
              </a:rPr>
              <a:t>: An entity responsible for managing the utilization, performance, and delivery of cloud services. Additionally, they act as mediators between Cloud Providers and Cloud Consumers, negotiating relationships between the two parties.</a:t>
            </a:r>
            <a:endParaRPr/>
          </a:p>
          <a:p>
            <a:pPr marL="408623" marR="0" lvl="0" indent="-184150" algn="l" rtl="0">
              <a:spcBef>
                <a:spcPts val="236"/>
              </a:spcBef>
              <a:spcAft>
                <a:spcPts val="0"/>
              </a:spcAft>
              <a:buClr>
                <a:srgbClr val="0000FF"/>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600"/>
              <a:buFont typeface="Arial"/>
              <a:buChar char="•"/>
            </a:pPr>
            <a:r>
              <a:rPr lang="en-US" sz="1600" b="1" i="0" u="none" strike="noStrike" cap="none">
                <a:solidFill>
                  <a:schemeClr val="dk1"/>
                </a:solidFill>
                <a:latin typeface="Quattrocento Sans"/>
                <a:ea typeface="Quattrocento Sans"/>
                <a:cs typeface="Quattrocento Sans"/>
                <a:sym typeface="Quattrocento Sans"/>
              </a:rPr>
              <a:t>Cloud Carrier</a:t>
            </a:r>
            <a:r>
              <a:rPr lang="en-US" sz="1600" b="0" i="0" u="none" strike="noStrike" cap="none">
                <a:solidFill>
                  <a:schemeClr val="dk1"/>
                </a:solidFill>
                <a:latin typeface="Quattrocento Sans"/>
                <a:ea typeface="Quattrocento Sans"/>
                <a:cs typeface="Quattrocento Sans"/>
                <a:sym typeface="Quattrocento Sans"/>
              </a:rPr>
              <a:t>: An intermediary that facilitates the connectivity and transportation of cloud services from Cloud Providers to Cloud Consumers.</a:t>
            </a:r>
            <a:endParaRPr/>
          </a:p>
        </p:txBody>
      </p:sp>
      <p:grpSp>
        <p:nvGrpSpPr>
          <p:cNvPr id="211" name="Google Shape;211;p20"/>
          <p:cNvGrpSpPr/>
          <p:nvPr/>
        </p:nvGrpSpPr>
        <p:grpSpPr>
          <a:xfrm>
            <a:off x="8715376" y="2316480"/>
            <a:ext cx="276999" cy="3755790"/>
            <a:chOff x="8715376" y="2297975"/>
            <a:chExt cx="276999" cy="3755790"/>
          </a:xfrm>
        </p:grpSpPr>
        <p:sp>
          <p:nvSpPr>
            <p:cNvPr id="212" name="Google Shape;212;p20"/>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213" name="Google Shape;213;p20"/>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21"/>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Cloud Architecture Best Practices</a:t>
            </a:r>
            <a:endParaRPr/>
          </a:p>
        </p:txBody>
      </p:sp>
      <p:sp>
        <p:nvSpPr>
          <p:cNvPr id="220" name="Google Shape;220;p21"/>
          <p:cNvSpPr txBox="1"/>
          <p:nvPr/>
        </p:nvSpPr>
        <p:spPr>
          <a:xfrm>
            <a:off x="635000" y="1357313"/>
            <a:ext cx="8027988" cy="5145087"/>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500"/>
              <a:buFont typeface="Arial"/>
              <a:buChar char="•"/>
            </a:pPr>
            <a:r>
              <a:rPr lang="en-US" sz="1500" b="1" i="0" u="none" strike="noStrike" cap="none">
                <a:solidFill>
                  <a:schemeClr val="dk1"/>
                </a:solidFill>
                <a:latin typeface="Quattrocento Sans"/>
                <a:ea typeface="Quattrocento Sans"/>
                <a:cs typeface="Quattrocento Sans"/>
                <a:sym typeface="Quattrocento Sans"/>
              </a:rPr>
              <a:t>Up-front Planning</a:t>
            </a:r>
            <a:r>
              <a:rPr lang="en-US" sz="1500" b="0" i="0" u="none" strike="noStrike" cap="none">
                <a:solidFill>
                  <a:schemeClr val="dk1"/>
                </a:solidFill>
                <a:latin typeface="Quattrocento Sans"/>
                <a:ea typeface="Quattrocento Sans"/>
                <a:cs typeface="Quattrocento Sans"/>
                <a:sym typeface="Quattrocento Sans"/>
              </a:rPr>
              <a:t>: Prioritize up-front planning to understand capacity needs and avoid unexpected production glitches. Continuously test performance during the architecture design phase.</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1" i="0" u="none" strike="noStrike" cap="none">
                <a:solidFill>
                  <a:schemeClr val="dk1"/>
                </a:solidFill>
                <a:latin typeface="Quattrocento Sans"/>
                <a:ea typeface="Quattrocento Sans"/>
                <a:cs typeface="Quattrocento Sans"/>
                <a:sym typeface="Quattrocento Sans"/>
              </a:rPr>
              <a:t>Security First</a:t>
            </a:r>
            <a:r>
              <a:rPr lang="en-US" sz="1500" b="0" i="0" u="none" strike="noStrike" cap="none">
                <a:solidFill>
                  <a:schemeClr val="dk1"/>
                </a:solidFill>
                <a:latin typeface="Quattrocento Sans"/>
                <a:ea typeface="Quattrocento Sans"/>
                <a:cs typeface="Quattrocento Sans"/>
                <a:sym typeface="Quattrocento Sans"/>
              </a:rPr>
              <a:t>: Implement robust security measures to protect against unauthorized access. Safeguard all layers of the cloud infrastructure through data encryption, patch management, and strict security policies. Consider adopting zero-trust security models for enhanced protection in hybrid and multi-cloud environments.</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1" i="0" u="none" strike="noStrike" cap="none">
                <a:solidFill>
                  <a:schemeClr val="dk1"/>
                </a:solidFill>
                <a:latin typeface="Quattrocento Sans"/>
                <a:ea typeface="Quattrocento Sans"/>
                <a:cs typeface="Quattrocento Sans"/>
                <a:sym typeface="Quattrocento Sans"/>
              </a:rPr>
              <a:t>Disaster Recovery Readiness</a:t>
            </a:r>
            <a:r>
              <a:rPr lang="en-US" sz="1500" b="0" i="0" u="none" strike="noStrike" cap="none">
                <a:solidFill>
                  <a:schemeClr val="dk1"/>
                </a:solidFill>
                <a:latin typeface="Quattrocento Sans"/>
                <a:ea typeface="Quattrocento Sans"/>
                <a:cs typeface="Quattrocento Sans"/>
                <a:sym typeface="Quattrocento Sans"/>
              </a:rPr>
              <a:t>: Automate recovery processes to minimize costly downtime and ensure swift recovery from service disruptions. Implement monitoring mechanisms to track capacity and utilize redundant networks for a highly available architecture.</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1" i="0" u="none" strike="noStrike" cap="none">
                <a:solidFill>
                  <a:schemeClr val="dk1"/>
                </a:solidFill>
                <a:latin typeface="Quattrocento Sans"/>
                <a:ea typeface="Quattrocento Sans"/>
                <a:cs typeface="Quattrocento Sans"/>
                <a:sym typeface="Quattrocento Sans"/>
              </a:rPr>
              <a:t>Maximize Performance</a:t>
            </a:r>
            <a:r>
              <a:rPr lang="en-US" sz="1500" b="0" i="0" u="none" strike="noStrike" cap="none">
                <a:solidFill>
                  <a:schemeClr val="dk1"/>
                </a:solidFill>
                <a:latin typeface="Quattrocento Sans"/>
                <a:ea typeface="Quattrocento Sans"/>
                <a:cs typeface="Quattrocento Sans"/>
                <a:sym typeface="Quattrocento Sans"/>
              </a:rPr>
              <a:t>: Optimize computing resources by continuously monitoring business demands and technological requirements. Efficiently manage and allocate resources to maintain optimal performance levels.</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1" i="0" u="none" strike="noStrike" cap="none">
                <a:solidFill>
                  <a:schemeClr val="dk1"/>
                </a:solidFill>
                <a:latin typeface="Quattrocento Sans"/>
                <a:ea typeface="Quattrocento Sans"/>
                <a:cs typeface="Quattrocento Sans"/>
                <a:sym typeface="Quattrocento Sans"/>
              </a:rPr>
              <a:t>Cost Optimization</a:t>
            </a:r>
            <a:r>
              <a:rPr lang="en-US" sz="1500" b="0" i="0" u="none" strike="noStrike" cap="none">
                <a:solidFill>
                  <a:schemeClr val="dk1"/>
                </a:solidFill>
                <a:latin typeface="Quattrocento Sans"/>
                <a:ea typeface="Quattrocento Sans"/>
                <a:cs typeface="Quattrocento Sans"/>
                <a:sym typeface="Quattrocento Sans"/>
              </a:rPr>
              <a:t>: Leverage automated processes, managed service providers, and utilization tracking to reduce unnecessary cloud computing expenses. Regularly review and optimize resource allocation to ensure cost-effectiveness.</a:t>
            </a:r>
            <a:endParaRPr/>
          </a:p>
        </p:txBody>
      </p:sp>
      <p:grpSp>
        <p:nvGrpSpPr>
          <p:cNvPr id="221" name="Google Shape;221;p21"/>
          <p:cNvGrpSpPr/>
          <p:nvPr/>
        </p:nvGrpSpPr>
        <p:grpSpPr>
          <a:xfrm>
            <a:off x="8715376" y="2316480"/>
            <a:ext cx="276999" cy="3755790"/>
            <a:chOff x="8715376" y="2297975"/>
            <a:chExt cx="276999" cy="3755790"/>
          </a:xfrm>
        </p:grpSpPr>
        <p:sp>
          <p:nvSpPr>
            <p:cNvPr id="222" name="Google Shape;222;p21"/>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223" name="Google Shape;223;p21"/>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sp>
        <p:nvSpPr>
          <p:cNvPr id="229" name="Google Shape;229;p22"/>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Conclusion</a:t>
            </a:r>
            <a:endParaRPr/>
          </a:p>
        </p:txBody>
      </p:sp>
      <p:sp>
        <p:nvSpPr>
          <p:cNvPr id="230" name="Google Shape;230;p22"/>
          <p:cNvSpPr txBox="1"/>
          <p:nvPr/>
        </p:nvSpPr>
        <p:spPr>
          <a:xfrm>
            <a:off x="685800" y="1500188"/>
            <a:ext cx="7831138" cy="496570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Cloud computing enables the delivery of computing services over the internet, eliminating the need for local infrastructure.</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Key characteristics of cloud computing include on-demand self-service, broad network access, resource pooling, rapid elasticity, and measured service.</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Deployment models include public, private, and hybrid clouds, offering flexibility and data sharing options.</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Service models such as IaaS, PaaS, and SaaS provide virtualized computing resources, platform for application development, and software delivery respectively.</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Cloud computing offers benefits like cost savings, scalability, flexibility, reliability, and enhanced collaboration.</a:t>
            </a:r>
            <a:endParaRPr/>
          </a:p>
          <a:p>
            <a:pPr marL="122873" marR="0" lvl="0" indent="0" algn="l" rtl="0">
              <a:spcBef>
                <a:spcPts val="236"/>
              </a:spcBef>
              <a:spcAft>
                <a:spcPts val="0"/>
              </a:spcAft>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Cloud computing presents a transformative approach to computing, offering cost-effective solutions, scalability, and flexibility for organizations across various industries. By leveraging the benefits of cloud computing and aligning with the appropriate deployment and service models, organizations can drive innovation, improve efficiency, and adapt to evolving business needs.</a:t>
            </a:r>
            <a:endParaRPr/>
          </a:p>
        </p:txBody>
      </p:sp>
      <p:grpSp>
        <p:nvGrpSpPr>
          <p:cNvPr id="231" name="Google Shape;231;p22"/>
          <p:cNvGrpSpPr/>
          <p:nvPr/>
        </p:nvGrpSpPr>
        <p:grpSpPr>
          <a:xfrm>
            <a:off x="8715376" y="2316480"/>
            <a:ext cx="276999" cy="3755790"/>
            <a:chOff x="8715376" y="2297975"/>
            <a:chExt cx="276999" cy="3755790"/>
          </a:xfrm>
        </p:grpSpPr>
        <p:sp>
          <p:nvSpPr>
            <p:cNvPr id="232" name="Google Shape;232;p22"/>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233" name="Google Shape;233;p22"/>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23"/>
          <p:cNvSpPr txBox="1">
            <a:spLocks noGrp="1"/>
          </p:cNvSpPr>
          <p:nvPr>
            <p:ph type="title"/>
          </p:nvPr>
        </p:nvSpPr>
        <p:spPr>
          <a:xfrm>
            <a:off x="333375" y="430213"/>
            <a:ext cx="5248275" cy="63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Remember</a:t>
            </a:r>
            <a:endParaRPr/>
          </a:p>
        </p:txBody>
      </p:sp>
      <p:sp>
        <p:nvSpPr>
          <p:cNvPr id="240" name="Google Shape;240;p23"/>
          <p:cNvSpPr txBox="1"/>
          <p:nvPr/>
        </p:nvSpPr>
        <p:spPr>
          <a:xfrm>
            <a:off x="677863" y="1498600"/>
            <a:ext cx="7612062" cy="3041650"/>
          </a:xfrm>
          <a:prstGeom prst="rect">
            <a:avLst/>
          </a:prstGeom>
          <a:solidFill>
            <a:srgbClr val="F2F2F2"/>
          </a:solidFill>
          <a:ln>
            <a:noFill/>
          </a:ln>
        </p:spPr>
        <p:txBody>
          <a:bodyPr spcFirstLastPara="1" wrap="square" lIns="91425" tIns="45700" rIns="91425" bIns="45700" anchor="t" anchorCtr="0">
            <a:spAutoFit/>
          </a:bodyPr>
          <a:lstStyle/>
          <a:p>
            <a:pPr marL="408623" marR="0" lvl="0" indent="-285750" algn="l" rtl="0">
              <a:spcBef>
                <a:spcPts val="0"/>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Understand your specific needs and requirements when selecting a cloud deployment and service model.</a:t>
            </a:r>
            <a:endParaRPr/>
          </a:p>
          <a:p>
            <a:pPr marL="408623" marR="0" lvl="0" indent="-190500" algn="l" rtl="0">
              <a:spcBef>
                <a:spcPts val="236"/>
              </a:spcBef>
              <a:spcAft>
                <a:spcPts val="0"/>
              </a:spcAft>
              <a:buClr>
                <a:srgbClr val="0000FF"/>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Prioritize security measures such as data encryption and access controls to protect against unauthorized access.</a:t>
            </a:r>
            <a:endParaRPr/>
          </a:p>
          <a:p>
            <a:pPr marL="122873" marR="0" lvl="0" indent="0" algn="l" rtl="0">
              <a:spcBef>
                <a:spcPts val="236"/>
              </a:spcBef>
              <a:spcAft>
                <a:spcPts val="0"/>
              </a:spcAft>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Plan for disaster recovery and high availability to ensure business continuity.</a:t>
            </a:r>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Continuously monitor and optimize resource utilization for optimal performance and cost savings.</a:t>
            </a:r>
            <a:endParaRPr/>
          </a:p>
          <a:p>
            <a:pPr marL="122873" marR="0" lvl="0" indent="0" algn="l" rtl="0">
              <a:spcBef>
                <a:spcPts val="236"/>
              </a:spcBef>
              <a:spcAft>
                <a:spcPts val="0"/>
              </a:spcAft>
              <a:buNone/>
            </a:pPr>
            <a:endParaRPr sz="1500" b="0" i="0" u="none" strike="noStrike" cap="none">
              <a:solidFill>
                <a:schemeClr val="dk1"/>
              </a:solidFill>
              <a:latin typeface="Quattrocento Sans"/>
              <a:ea typeface="Quattrocento Sans"/>
              <a:cs typeface="Quattrocento Sans"/>
              <a:sym typeface="Quattrocento Sans"/>
            </a:endParaRPr>
          </a:p>
          <a:p>
            <a:pPr marL="408623" marR="0" lvl="0" indent="-285750" algn="l" rtl="0">
              <a:spcBef>
                <a:spcPts val="236"/>
              </a:spcBef>
              <a:spcAft>
                <a:spcPts val="0"/>
              </a:spcAft>
              <a:buClr>
                <a:srgbClr val="0000FF"/>
              </a:buClr>
              <a:buSzPts val="1500"/>
              <a:buFont typeface="Arial"/>
              <a:buChar char="•"/>
            </a:pPr>
            <a:r>
              <a:rPr lang="en-US" sz="1500" b="0" i="0" u="none" strike="noStrike" cap="none">
                <a:solidFill>
                  <a:schemeClr val="dk1"/>
                </a:solidFill>
                <a:latin typeface="Quattrocento Sans"/>
                <a:ea typeface="Quattrocento Sans"/>
                <a:cs typeface="Quattrocento Sans"/>
                <a:sym typeface="Quattrocento Sans"/>
              </a:rPr>
              <a:t>Regularly assess and adapt your cloud architecture to evolving business needs and emerging technologies.</a:t>
            </a:r>
            <a:endParaRPr/>
          </a:p>
        </p:txBody>
      </p:sp>
      <p:grpSp>
        <p:nvGrpSpPr>
          <p:cNvPr id="241" name="Google Shape;241;p23"/>
          <p:cNvGrpSpPr/>
          <p:nvPr/>
        </p:nvGrpSpPr>
        <p:grpSpPr>
          <a:xfrm>
            <a:off x="8715376" y="2316480"/>
            <a:ext cx="276999" cy="3755790"/>
            <a:chOff x="8715376" y="2297975"/>
            <a:chExt cx="276999" cy="3755790"/>
          </a:xfrm>
        </p:grpSpPr>
        <p:sp>
          <p:nvSpPr>
            <p:cNvPr id="242" name="Google Shape;242;p23"/>
            <p:cNvSpPr txBox="1"/>
            <p:nvPr/>
          </p:nvSpPr>
          <p:spPr>
            <a:xfrm rot="-5400000">
              <a:off x="7338524" y="4399914"/>
              <a:ext cx="303070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dk1"/>
                  </a:solidFill>
                  <a:latin typeface="Quattrocento Sans"/>
                  <a:ea typeface="Quattrocento Sans"/>
                  <a:cs typeface="Quattrocento Sans"/>
                  <a:sym typeface="Quattrocento Sans"/>
                </a:rPr>
                <a:t>              Introduction</a:t>
              </a:r>
              <a:endParaRPr sz="1200" b="0" i="0" u="none" strike="noStrike" cap="none">
                <a:solidFill>
                  <a:schemeClr val="dk1"/>
                </a:solidFill>
                <a:latin typeface="Quattrocento Sans"/>
                <a:ea typeface="Quattrocento Sans"/>
                <a:cs typeface="Quattrocento Sans"/>
                <a:sym typeface="Quattrocento Sans"/>
              </a:endParaRPr>
            </a:p>
          </p:txBody>
        </p:sp>
        <p:sp>
          <p:nvSpPr>
            <p:cNvPr id="243" name="Google Shape;243;p23"/>
            <p:cNvSpPr txBox="1"/>
            <p:nvPr/>
          </p:nvSpPr>
          <p:spPr>
            <a:xfrm rot="-5400000">
              <a:off x="7921911" y="3106829"/>
              <a:ext cx="1879318" cy="261610"/>
            </a:xfrm>
            <a:prstGeom prst="rect">
              <a:avLst/>
            </a:prstGeom>
            <a:solidFill>
              <a:srgbClr val="B7472A"/>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a:solidFill>
                    <a:schemeClr val="lt1"/>
                  </a:solidFill>
                  <a:latin typeface="Quattrocento Sans"/>
                  <a:ea typeface="Quattrocento Sans"/>
                  <a:cs typeface="Quattrocento Sans"/>
                  <a:sym typeface="Quattrocento Sans"/>
                </a:rPr>
                <a:t>Cloud Computing</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D89A8E"/>
        </a:solidFill>
        <a:effectLst/>
      </p:bgPr>
    </p:bg>
    <p:spTree>
      <p:nvGrpSpPr>
        <p:cNvPr id="1" name="Shape 248"/>
        <p:cNvGrpSpPr/>
        <p:nvPr/>
      </p:nvGrpSpPr>
      <p:grpSpPr>
        <a:xfrm>
          <a:off x="0" y="0"/>
          <a:ext cx="0" cy="0"/>
          <a:chOff x="0" y="0"/>
          <a:chExt cx="0" cy="0"/>
        </a:xfrm>
      </p:grpSpPr>
      <p:pic>
        <p:nvPicPr>
          <p:cNvPr id="249" name="Google Shape;249;p24" descr="What is Cloud Computing? A Full Overview - Cloud Academy Blog"/>
          <p:cNvPicPr preferRelativeResize="0"/>
          <p:nvPr/>
        </p:nvPicPr>
        <p:blipFill rotWithShape="1">
          <a:blip r:embed="rId3">
            <a:alphaModFix/>
          </a:blip>
          <a:srcRect/>
          <a:stretch/>
        </p:blipFill>
        <p:spPr>
          <a:xfrm>
            <a:off x="102326" y="1209044"/>
            <a:ext cx="8939348" cy="4724400"/>
          </a:xfrm>
          <a:prstGeom prst="rect">
            <a:avLst/>
          </a:prstGeom>
          <a:noFill/>
          <a:ln>
            <a:noFill/>
          </a:ln>
          <a:effectLst>
            <a:outerShdw blurRad="190500" algn="tl" rotWithShape="0">
              <a:srgbClr val="000000">
                <a:alpha val="69803"/>
              </a:srgbClr>
            </a:outerShdw>
          </a:effectLst>
        </p:spPr>
      </p:pic>
      <p:sp>
        <p:nvSpPr>
          <p:cNvPr id="250" name="Google Shape;250;p24"/>
          <p:cNvSpPr txBox="1"/>
          <p:nvPr/>
        </p:nvSpPr>
        <p:spPr>
          <a:xfrm>
            <a:off x="3822700" y="2297113"/>
            <a:ext cx="1733550"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Quattrocento Sans"/>
                <a:ea typeface="Quattrocento Sans"/>
                <a:cs typeface="Quattrocento Sans"/>
                <a:sym typeface="Quattrocento Sans"/>
              </a:rPr>
              <a:t>THANK YOU</a:t>
            </a:r>
            <a:endParaRPr/>
          </a:p>
        </p:txBody>
      </p:sp>
    </p:spTree>
  </p:cSld>
  <p:clrMapOvr>
    <a:masterClrMapping/>
  </p:clrMapOvr>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1474</Words>
  <Application>Microsoft Office PowerPoint</Application>
  <PresentationFormat>On-screen Show (4:3)</PresentationFormat>
  <Paragraphs>173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Quattrocento Sans</vt:lpstr>
      <vt:lpstr>WelcomeDoc</vt:lpstr>
      <vt:lpstr>Introduction to Cloud Computing</vt:lpstr>
      <vt:lpstr>Introduction</vt:lpstr>
      <vt:lpstr>Characteristics of Cloud Computing</vt:lpstr>
      <vt:lpstr>Cloud Deployment Models</vt:lpstr>
      <vt:lpstr>Cloud Deployment Models</vt:lpstr>
      <vt:lpstr>Cloud Deployment Models</vt:lpstr>
      <vt:lpstr>Cloud Deployment Models</vt:lpstr>
      <vt:lpstr>Cloud Deployment Models</vt:lpstr>
      <vt:lpstr>Service Models</vt:lpstr>
      <vt:lpstr>Service Models</vt:lpstr>
      <vt:lpstr>Service Models</vt:lpstr>
      <vt:lpstr>Benefits of Cloud</vt:lpstr>
      <vt:lpstr>Common Cloud Computing Use Cases</vt:lpstr>
      <vt:lpstr>Cloud Architecture</vt:lpstr>
      <vt:lpstr>Cloud System Architecture</vt:lpstr>
      <vt:lpstr>Cont…</vt:lpstr>
      <vt:lpstr>Cloud Architecture Best Practices</vt:lpstr>
      <vt:lpstr>Conclusion</vt:lpstr>
      <vt:lpstr>Remember</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 Computing</dc:title>
  <cp:lastModifiedBy>HP Inc.</cp:lastModifiedBy>
  <cp:revision>2</cp:revision>
  <dcterms:modified xsi:type="dcterms:W3CDTF">2025-02-08T09:45:05Z</dcterms:modified>
</cp:coreProperties>
</file>