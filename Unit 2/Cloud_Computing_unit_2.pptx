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44816-9C2E-48AA-93BA-8BDB9D56B9D2}" v="8" dt="2026-02-10T07:00:39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kdeshmukh@kkwagh.edu.in" userId="3a487b9e0de9bec4" providerId="LiveId" clId="{3F7449EA-AEF9-473B-A1DB-9577DB6943F8}"/>
    <pc:docChg chg="addSld modSld sldOrd">
      <pc:chgData name="kkdeshmukh@kkwagh.edu.in" userId="3a487b9e0de9bec4" providerId="LiveId" clId="{3F7449EA-AEF9-473B-A1DB-9577DB6943F8}" dt="2026-02-10T07:01:06.635" v="33" actId="14100"/>
      <pc:docMkLst>
        <pc:docMk/>
      </pc:docMkLst>
      <pc:sldChg chg="modSp new mod ord">
        <pc:chgData name="kkdeshmukh@kkwagh.edu.in" userId="3a487b9e0de9bec4" providerId="LiveId" clId="{3F7449EA-AEF9-473B-A1DB-9577DB6943F8}" dt="2026-02-10T06:55:58.848" v="24" actId="14100"/>
        <pc:sldMkLst>
          <pc:docMk/>
          <pc:sldMk cId="1712435472" sldId="263"/>
        </pc:sldMkLst>
        <pc:spChg chg="mod">
          <ac:chgData name="kkdeshmukh@kkwagh.edu.in" userId="3a487b9e0de9bec4" providerId="LiveId" clId="{3F7449EA-AEF9-473B-A1DB-9577DB6943F8}" dt="2026-02-10T06:54:39.905" v="10" actId="14100"/>
          <ac:spMkLst>
            <pc:docMk/>
            <pc:sldMk cId="1712435472" sldId="263"/>
            <ac:spMk id="2" creationId="{1C14441D-3A49-9A3D-9F45-D572320D8017}"/>
          </ac:spMkLst>
        </pc:spChg>
        <pc:spChg chg="mod">
          <ac:chgData name="kkdeshmukh@kkwagh.edu.in" userId="3a487b9e0de9bec4" providerId="LiveId" clId="{3F7449EA-AEF9-473B-A1DB-9577DB6943F8}" dt="2026-02-10T06:55:58.848" v="24" actId="14100"/>
          <ac:spMkLst>
            <pc:docMk/>
            <pc:sldMk cId="1712435472" sldId="263"/>
            <ac:spMk id="3" creationId="{BAA7D6E1-4CF9-5017-B4EB-0241F466A760}"/>
          </ac:spMkLst>
        </pc:spChg>
      </pc:sldChg>
      <pc:sldChg chg="addSp delSp modSp new mod ord">
        <pc:chgData name="kkdeshmukh@kkwagh.edu.in" userId="3a487b9e0de9bec4" providerId="LiveId" clId="{3F7449EA-AEF9-473B-A1DB-9577DB6943F8}" dt="2026-02-10T07:01:06.635" v="33" actId="14100"/>
        <pc:sldMkLst>
          <pc:docMk/>
          <pc:sldMk cId="2277646393" sldId="264"/>
        </pc:sldMkLst>
        <pc:spChg chg="mod">
          <ac:chgData name="kkdeshmukh@kkwagh.edu.in" userId="3a487b9e0de9bec4" providerId="LiveId" clId="{3F7449EA-AEF9-473B-A1DB-9577DB6943F8}" dt="2026-02-10T07:00:41.390" v="26" actId="14100"/>
          <ac:spMkLst>
            <pc:docMk/>
            <pc:sldMk cId="2277646393" sldId="264"/>
            <ac:spMk id="2" creationId="{B950CE2B-3DCD-B08A-60DF-20DD8D43F1CA}"/>
          </ac:spMkLst>
        </pc:spChg>
        <pc:spChg chg="del mod">
          <ac:chgData name="kkdeshmukh@kkwagh.edu.in" userId="3a487b9e0de9bec4" providerId="LiveId" clId="{3F7449EA-AEF9-473B-A1DB-9577DB6943F8}" dt="2026-02-10T07:00:50.259" v="28" actId="22"/>
          <ac:spMkLst>
            <pc:docMk/>
            <pc:sldMk cId="2277646393" sldId="264"/>
            <ac:spMk id="3" creationId="{4170C271-5467-28A3-00D6-30A98331EF4F}"/>
          </ac:spMkLst>
        </pc:spChg>
        <pc:picChg chg="add mod ord">
          <ac:chgData name="kkdeshmukh@kkwagh.edu.in" userId="3a487b9e0de9bec4" providerId="LiveId" clId="{3F7449EA-AEF9-473B-A1DB-9577DB6943F8}" dt="2026-02-10T07:01:06.635" v="33" actId="14100"/>
          <ac:picMkLst>
            <pc:docMk/>
            <pc:sldMk cId="2277646393" sldId="264"/>
            <ac:picMk id="5" creationId="{14D85062-2695-24B0-15CD-602D684ED97A}"/>
          </ac:picMkLst>
        </pc:picChg>
      </pc:sldChg>
      <pc:sldChg chg="new">
        <pc:chgData name="kkdeshmukh@kkwagh.edu.in" userId="3a487b9e0de9bec4" providerId="LiveId" clId="{3F7449EA-AEF9-473B-A1DB-9577DB6943F8}" dt="2026-02-10T06:52:14.158" v="6" actId="680"/>
        <pc:sldMkLst>
          <pc:docMk/>
          <pc:sldMk cId="178466526" sldId="265"/>
        </pc:sldMkLst>
      </pc:sldChg>
      <pc:sldChg chg="new">
        <pc:chgData name="kkdeshmukh@kkwagh.edu.in" userId="3a487b9e0de9bec4" providerId="LiveId" clId="{3F7449EA-AEF9-473B-A1DB-9577DB6943F8}" dt="2026-02-10T06:52:14.801" v="7" actId="680"/>
        <pc:sldMkLst>
          <pc:docMk/>
          <pc:sldMk cId="3871699749" sldId="266"/>
        </pc:sldMkLst>
      </pc:sldChg>
      <pc:sldChg chg="new">
        <pc:chgData name="kkdeshmukh@kkwagh.edu.in" userId="3a487b9e0de9bec4" providerId="LiveId" clId="{3F7449EA-AEF9-473B-A1DB-9577DB6943F8}" dt="2026-02-10T06:52:15.485" v="8" actId="680"/>
        <pc:sldMkLst>
          <pc:docMk/>
          <pc:sldMk cId="2301787181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3D05F-A10D-2997-2231-7F071950C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36F7B-ACCC-28B9-F12E-AFCD5A839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9A9BC-AA9D-0188-D081-91B4A40F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72FD7-179C-7DE1-1B7F-CB3EA6D08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D3D60-45B7-ED80-E68F-43F2C452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3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1801-5DA8-4A5C-31B3-C34BAD4F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86941-0564-90E0-3AF1-26986CC65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60E5-AFB9-4DBF-C436-1865B598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C04AF-3D4D-4151-FEAA-8DA3E467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1701-DAB6-496E-4EC5-D8F54AA4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29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B220-80D8-A598-5FFD-37759532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C59F2-7DA2-CF24-EBB8-8A891FAEA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D09C-DA36-DF65-3236-55A96058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ABC7C-E5F5-7E2C-C916-EC03460D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3A46-60AB-9CDB-4EF1-8FCFE20E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62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EF96-EE62-C842-3BD6-F404EF52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C884-D27A-483B-C704-9FC72B9DA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F4BD6-8698-BCF2-3A64-1A2617BEF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86518-6540-B9AD-5665-55CC0161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6F95-30F6-76B7-CFC5-B1180233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BB71D-E81A-25E8-E5EA-A8E5E8F6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6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3027-F2DD-522F-A9C6-EBBED659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5F5B6-DE6D-4FF1-E49E-6DECAC40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88ED1-73BB-E008-6218-201D30E48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28EE4-6461-F935-62C7-55EB0692B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DD387-C586-38D6-1CEE-D206B8C14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740BA-CE19-EA78-F01F-52C6139C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25B0F-6B05-9682-99EC-060D1999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04E2B-DB47-365F-A7B2-8554CAB2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31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BEDB-C743-B774-C246-E3FC46ED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F2EEE-FD5E-18DB-1727-5D73723D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103A8-4EDC-7EB4-2F8E-A62492F9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D950C-A6A8-6B25-9F60-2E1EB0B1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2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36314-246A-78EB-EFB5-7F36269E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D5B2B-6FCD-E36C-26C6-0DDFCB02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1D3C6-BE65-CEB6-D781-F349F797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59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691E-6630-B24E-A223-72D7B22C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4B8D-A2A6-1216-AC1D-E39270EA8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7D94C-AB84-9022-9E9D-B5B6CD0DA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E9C12-3DDF-CD1F-5D70-445D3D2C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B3CD0-385F-95A3-02F4-D9761432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78EAC-EACD-BC22-13E4-BF24AE76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3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4AAC-4FE8-0A23-571A-B7E8264B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EEF84-44EA-8D05-09F2-165FD1528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1AF66-0541-EE81-ABF5-68975DAF0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7474F-74B5-293A-9C36-17048E9FD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4971D-5501-610C-C936-4C1D2D27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0EDAA-EFAE-B26B-73EA-660D7EA5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16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9FF9-D99F-1B8D-7CE4-8D7D78A4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7AD1F-7860-5706-8FA6-5370E2945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2681F-F1B3-B688-7757-C73EC97A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ACFB-4940-ED70-4678-30515559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16EFD-6D5A-8CA5-421B-CE39B79C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93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1C304-1C81-82D0-7B31-0C9DCA752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9945E-7943-83B7-F441-AF45F71E0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BAF31-A955-2F52-FA87-3E724502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A64F-81D1-BC8D-9FE1-F9A170F0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F9BB1-9C05-948E-6815-48E5C9A7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45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96F67-4214-2303-08EC-B4EFCE3B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89100-2203-E619-9CEE-11C764640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6EB2-4252-BA2F-F101-9AB822B78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05B60-927D-440A-B75F-F0BAE204BE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EFEF6-EDAD-A89B-4B38-5D58BF609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C006E-121A-8BC4-CE62-C511DB281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E8477-3E55-4E73-A70F-6B2F3A156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8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A0F2-1932-F4E8-8944-59A627450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2506"/>
            <a:ext cx="9144000" cy="967694"/>
          </a:xfrm>
        </p:spPr>
        <p:txBody>
          <a:bodyPr/>
          <a:lstStyle/>
          <a:p>
            <a:r>
              <a:rPr lang="en-US" dirty="0"/>
              <a:t>Cloud Computing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CF9FB-C9A0-45BA-D86F-4AFE7AEAD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6327"/>
            <a:ext cx="9144000" cy="2431473"/>
          </a:xfrm>
        </p:spPr>
        <p:txBody>
          <a:bodyPr>
            <a:normAutofit/>
          </a:bodyPr>
          <a:lstStyle/>
          <a:p>
            <a:r>
              <a:rPr lang="en-US" sz="4800" b="1" dirty="0"/>
              <a:t>Unit II</a:t>
            </a:r>
          </a:p>
          <a:p>
            <a:r>
              <a:rPr lang="en-US" sz="4800" b="1" dirty="0"/>
              <a:t>Data Storage and Cloud Computing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66157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0D9B-FE17-6EF7-D464-0158BFF4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7415"/>
          </a:xfrm>
        </p:spPr>
        <p:txBody>
          <a:bodyPr/>
          <a:lstStyle/>
          <a:p>
            <a:r>
              <a:rPr lang="en-IN" dirty="0"/>
              <a:t>Data Storage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28E77-FDE6-8EBE-9079-31B512BFB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052"/>
            <a:ext cx="10515600" cy="4168239"/>
          </a:xfrm>
        </p:spPr>
        <p:txBody>
          <a:bodyPr>
            <a:normAutofit/>
          </a:bodyPr>
          <a:lstStyle/>
          <a:p>
            <a:r>
              <a:rPr lang="en-US" dirty="0"/>
              <a:t>Cloud Storage allows to save data on offsite storage system managed by third-party, made accessible by a web services API.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Storage Devices :</a:t>
            </a:r>
          </a:p>
          <a:p>
            <a:pPr marL="0" indent="0">
              <a:buNone/>
            </a:pPr>
            <a:endParaRPr lang="en-IN" b="1" dirty="0"/>
          </a:p>
          <a:p>
            <a:pPr lvl="1"/>
            <a:r>
              <a:rPr lang="en-IN" dirty="0"/>
              <a:t>Block Storage Devices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File Storage Devices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7946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3713-689C-98BB-87CF-23C8ABA9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372"/>
            <a:ext cx="10515600" cy="869909"/>
          </a:xfrm>
        </p:spPr>
        <p:txBody>
          <a:bodyPr/>
          <a:lstStyle/>
          <a:p>
            <a:r>
              <a:rPr lang="en-IN" b="1" dirty="0"/>
              <a:t>Storage Devices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CEB6-F0B5-62A3-F43F-11BDF8103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784"/>
            <a:ext cx="10515600" cy="5234092"/>
          </a:xfrm>
        </p:spPr>
        <p:txBody>
          <a:bodyPr/>
          <a:lstStyle/>
          <a:p>
            <a:r>
              <a:rPr lang="en-IN" b="1" dirty="0"/>
              <a:t>Block Storage Devices:</a:t>
            </a:r>
          </a:p>
          <a:p>
            <a:pPr lvl="1"/>
            <a:r>
              <a:rPr lang="en-US" dirty="0"/>
              <a:t>Block storage chops data into arbitrarily sized, manageable chunks called </a:t>
            </a:r>
            <a:r>
              <a:rPr lang="en-US" b="1" dirty="0"/>
              <a:t>blocks</a:t>
            </a:r>
            <a:r>
              <a:rPr lang="en-US" dirty="0"/>
              <a:t>. Each block has a unique address but </a:t>
            </a:r>
            <a:r>
              <a:rPr lang="en-US" b="1" dirty="0"/>
              <a:t>no metadata</a:t>
            </a:r>
            <a:r>
              <a:rPr lang="en-US" dirty="0"/>
              <a:t> (like a filename or creation date) attached to it.</a:t>
            </a:r>
          </a:p>
          <a:p>
            <a:pPr lvl="1"/>
            <a:r>
              <a:rPr lang="en-US" dirty="0"/>
              <a:t>Offer raw storage to the clients. These raw storage are partitioned to create volumes.</a:t>
            </a:r>
          </a:p>
          <a:p>
            <a:pPr lvl="1"/>
            <a:r>
              <a:rPr lang="en-US" dirty="0"/>
              <a:t>The operating system treats these blocks as individual hard drives. Because blocks are stored wherever is most efficient on the disk, this method is incredibly fast and reliable.</a:t>
            </a:r>
          </a:p>
          <a:p>
            <a:pPr lvl="1"/>
            <a:r>
              <a:rPr lang="en-US" dirty="0"/>
              <a:t>Data is accessed directly by the hardware via the address. It’s like a parking garage where every spot has a number, but the garage doesn't care what kind of car is parked there.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Databases, enterprise applications, and virtual machine file systems where high performance and low latency are critical.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8270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157B-0FBB-4D47-15DF-663962C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280"/>
          </a:xfrm>
        </p:spPr>
        <p:txBody>
          <a:bodyPr/>
          <a:lstStyle/>
          <a:p>
            <a:r>
              <a:rPr lang="en-IN" b="1" dirty="0"/>
              <a:t>Storage Devices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869F9-2C30-500D-2E1F-E0215B77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5162838"/>
          </a:xfrm>
        </p:spPr>
        <p:txBody>
          <a:bodyPr/>
          <a:lstStyle/>
          <a:p>
            <a:r>
              <a:rPr lang="en-IN" b="1" dirty="0"/>
              <a:t>File Storage Devices:</a:t>
            </a:r>
          </a:p>
          <a:p>
            <a:pPr lvl="1"/>
            <a:r>
              <a:rPr lang="en-US" dirty="0"/>
              <a:t>File storage (also called </a:t>
            </a:r>
            <a:r>
              <a:rPr lang="en-US" b="1" dirty="0"/>
              <a:t>File-level storage</a:t>
            </a:r>
            <a:r>
              <a:rPr lang="en-US" dirty="0"/>
              <a:t>) is the most familiar type for average users. It stores data as a single piece of information inside a folder. To find a file, you need the path (e.g., C:/Documents/Photos/Vacation.jpg).</a:t>
            </a:r>
          </a:p>
          <a:p>
            <a:pPr lvl="1"/>
            <a:r>
              <a:rPr lang="en-US" dirty="0"/>
              <a:t>The file Storage Devices offer storage to clients in the form of files, maintaining its own file system. This storage is in the form of Network Attached Storage.</a:t>
            </a:r>
          </a:p>
          <a:p>
            <a:pPr lvl="1"/>
            <a:r>
              <a:rPr lang="en-US" dirty="0"/>
              <a:t>It uses a hierarchical structure with nested folders and rich metadata (tags, owner, size, etc.). It’s like a library; if you want a book, you look for the genre, then the author, then the title.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User directories, archiving documents, and sharing files across a local network.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599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EAF6-688F-E6B9-52B4-1512A481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3031"/>
          </a:xfrm>
        </p:spPr>
        <p:txBody>
          <a:bodyPr/>
          <a:lstStyle/>
          <a:p>
            <a:r>
              <a:rPr lang="en-IN" dirty="0"/>
              <a:t>Cloud Storage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4BCBB-9CDE-AA56-34FF-D1B5F2353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66"/>
            <a:ext cx="10515600" cy="4180115"/>
          </a:xfrm>
        </p:spPr>
        <p:txBody>
          <a:bodyPr/>
          <a:lstStyle/>
          <a:p>
            <a:r>
              <a:rPr lang="en-US" dirty="0"/>
              <a:t>Cloud storage can be broadly classified into two categories: </a:t>
            </a:r>
          </a:p>
          <a:p>
            <a:pPr lvl="1"/>
            <a:endParaRPr lang="en-US" dirty="0"/>
          </a:p>
          <a:p>
            <a:pPr lvl="1"/>
            <a:r>
              <a:rPr lang="en-IN" b="1" dirty="0"/>
              <a:t>Unmanaged Cloud Storage :</a:t>
            </a:r>
          </a:p>
          <a:p>
            <a:pPr lvl="2"/>
            <a:r>
              <a:rPr lang="en-IN" dirty="0"/>
              <a:t>It </a:t>
            </a:r>
            <a:r>
              <a:rPr lang="en-US" dirty="0"/>
              <a:t>means the storage is preconfigured for the customer. The customer can neither format, nor install his own file system or change drive properties.</a:t>
            </a:r>
            <a:endParaRPr lang="en-IN" b="1" dirty="0"/>
          </a:p>
          <a:p>
            <a:pPr lvl="1"/>
            <a:endParaRPr lang="en-IN" b="1" dirty="0"/>
          </a:p>
          <a:p>
            <a:pPr lvl="1"/>
            <a:endParaRPr lang="en-IN" dirty="0"/>
          </a:p>
          <a:p>
            <a:pPr lvl="1"/>
            <a:r>
              <a:rPr lang="en-IN" b="1" dirty="0"/>
              <a:t>Managed Cloud Storage:</a:t>
            </a:r>
          </a:p>
          <a:p>
            <a:pPr lvl="2"/>
            <a:r>
              <a:rPr lang="en-US" dirty="0"/>
              <a:t>Managed cloud storage offers online storage space on-demand. The managed cloud storage system appears to the user to be a raw disk that the user can partition and format.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28173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6614-AF13-3939-8C77-7C907A94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2412"/>
          </a:xfrm>
        </p:spPr>
        <p:txBody>
          <a:bodyPr>
            <a:normAutofit/>
          </a:bodyPr>
          <a:lstStyle/>
          <a:p>
            <a:r>
              <a:rPr lang="en-IN" dirty="0"/>
              <a:t>Creating Cloud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7BE2D-61D2-0EC1-49A3-C0870B2FD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38"/>
            <a:ext cx="10515600" cy="5115336"/>
          </a:xfrm>
        </p:spPr>
        <p:txBody>
          <a:bodyPr/>
          <a:lstStyle/>
          <a:p>
            <a:r>
              <a:rPr lang="en-US" dirty="0"/>
              <a:t>The cloud storage system stores many copies of data on many servers at the various locations. </a:t>
            </a:r>
          </a:p>
          <a:p>
            <a:r>
              <a:rPr lang="en-US" dirty="0"/>
              <a:t>The data is stored at various locations so that if one system fails it can change the pointer location to where the object is stored.</a:t>
            </a:r>
          </a:p>
          <a:p>
            <a:r>
              <a:rPr lang="en-US" dirty="0"/>
              <a:t>The cloud provider uses the virtualization software to aggregate the storage assets into cloud storage system. This system is called as StorageGRID. </a:t>
            </a:r>
          </a:p>
          <a:p>
            <a:r>
              <a:rPr lang="en-US" dirty="0"/>
              <a:t>StorageGRID creates a virtualization layer which fetches storage from various storage devices into a single management system.</a:t>
            </a:r>
          </a:p>
          <a:p>
            <a:r>
              <a:rPr lang="en-US" dirty="0"/>
              <a:t>It manages the data from CIFS and NFS file system over the Internet.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13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BA39-5C05-30B9-028F-AD98CD1A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Cloud Storage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2CFF7-C2EA-71EB-BCC9-2A8C57A7D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3179" y="1825625"/>
            <a:ext cx="813459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09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441D-3A49-9A3D-9F45-D572320D8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906"/>
          </a:xfrm>
        </p:spPr>
        <p:txBody>
          <a:bodyPr/>
          <a:lstStyle/>
          <a:p>
            <a:r>
              <a:rPr lang="en-IN" dirty="0"/>
              <a:t>Virtual Storage Containers (VSC)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D6E1-4CF9-5017-B4EB-0241F466A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547"/>
            <a:ext cx="10515600" cy="4419415"/>
          </a:xfrm>
        </p:spPr>
        <p:txBody>
          <a:bodyPr/>
          <a:lstStyle/>
          <a:p>
            <a:r>
              <a:rPr lang="en-US" dirty="0"/>
              <a:t>A logical abstraction layer that separates data from physical hardware.</a:t>
            </a:r>
          </a:p>
          <a:p>
            <a:r>
              <a:rPr lang="en-US" dirty="0"/>
              <a:t>A software-defined space that stores data regardless of the underlying disks.</a:t>
            </a:r>
          </a:p>
          <a:p>
            <a:r>
              <a:rPr lang="en-IN" dirty="0"/>
              <a:t>Core Functions:</a:t>
            </a:r>
          </a:p>
          <a:p>
            <a:pPr lvl="1"/>
            <a:r>
              <a:rPr lang="en-US" b="1" dirty="0"/>
              <a:t>Isolation:</a:t>
            </a:r>
            <a:r>
              <a:rPr lang="en-US" dirty="0"/>
              <a:t> Secure boundaries between different users.</a:t>
            </a:r>
          </a:p>
          <a:p>
            <a:pPr lvl="1"/>
            <a:r>
              <a:rPr lang="en-US" b="1" dirty="0"/>
              <a:t>Elasticity:</a:t>
            </a:r>
            <a:r>
              <a:rPr lang="en-US" dirty="0"/>
              <a:t> Grows or shrinks automatically based on usage.</a:t>
            </a:r>
          </a:p>
          <a:p>
            <a:pPr lvl="1"/>
            <a:r>
              <a:rPr lang="en-US" b="1" dirty="0"/>
              <a:t>Management:</a:t>
            </a:r>
            <a:r>
              <a:rPr lang="en-US" dirty="0"/>
              <a:t> Policies are applied to the container, not the hardware.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43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0CE2B-3DCD-B08A-60DF-20DD8D43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280"/>
          </a:xfrm>
        </p:spPr>
        <p:txBody>
          <a:bodyPr/>
          <a:lstStyle/>
          <a:p>
            <a:r>
              <a:rPr lang="en-IN" dirty="0"/>
              <a:t>Virtual Storage Containers (VSC)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D85062-2695-24B0-15CD-602D684ED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030" y="1471860"/>
            <a:ext cx="10308770" cy="521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4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E589-2C38-29C2-C047-91FF52B0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23DC-F43E-61F9-2AC5-D671C9050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154E-A66F-3A86-FD59-D85F847A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EA6D8-1E3A-56EC-5420-888C78433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69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A131-D43B-D5A5-62A7-0C810DA6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61E12-ED30-CA0D-41A3-A008491BB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78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598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Cloud Computing</vt:lpstr>
      <vt:lpstr>Data Storage in Cloud Computing</vt:lpstr>
      <vt:lpstr>Storage Devices</vt:lpstr>
      <vt:lpstr>Storage Devices</vt:lpstr>
      <vt:lpstr>Cloud Storage Classes</vt:lpstr>
      <vt:lpstr>Creating Cloud Storage System</vt:lpstr>
      <vt:lpstr>Creating Cloud Storage System</vt:lpstr>
      <vt:lpstr>Virtual Storage Containers (VSC)</vt:lpstr>
      <vt:lpstr>Virtual Storage Containers (VSC)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kkdeshmukh@kkwagh.edu.in</dc:creator>
  <cp:lastModifiedBy>kkdeshmukh@kkwagh.edu.in</cp:lastModifiedBy>
  <cp:revision>1</cp:revision>
  <dcterms:created xsi:type="dcterms:W3CDTF">2026-02-05T06:12:01Z</dcterms:created>
  <dcterms:modified xsi:type="dcterms:W3CDTF">2026-02-10T07:01:06Z</dcterms:modified>
</cp:coreProperties>
</file>