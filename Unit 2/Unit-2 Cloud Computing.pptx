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1" r:id="rId2"/>
    <p:sldMasterId id="2147483674" r:id="rId3"/>
  </p:sldMasterIdLst>
  <p:notesMasterIdLst>
    <p:notesMasterId r:id="rId126"/>
  </p:notesMasterIdLst>
  <p:sldIdLst>
    <p:sldId id="256" r:id="rId4"/>
    <p:sldId id="257" r:id="rId5"/>
    <p:sldId id="294" r:id="rId6"/>
    <p:sldId id="311" r:id="rId7"/>
    <p:sldId id="686" r:id="rId8"/>
    <p:sldId id="687" r:id="rId9"/>
    <p:sldId id="688" r:id="rId10"/>
    <p:sldId id="689" r:id="rId11"/>
    <p:sldId id="690" r:id="rId12"/>
    <p:sldId id="691" r:id="rId13"/>
    <p:sldId id="692" r:id="rId14"/>
    <p:sldId id="699" r:id="rId15"/>
    <p:sldId id="693" r:id="rId16"/>
    <p:sldId id="694" r:id="rId17"/>
    <p:sldId id="695" r:id="rId18"/>
    <p:sldId id="696" r:id="rId19"/>
    <p:sldId id="697" r:id="rId20"/>
    <p:sldId id="698" r:id="rId21"/>
    <p:sldId id="705" r:id="rId22"/>
    <p:sldId id="700" r:id="rId23"/>
    <p:sldId id="701" r:id="rId24"/>
    <p:sldId id="702" r:id="rId25"/>
    <p:sldId id="703" r:id="rId26"/>
    <p:sldId id="704" r:id="rId27"/>
    <p:sldId id="706" r:id="rId28"/>
    <p:sldId id="713" r:id="rId29"/>
    <p:sldId id="707" r:id="rId30"/>
    <p:sldId id="708" r:id="rId31"/>
    <p:sldId id="709" r:id="rId32"/>
    <p:sldId id="710" r:id="rId33"/>
    <p:sldId id="711" r:id="rId34"/>
    <p:sldId id="712" r:id="rId35"/>
    <p:sldId id="720" r:id="rId36"/>
    <p:sldId id="733" r:id="rId37"/>
    <p:sldId id="734" r:id="rId38"/>
    <p:sldId id="735" r:id="rId39"/>
    <p:sldId id="736" r:id="rId40"/>
    <p:sldId id="737" r:id="rId41"/>
    <p:sldId id="714" r:id="rId42"/>
    <p:sldId id="715" r:id="rId43"/>
    <p:sldId id="716" r:id="rId44"/>
    <p:sldId id="717" r:id="rId45"/>
    <p:sldId id="718" r:id="rId46"/>
    <p:sldId id="719" r:id="rId47"/>
    <p:sldId id="744" r:id="rId48"/>
    <p:sldId id="722" r:id="rId49"/>
    <p:sldId id="723" r:id="rId50"/>
    <p:sldId id="724" r:id="rId51"/>
    <p:sldId id="725" r:id="rId52"/>
    <p:sldId id="726" r:id="rId53"/>
    <p:sldId id="727" r:id="rId54"/>
    <p:sldId id="728" r:id="rId55"/>
    <p:sldId id="729" r:id="rId56"/>
    <p:sldId id="730" r:id="rId57"/>
    <p:sldId id="731" r:id="rId58"/>
    <p:sldId id="732" r:id="rId59"/>
    <p:sldId id="738" r:id="rId60"/>
    <p:sldId id="745" r:id="rId61"/>
    <p:sldId id="739" r:id="rId62"/>
    <p:sldId id="740" r:id="rId63"/>
    <p:sldId id="742" r:id="rId64"/>
    <p:sldId id="743" r:id="rId65"/>
    <p:sldId id="746" r:id="rId66"/>
    <p:sldId id="748" r:id="rId67"/>
    <p:sldId id="747" r:id="rId68"/>
    <p:sldId id="749" r:id="rId69"/>
    <p:sldId id="750" r:id="rId70"/>
    <p:sldId id="751" r:id="rId71"/>
    <p:sldId id="752" r:id="rId72"/>
    <p:sldId id="754" r:id="rId73"/>
    <p:sldId id="755" r:id="rId74"/>
    <p:sldId id="756" r:id="rId75"/>
    <p:sldId id="757" r:id="rId76"/>
    <p:sldId id="759" r:id="rId77"/>
    <p:sldId id="758" r:id="rId78"/>
    <p:sldId id="762" r:id="rId79"/>
    <p:sldId id="782" r:id="rId80"/>
    <p:sldId id="778" r:id="rId81"/>
    <p:sldId id="779" r:id="rId82"/>
    <p:sldId id="780" r:id="rId83"/>
    <p:sldId id="790" r:id="rId84"/>
    <p:sldId id="781" r:id="rId85"/>
    <p:sldId id="783" r:id="rId86"/>
    <p:sldId id="784" r:id="rId87"/>
    <p:sldId id="791" r:id="rId88"/>
    <p:sldId id="785" r:id="rId89"/>
    <p:sldId id="786" r:id="rId90"/>
    <p:sldId id="787" r:id="rId91"/>
    <p:sldId id="789" r:id="rId92"/>
    <p:sldId id="792" r:id="rId93"/>
    <p:sldId id="793" r:id="rId94"/>
    <p:sldId id="794" r:id="rId95"/>
    <p:sldId id="795" r:id="rId96"/>
    <p:sldId id="796" r:id="rId97"/>
    <p:sldId id="797" r:id="rId98"/>
    <p:sldId id="798" r:id="rId99"/>
    <p:sldId id="799" r:id="rId100"/>
    <p:sldId id="800" r:id="rId101"/>
    <p:sldId id="801" r:id="rId102"/>
    <p:sldId id="802" r:id="rId103"/>
    <p:sldId id="803" r:id="rId104"/>
    <p:sldId id="804" r:id="rId105"/>
    <p:sldId id="805" r:id="rId106"/>
    <p:sldId id="806" r:id="rId107"/>
    <p:sldId id="807" r:id="rId108"/>
    <p:sldId id="808" r:id="rId109"/>
    <p:sldId id="817" r:id="rId110"/>
    <p:sldId id="809" r:id="rId111"/>
    <p:sldId id="810" r:id="rId112"/>
    <p:sldId id="811" r:id="rId113"/>
    <p:sldId id="812" r:id="rId114"/>
    <p:sldId id="813" r:id="rId115"/>
    <p:sldId id="814" r:id="rId116"/>
    <p:sldId id="815" r:id="rId117"/>
    <p:sldId id="816" r:id="rId118"/>
    <p:sldId id="827" r:id="rId119"/>
    <p:sldId id="828" r:id="rId120"/>
    <p:sldId id="829" r:id="rId121"/>
    <p:sldId id="830" r:id="rId122"/>
    <p:sldId id="831" r:id="rId123"/>
    <p:sldId id="832" r:id="rId124"/>
    <p:sldId id="282" r:id="rId1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62AE0"/>
    <a:srgbClr val="AAAC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476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28" Type="http://schemas.openxmlformats.org/officeDocument/2006/relationships/presProps" Target="presProps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slide" Target="slides/slide115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slide" Target="slides/slide121.xml"/><Relationship Id="rId129" Type="http://schemas.openxmlformats.org/officeDocument/2006/relationships/viewProps" Target="viewProps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0" Type="http://schemas.openxmlformats.org/officeDocument/2006/relationships/theme" Target="theme/theme1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tableStyles" Target="tableStyle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commentAuthors" Target="commentAuthor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3E9A84-8F15-4409-B665-F6D4836E20A2}" type="doc">
      <dgm:prSet loTypeId="urn:microsoft.com/office/officeart/2005/8/layout/vList6" loCatId="process" qsTypeId="urn:microsoft.com/office/officeart/2005/8/quickstyle/3d4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274A077F-267C-4877-AC36-A6DD1B38118B}">
      <dgm:prSet phldrT="[Text]"/>
      <dgm:spPr/>
      <dgm:t>
        <a:bodyPr/>
        <a:lstStyle/>
        <a:p>
          <a:r>
            <a:rPr lang="en-US" altLang="en-US" dirty="0" smtClean="0"/>
            <a:t>Assess Business Needs:</a:t>
          </a:r>
          <a:endParaRPr lang="en-IN" dirty="0"/>
        </a:p>
      </dgm:t>
    </dgm:pt>
    <dgm:pt modelId="{F95577D8-5E28-4690-BF57-9EA6A911E26A}" type="parTrans" cxnId="{4EA95F88-94F1-4672-8E13-474580E65706}">
      <dgm:prSet/>
      <dgm:spPr/>
      <dgm:t>
        <a:bodyPr/>
        <a:lstStyle/>
        <a:p>
          <a:endParaRPr lang="en-IN"/>
        </a:p>
      </dgm:t>
    </dgm:pt>
    <dgm:pt modelId="{72EF179F-2A0A-4048-87B0-5F38B3805908}" type="sibTrans" cxnId="{4EA95F88-94F1-4672-8E13-474580E65706}">
      <dgm:prSet/>
      <dgm:spPr/>
      <dgm:t>
        <a:bodyPr/>
        <a:lstStyle/>
        <a:p>
          <a:endParaRPr lang="en-IN"/>
        </a:p>
      </dgm:t>
    </dgm:pt>
    <dgm:pt modelId="{4BD7CB56-5689-4C3C-A414-F1BB39EE27CB}">
      <dgm:prSet/>
      <dgm:spPr/>
      <dgm:t>
        <a:bodyPr/>
        <a:lstStyle/>
        <a:p>
          <a:r>
            <a:rPr lang="en-US" altLang="en-US" smtClean="0"/>
            <a:t>Understand specific data storage requirements.</a:t>
          </a:r>
          <a:endParaRPr lang="en-US" altLang="en-US" dirty="0" smtClean="0"/>
        </a:p>
      </dgm:t>
    </dgm:pt>
    <dgm:pt modelId="{5BE9384D-509C-4112-856E-09E10B9DD640}" type="parTrans" cxnId="{16038C82-F686-46BC-AB57-59948A654463}">
      <dgm:prSet/>
      <dgm:spPr/>
      <dgm:t>
        <a:bodyPr/>
        <a:lstStyle/>
        <a:p>
          <a:endParaRPr lang="en-IN"/>
        </a:p>
      </dgm:t>
    </dgm:pt>
    <dgm:pt modelId="{969D527B-1EAC-4D5A-94FF-471F6D202075}" type="sibTrans" cxnId="{16038C82-F686-46BC-AB57-59948A654463}">
      <dgm:prSet/>
      <dgm:spPr/>
      <dgm:t>
        <a:bodyPr/>
        <a:lstStyle/>
        <a:p>
          <a:endParaRPr lang="en-IN"/>
        </a:p>
      </dgm:t>
    </dgm:pt>
    <dgm:pt modelId="{C1A74C38-0916-4AF5-BD4D-5EC8978B54A1}">
      <dgm:prSet/>
      <dgm:spPr/>
      <dgm:t>
        <a:bodyPr/>
        <a:lstStyle/>
        <a:p>
          <a:r>
            <a:rPr lang="en-US" altLang="en-US" smtClean="0"/>
            <a:t>Choose the Right Solution:</a:t>
          </a:r>
          <a:endParaRPr lang="en-US" altLang="en-US" dirty="0" smtClean="0"/>
        </a:p>
      </dgm:t>
    </dgm:pt>
    <dgm:pt modelId="{10D366D4-EDE7-4BE8-A356-FEDB82F31687}" type="parTrans" cxnId="{F2F21C9C-ABCC-403D-A932-287169E207B7}">
      <dgm:prSet/>
      <dgm:spPr/>
      <dgm:t>
        <a:bodyPr/>
        <a:lstStyle/>
        <a:p>
          <a:endParaRPr lang="en-IN"/>
        </a:p>
      </dgm:t>
    </dgm:pt>
    <dgm:pt modelId="{4D26A745-C76F-49A0-924C-639AC8566650}" type="sibTrans" cxnId="{F2F21C9C-ABCC-403D-A932-287169E207B7}">
      <dgm:prSet/>
      <dgm:spPr/>
      <dgm:t>
        <a:bodyPr/>
        <a:lstStyle/>
        <a:p>
          <a:endParaRPr lang="en-IN"/>
        </a:p>
      </dgm:t>
    </dgm:pt>
    <dgm:pt modelId="{45E6807A-D68A-4308-9BFB-39C958EB0433}">
      <dgm:prSet/>
      <dgm:spPr/>
      <dgm:t>
        <a:bodyPr/>
        <a:lstStyle/>
        <a:p>
          <a:r>
            <a:rPr lang="en-US" altLang="en-US" smtClean="0"/>
            <a:t>Implement Security Measures:</a:t>
          </a:r>
          <a:endParaRPr lang="en-US" altLang="en-US" dirty="0"/>
        </a:p>
      </dgm:t>
    </dgm:pt>
    <dgm:pt modelId="{D39E2096-C3DE-4255-B1E3-F40545F30090}" type="parTrans" cxnId="{15396502-05D0-4591-84EC-60B5B01D63E2}">
      <dgm:prSet/>
      <dgm:spPr/>
      <dgm:t>
        <a:bodyPr/>
        <a:lstStyle/>
        <a:p>
          <a:endParaRPr lang="en-IN"/>
        </a:p>
      </dgm:t>
    </dgm:pt>
    <dgm:pt modelId="{7215B4FE-78D7-4E2F-9223-F5EC30277384}" type="sibTrans" cxnId="{15396502-05D0-4591-84EC-60B5B01D63E2}">
      <dgm:prSet/>
      <dgm:spPr/>
      <dgm:t>
        <a:bodyPr/>
        <a:lstStyle/>
        <a:p>
          <a:endParaRPr lang="en-IN"/>
        </a:p>
      </dgm:t>
    </dgm:pt>
    <dgm:pt modelId="{F5076DD5-AFF7-4EA8-8C29-38F71AF4382F}">
      <dgm:prSet/>
      <dgm:spPr/>
      <dgm:t>
        <a:bodyPr/>
        <a:lstStyle/>
        <a:p>
          <a:r>
            <a:rPr lang="en-US" altLang="en-US" smtClean="0"/>
            <a:t>Prioritize data security with encryption and audits.</a:t>
          </a:r>
          <a:endParaRPr lang="en-US" altLang="en-US" dirty="0" smtClean="0"/>
        </a:p>
      </dgm:t>
    </dgm:pt>
    <dgm:pt modelId="{675700CB-249F-4F0E-9F3B-8DCAC2434005}" type="parTrans" cxnId="{C1EDD427-E2B6-4FCE-93FC-9139E5B7C810}">
      <dgm:prSet/>
      <dgm:spPr/>
      <dgm:t>
        <a:bodyPr/>
        <a:lstStyle/>
        <a:p>
          <a:endParaRPr lang="en-IN"/>
        </a:p>
      </dgm:t>
    </dgm:pt>
    <dgm:pt modelId="{D4E0CF2D-C49F-4FFD-A0C5-0D16963E1AAE}" type="sibTrans" cxnId="{C1EDD427-E2B6-4FCE-93FC-9139E5B7C810}">
      <dgm:prSet/>
      <dgm:spPr/>
      <dgm:t>
        <a:bodyPr/>
        <a:lstStyle/>
        <a:p>
          <a:endParaRPr lang="en-IN"/>
        </a:p>
      </dgm:t>
    </dgm:pt>
    <dgm:pt modelId="{CE040EFE-FB99-4BA5-AD98-2C14F9D20DEB}">
      <dgm:prSet/>
      <dgm:spPr/>
      <dgm:t>
        <a:bodyPr/>
        <a:lstStyle/>
        <a:p>
          <a:r>
            <a:rPr lang="en-US" altLang="en-US" smtClean="0"/>
            <a:t>Regularly Review and Optimize:</a:t>
          </a:r>
          <a:endParaRPr lang="en-US" altLang="en-US" dirty="0"/>
        </a:p>
      </dgm:t>
    </dgm:pt>
    <dgm:pt modelId="{39C72B89-BA61-4E9D-96B2-1423435E5169}" type="parTrans" cxnId="{93949A72-C628-4220-9051-E76F19DF3EBF}">
      <dgm:prSet/>
      <dgm:spPr/>
      <dgm:t>
        <a:bodyPr/>
        <a:lstStyle/>
        <a:p>
          <a:endParaRPr lang="en-IN"/>
        </a:p>
      </dgm:t>
    </dgm:pt>
    <dgm:pt modelId="{281B0466-D9B2-4F76-A9F2-6F434FF76BF7}" type="sibTrans" cxnId="{93949A72-C628-4220-9051-E76F19DF3EBF}">
      <dgm:prSet/>
      <dgm:spPr/>
      <dgm:t>
        <a:bodyPr/>
        <a:lstStyle/>
        <a:p>
          <a:endParaRPr lang="en-IN"/>
        </a:p>
      </dgm:t>
    </dgm:pt>
    <dgm:pt modelId="{0844AC07-C079-4138-9DA5-0D22090E3861}">
      <dgm:prSet/>
      <dgm:spPr/>
      <dgm:t>
        <a:bodyPr/>
        <a:lstStyle/>
        <a:p>
          <a:r>
            <a:rPr lang="en-US" altLang="en-US" smtClean="0"/>
            <a:t>Monitor performance and costs; optimize configurations.</a:t>
          </a:r>
          <a:endParaRPr lang="en-US" altLang="en-US" dirty="0"/>
        </a:p>
      </dgm:t>
    </dgm:pt>
    <dgm:pt modelId="{F2A8C89E-8239-4437-B32C-BE9D4045B533}" type="parTrans" cxnId="{A9463E95-3BCF-4604-8D57-083A60D7012E}">
      <dgm:prSet/>
      <dgm:spPr/>
      <dgm:t>
        <a:bodyPr/>
        <a:lstStyle/>
        <a:p>
          <a:endParaRPr lang="en-IN"/>
        </a:p>
      </dgm:t>
    </dgm:pt>
    <dgm:pt modelId="{25E6C098-F017-4232-9840-9538B9C24254}" type="sibTrans" cxnId="{A9463E95-3BCF-4604-8D57-083A60D7012E}">
      <dgm:prSet/>
      <dgm:spPr/>
      <dgm:t>
        <a:bodyPr/>
        <a:lstStyle/>
        <a:p>
          <a:endParaRPr lang="en-IN"/>
        </a:p>
      </dgm:t>
    </dgm:pt>
    <dgm:pt modelId="{ED974D03-4E08-403A-84F8-A994FC8769BF}">
      <dgm:prSet/>
      <dgm:spPr/>
      <dgm:t>
        <a:bodyPr/>
        <a:lstStyle/>
        <a:p>
          <a:r>
            <a:rPr lang="en-US" altLang="en-US" smtClean="0"/>
            <a:t>Evaluate on-premises, cloud, and hybrid options.</a:t>
          </a:r>
          <a:endParaRPr lang="en-US" altLang="en-US" dirty="0" smtClean="0"/>
        </a:p>
      </dgm:t>
    </dgm:pt>
    <dgm:pt modelId="{6EF8ACD9-F4CE-4170-AA59-B5BF21D068DD}" type="parTrans" cxnId="{7640E6D6-7892-4985-ADBF-8FF1365AB45D}">
      <dgm:prSet/>
      <dgm:spPr/>
      <dgm:t>
        <a:bodyPr/>
        <a:lstStyle/>
        <a:p>
          <a:endParaRPr lang="en-IN"/>
        </a:p>
      </dgm:t>
    </dgm:pt>
    <dgm:pt modelId="{A2954480-C342-43DA-837F-BCF2E832FF8D}" type="sibTrans" cxnId="{7640E6D6-7892-4985-ADBF-8FF1365AB45D}">
      <dgm:prSet/>
      <dgm:spPr/>
      <dgm:t>
        <a:bodyPr/>
        <a:lstStyle/>
        <a:p>
          <a:endParaRPr lang="en-IN"/>
        </a:p>
      </dgm:t>
    </dgm:pt>
    <dgm:pt modelId="{2E4B51B7-5111-4559-A5A3-925F8AA1C4E4}" type="pres">
      <dgm:prSet presAssocID="{653E9A84-8F15-4409-B665-F6D4836E20A2}" presName="Name0" presStyleCnt="0">
        <dgm:presLayoutVars>
          <dgm:dir/>
          <dgm:animLvl val="lvl"/>
          <dgm:resizeHandles/>
        </dgm:presLayoutVars>
      </dgm:prSet>
      <dgm:spPr/>
    </dgm:pt>
    <dgm:pt modelId="{E5C3D160-10B9-4B6E-9DE3-869C3B246A11}" type="pres">
      <dgm:prSet presAssocID="{274A077F-267C-4877-AC36-A6DD1B38118B}" presName="linNode" presStyleCnt="0"/>
      <dgm:spPr/>
    </dgm:pt>
    <dgm:pt modelId="{FCABE20D-CE18-4D83-8412-E4DEAB6DF406}" type="pres">
      <dgm:prSet presAssocID="{274A077F-267C-4877-AC36-A6DD1B38118B}" presName="parentShp" presStyleLbl="node1" presStyleIdx="0" presStyleCnt="4">
        <dgm:presLayoutVars>
          <dgm:bulletEnabled val="1"/>
        </dgm:presLayoutVars>
      </dgm:prSet>
      <dgm:spPr/>
    </dgm:pt>
    <dgm:pt modelId="{477303AA-8254-415F-BCD7-F8BD7F834F00}" type="pres">
      <dgm:prSet presAssocID="{274A077F-267C-4877-AC36-A6DD1B38118B}" presName="childShp" presStyleLbl="bgAccFollowNode1" presStyleIdx="0" presStyleCnt="4">
        <dgm:presLayoutVars>
          <dgm:bulletEnabled val="1"/>
        </dgm:presLayoutVars>
      </dgm:prSet>
      <dgm:spPr/>
    </dgm:pt>
    <dgm:pt modelId="{C771D93C-BFD7-4F1B-95F3-9AE76A2D11B2}" type="pres">
      <dgm:prSet presAssocID="{72EF179F-2A0A-4048-87B0-5F38B3805908}" presName="spacing" presStyleCnt="0"/>
      <dgm:spPr/>
    </dgm:pt>
    <dgm:pt modelId="{B58A7DFF-B3CC-4265-8310-6D12C40FBF99}" type="pres">
      <dgm:prSet presAssocID="{C1A74C38-0916-4AF5-BD4D-5EC8978B54A1}" presName="linNode" presStyleCnt="0"/>
      <dgm:spPr/>
    </dgm:pt>
    <dgm:pt modelId="{195AE2F3-D35B-4D45-8419-321BB18E7A2E}" type="pres">
      <dgm:prSet presAssocID="{C1A74C38-0916-4AF5-BD4D-5EC8978B54A1}" presName="parentShp" presStyleLbl="node1" presStyleIdx="1" presStyleCnt="4">
        <dgm:presLayoutVars>
          <dgm:bulletEnabled val="1"/>
        </dgm:presLayoutVars>
      </dgm:prSet>
      <dgm:spPr/>
    </dgm:pt>
    <dgm:pt modelId="{6EEE1D0D-F986-483A-A4EE-A16AEADA80A8}" type="pres">
      <dgm:prSet presAssocID="{C1A74C38-0916-4AF5-BD4D-5EC8978B54A1}" presName="childShp" presStyleLbl="bgAccFollowNode1" presStyleIdx="1" presStyleCnt="4">
        <dgm:presLayoutVars>
          <dgm:bulletEnabled val="1"/>
        </dgm:presLayoutVars>
      </dgm:prSet>
      <dgm:spPr/>
    </dgm:pt>
    <dgm:pt modelId="{C33AC8A4-1642-4170-B7D7-ABA888B15683}" type="pres">
      <dgm:prSet presAssocID="{4D26A745-C76F-49A0-924C-639AC8566650}" presName="spacing" presStyleCnt="0"/>
      <dgm:spPr/>
    </dgm:pt>
    <dgm:pt modelId="{DE11F2C9-27C0-4DBB-B78F-31960D282DC3}" type="pres">
      <dgm:prSet presAssocID="{45E6807A-D68A-4308-9BFB-39C958EB0433}" presName="linNode" presStyleCnt="0"/>
      <dgm:spPr/>
    </dgm:pt>
    <dgm:pt modelId="{AE33D3C7-0B1E-42FD-B6D4-92D9D901DF0D}" type="pres">
      <dgm:prSet presAssocID="{45E6807A-D68A-4308-9BFB-39C958EB0433}" presName="parentShp" presStyleLbl="node1" presStyleIdx="2" presStyleCnt="4">
        <dgm:presLayoutVars>
          <dgm:bulletEnabled val="1"/>
        </dgm:presLayoutVars>
      </dgm:prSet>
      <dgm:spPr/>
    </dgm:pt>
    <dgm:pt modelId="{6D2909E4-90AF-4774-B0D4-34FE9F5295E9}" type="pres">
      <dgm:prSet presAssocID="{45E6807A-D68A-4308-9BFB-39C958EB0433}" presName="childShp" presStyleLbl="bgAccFollowNode1" presStyleIdx="2" presStyleCnt="4">
        <dgm:presLayoutVars>
          <dgm:bulletEnabled val="1"/>
        </dgm:presLayoutVars>
      </dgm:prSet>
      <dgm:spPr/>
    </dgm:pt>
    <dgm:pt modelId="{B800445F-1589-4DF5-B8D7-9E681B424562}" type="pres">
      <dgm:prSet presAssocID="{7215B4FE-78D7-4E2F-9223-F5EC30277384}" presName="spacing" presStyleCnt="0"/>
      <dgm:spPr/>
    </dgm:pt>
    <dgm:pt modelId="{CD1486B5-EC65-496A-8AD2-9368B801C1F0}" type="pres">
      <dgm:prSet presAssocID="{CE040EFE-FB99-4BA5-AD98-2C14F9D20DEB}" presName="linNode" presStyleCnt="0"/>
      <dgm:spPr/>
    </dgm:pt>
    <dgm:pt modelId="{E394A417-5954-4473-A194-1C5A13EB2770}" type="pres">
      <dgm:prSet presAssocID="{CE040EFE-FB99-4BA5-AD98-2C14F9D20DEB}" presName="parentShp" presStyleLbl="node1" presStyleIdx="3" presStyleCnt="4">
        <dgm:presLayoutVars>
          <dgm:bulletEnabled val="1"/>
        </dgm:presLayoutVars>
      </dgm:prSet>
      <dgm:spPr/>
    </dgm:pt>
    <dgm:pt modelId="{17C6746D-8586-44CA-A1FD-4BD344A9A1A6}" type="pres">
      <dgm:prSet presAssocID="{CE040EFE-FB99-4BA5-AD98-2C14F9D20DEB}" presName="childShp" presStyleLbl="bgAccFollowNode1" presStyleIdx="3" presStyleCnt="4">
        <dgm:presLayoutVars>
          <dgm:bulletEnabled val="1"/>
        </dgm:presLayoutVars>
      </dgm:prSet>
      <dgm:spPr/>
    </dgm:pt>
  </dgm:ptLst>
  <dgm:cxnLst>
    <dgm:cxn modelId="{FB5D6174-22F3-446A-89E6-54AA9899215B}" type="presOf" srcId="{C1A74C38-0916-4AF5-BD4D-5EC8978B54A1}" destId="{195AE2F3-D35B-4D45-8419-321BB18E7A2E}" srcOrd="0" destOrd="0" presId="urn:microsoft.com/office/officeart/2005/8/layout/vList6"/>
    <dgm:cxn modelId="{251FA907-E185-47DA-BEA4-DA32E06E5751}" type="presOf" srcId="{0844AC07-C079-4138-9DA5-0D22090E3861}" destId="{17C6746D-8586-44CA-A1FD-4BD344A9A1A6}" srcOrd="0" destOrd="0" presId="urn:microsoft.com/office/officeart/2005/8/layout/vList6"/>
    <dgm:cxn modelId="{93949A72-C628-4220-9051-E76F19DF3EBF}" srcId="{653E9A84-8F15-4409-B665-F6D4836E20A2}" destId="{CE040EFE-FB99-4BA5-AD98-2C14F9D20DEB}" srcOrd="3" destOrd="0" parTransId="{39C72B89-BA61-4E9D-96B2-1423435E5169}" sibTransId="{281B0466-D9B2-4F76-A9F2-6F434FF76BF7}"/>
    <dgm:cxn modelId="{1051EB46-227A-4FE5-A97E-21C16B90DA1E}" type="presOf" srcId="{274A077F-267C-4877-AC36-A6DD1B38118B}" destId="{FCABE20D-CE18-4D83-8412-E4DEAB6DF406}" srcOrd="0" destOrd="0" presId="urn:microsoft.com/office/officeart/2005/8/layout/vList6"/>
    <dgm:cxn modelId="{25D92967-98C3-4F11-927C-22FF9642775B}" type="presOf" srcId="{ED974D03-4E08-403A-84F8-A994FC8769BF}" destId="{6EEE1D0D-F986-483A-A4EE-A16AEADA80A8}" srcOrd="0" destOrd="0" presId="urn:microsoft.com/office/officeart/2005/8/layout/vList6"/>
    <dgm:cxn modelId="{C66326E6-25AF-42B2-AD78-2A41866BFCA8}" type="presOf" srcId="{4BD7CB56-5689-4C3C-A414-F1BB39EE27CB}" destId="{477303AA-8254-415F-BCD7-F8BD7F834F00}" srcOrd="0" destOrd="0" presId="urn:microsoft.com/office/officeart/2005/8/layout/vList6"/>
    <dgm:cxn modelId="{C5776A2B-C34D-411C-8030-3737703BC954}" type="presOf" srcId="{653E9A84-8F15-4409-B665-F6D4836E20A2}" destId="{2E4B51B7-5111-4559-A5A3-925F8AA1C4E4}" srcOrd="0" destOrd="0" presId="urn:microsoft.com/office/officeart/2005/8/layout/vList6"/>
    <dgm:cxn modelId="{4EA95F88-94F1-4672-8E13-474580E65706}" srcId="{653E9A84-8F15-4409-B665-F6D4836E20A2}" destId="{274A077F-267C-4877-AC36-A6DD1B38118B}" srcOrd="0" destOrd="0" parTransId="{F95577D8-5E28-4690-BF57-9EA6A911E26A}" sibTransId="{72EF179F-2A0A-4048-87B0-5F38B3805908}"/>
    <dgm:cxn modelId="{D7AB85CB-0447-4483-8DC1-28407F279F6C}" type="presOf" srcId="{CE040EFE-FB99-4BA5-AD98-2C14F9D20DEB}" destId="{E394A417-5954-4473-A194-1C5A13EB2770}" srcOrd="0" destOrd="0" presId="urn:microsoft.com/office/officeart/2005/8/layout/vList6"/>
    <dgm:cxn modelId="{16038C82-F686-46BC-AB57-59948A654463}" srcId="{274A077F-267C-4877-AC36-A6DD1B38118B}" destId="{4BD7CB56-5689-4C3C-A414-F1BB39EE27CB}" srcOrd="0" destOrd="0" parTransId="{5BE9384D-509C-4112-856E-09E10B9DD640}" sibTransId="{969D527B-1EAC-4D5A-94FF-471F6D202075}"/>
    <dgm:cxn modelId="{8DB741FC-6060-4125-A66F-39949104D00C}" type="presOf" srcId="{F5076DD5-AFF7-4EA8-8C29-38F71AF4382F}" destId="{6D2909E4-90AF-4774-B0D4-34FE9F5295E9}" srcOrd="0" destOrd="0" presId="urn:microsoft.com/office/officeart/2005/8/layout/vList6"/>
    <dgm:cxn modelId="{C1EDD427-E2B6-4FCE-93FC-9139E5B7C810}" srcId="{45E6807A-D68A-4308-9BFB-39C958EB0433}" destId="{F5076DD5-AFF7-4EA8-8C29-38F71AF4382F}" srcOrd="0" destOrd="0" parTransId="{675700CB-249F-4F0E-9F3B-8DCAC2434005}" sibTransId="{D4E0CF2D-C49F-4FFD-A0C5-0D16963E1AAE}"/>
    <dgm:cxn modelId="{F2F21C9C-ABCC-403D-A932-287169E207B7}" srcId="{653E9A84-8F15-4409-B665-F6D4836E20A2}" destId="{C1A74C38-0916-4AF5-BD4D-5EC8978B54A1}" srcOrd="1" destOrd="0" parTransId="{10D366D4-EDE7-4BE8-A356-FEDB82F31687}" sibTransId="{4D26A745-C76F-49A0-924C-639AC8566650}"/>
    <dgm:cxn modelId="{91FFD46A-C7B6-4134-A219-F3FF52248930}" type="presOf" srcId="{45E6807A-D68A-4308-9BFB-39C958EB0433}" destId="{AE33D3C7-0B1E-42FD-B6D4-92D9D901DF0D}" srcOrd="0" destOrd="0" presId="urn:microsoft.com/office/officeart/2005/8/layout/vList6"/>
    <dgm:cxn modelId="{7640E6D6-7892-4985-ADBF-8FF1365AB45D}" srcId="{C1A74C38-0916-4AF5-BD4D-5EC8978B54A1}" destId="{ED974D03-4E08-403A-84F8-A994FC8769BF}" srcOrd="0" destOrd="0" parTransId="{6EF8ACD9-F4CE-4170-AA59-B5BF21D068DD}" sibTransId="{A2954480-C342-43DA-837F-BCF2E832FF8D}"/>
    <dgm:cxn modelId="{A9463E95-3BCF-4604-8D57-083A60D7012E}" srcId="{CE040EFE-FB99-4BA5-AD98-2C14F9D20DEB}" destId="{0844AC07-C079-4138-9DA5-0D22090E3861}" srcOrd="0" destOrd="0" parTransId="{F2A8C89E-8239-4437-B32C-BE9D4045B533}" sibTransId="{25E6C098-F017-4232-9840-9538B9C24254}"/>
    <dgm:cxn modelId="{15396502-05D0-4591-84EC-60B5B01D63E2}" srcId="{653E9A84-8F15-4409-B665-F6D4836E20A2}" destId="{45E6807A-D68A-4308-9BFB-39C958EB0433}" srcOrd="2" destOrd="0" parTransId="{D39E2096-C3DE-4255-B1E3-F40545F30090}" sibTransId="{7215B4FE-78D7-4E2F-9223-F5EC30277384}"/>
    <dgm:cxn modelId="{047B51FB-36BE-4D98-9826-FF3764C0422C}" type="presParOf" srcId="{2E4B51B7-5111-4559-A5A3-925F8AA1C4E4}" destId="{E5C3D160-10B9-4B6E-9DE3-869C3B246A11}" srcOrd="0" destOrd="0" presId="urn:microsoft.com/office/officeart/2005/8/layout/vList6"/>
    <dgm:cxn modelId="{DB7B5325-9308-49F9-8B99-820700E1E86E}" type="presParOf" srcId="{E5C3D160-10B9-4B6E-9DE3-869C3B246A11}" destId="{FCABE20D-CE18-4D83-8412-E4DEAB6DF406}" srcOrd="0" destOrd="0" presId="urn:microsoft.com/office/officeart/2005/8/layout/vList6"/>
    <dgm:cxn modelId="{1F750310-383F-4A58-B475-5E6451153D8A}" type="presParOf" srcId="{E5C3D160-10B9-4B6E-9DE3-869C3B246A11}" destId="{477303AA-8254-415F-BCD7-F8BD7F834F00}" srcOrd="1" destOrd="0" presId="urn:microsoft.com/office/officeart/2005/8/layout/vList6"/>
    <dgm:cxn modelId="{127BA351-4AB4-4DFB-867D-3D8D18A0337A}" type="presParOf" srcId="{2E4B51B7-5111-4559-A5A3-925F8AA1C4E4}" destId="{C771D93C-BFD7-4F1B-95F3-9AE76A2D11B2}" srcOrd="1" destOrd="0" presId="urn:microsoft.com/office/officeart/2005/8/layout/vList6"/>
    <dgm:cxn modelId="{152DADE2-C3DC-444B-9399-35DE39BE2975}" type="presParOf" srcId="{2E4B51B7-5111-4559-A5A3-925F8AA1C4E4}" destId="{B58A7DFF-B3CC-4265-8310-6D12C40FBF99}" srcOrd="2" destOrd="0" presId="urn:microsoft.com/office/officeart/2005/8/layout/vList6"/>
    <dgm:cxn modelId="{B6EE8780-ED82-4674-80D8-14D2F2597F88}" type="presParOf" srcId="{B58A7DFF-B3CC-4265-8310-6D12C40FBF99}" destId="{195AE2F3-D35B-4D45-8419-321BB18E7A2E}" srcOrd="0" destOrd="0" presId="urn:microsoft.com/office/officeart/2005/8/layout/vList6"/>
    <dgm:cxn modelId="{903A8B8B-EB7B-4385-9EB7-F0ADC204ABCA}" type="presParOf" srcId="{B58A7DFF-B3CC-4265-8310-6D12C40FBF99}" destId="{6EEE1D0D-F986-483A-A4EE-A16AEADA80A8}" srcOrd="1" destOrd="0" presId="urn:microsoft.com/office/officeart/2005/8/layout/vList6"/>
    <dgm:cxn modelId="{A388D57D-D226-4FFA-987B-0CA3CBDBD420}" type="presParOf" srcId="{2E4B51B7-5111-4559-A5A3-925F8AA1C4E4}" destId="{C33AC8A4-1642-4170-B7D7-ABA888B15683}" srcOrd="3" destOrd="0" presId="urn:microsoft.com/office/officeart/2005/8/layout/vList6"/>
    <dgm:cxn modelId="{7E4BA2D4-AC4B-440B-81E5-1C3775CE60D6}" type="presParOf" srcId="{2E4B51B7-5111-4559-A5A3-925F8AA1C4E4}" destId="{DE11F2C9-27C0-4DBB-B78F-31960D282DC3}" srcOrd="4" destOrd="0" presId="urn:microsoft.com/office/officeart/2005/8/layout/vList6"/>
    <dgm:cxn modelId="{567EB6A6-92D6-4052-9806-9312CF09A1D3}" type="presParOf" srcId="{DE11F2C9-27C0-4DBB-B78F-31960D282DC3}" destId="{AE33D3C7-0B1E-42FD-B6D4-92D9D901DF0D}" srcOrd="0" destOrd="0" presId="urn:microsoft.com/office/officeart/2005/8/layout/vList6"/>
    <dgm:cxn modelId="{0994939D-3083-4362-9354-AB63259D31E0}" type="presParOf" srcId="{DE11F2C9-27C0-4DBB-B78F-31960D282DC3}" destId="{6D2909E4-90AF-4774-B0D4-34FE9F5295E9}" srcOrd="1" destOrd="0" presId="urn:microsoft.com/office/officeart/2005/8/layout/vList6"/>
    <dgm:cxn modelId="{6C0C2917-4EEF-4CBB-BF3D-2423D73FC2CE}" type="presParOf" srcId="{2E4B51B7-5111-4559-A5A3-925F8AA1C4E4}" destId="{B800445F-1589-4DF5-B8D7-9E681B424562}" srcOrd="5" destOrd="0" presId="urn:microsoft.com/office/officeart/2005/8/layout/vList6"/>
    <dgm:cxn modelId="{F2B0BC80-4016-4222-A312-FA510E461741}" type="presParOf" srcId="{2E4B51B7-5111-4559-A5A3-925F8AA1C4E4}" destId="{CD1486B5-EC65-496A-8AD2-9368B801C1F0}" srcOrd="6" destOrd="0" presId="urn:microsoft.com/office/officeart/2005/8/layout/vList6"/>
    <dgm:cxn modelId="{BEE5412F-34F3-40B4-BDC6-B481AA1285A9}" type="presParOf" srcId="{CD1486B5-EC65-496A-8AD2-9368B801C1F0}" destId="{E394A417-5954-4473-A194-1C5A13EB2770}" srcOrd="0" destOrd="0" presId="urn:microsoft.com/office/officeart/2005/8/layout/vList6"/>
    <dgm:cxn modelId="{8AC5FBE8-51B6-4444-8CED-12F45A31199B}" type="presParOf" srcId="{CD1486B5-EC65-496A-8AD2-9368B801C1F0}" destId="{17C6746D-8586-44CA-A1FD-4BD344A9A1A6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303AA-8254-415F-BCD7-F8BD7F834F00}">
      <dsp:nvSpPr>
        <dsp:cNvPr id="0" name=""/>
        <dsp:cNvSpPr/>
      </dsp:nvSpPr>
      <dsp:spPr>
        <a:xfrm>
          <a:off x="4665472" y="1256"/>
          <a:ext cx="6998208" cy="997202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2700" kern="1200" smtClean="0"/>
            <a:t>Understand specific data storage requirements.</a:t>
          </a:r>
          <a:endParaRPr lang="en-US" altLang="en-US" sz="2700" kern="1200" dirty="0" smtClean="0"/>
        </a:p>
      </dsp:txBody>
      <dsp:txXfrm>
        <a:off x="4665472" y="125906"/>
        <a:ext cx="6624257" cy="747902"/>
      </dsp:txXfrm>
    </dsp:sp>
    <dsp:sp modelId="{FCABE20D-CE18-4D83-8412-E4DEAB6DF406}">
      <dsp:nvSpPr>
        <dsp:cNvPr id="0" name=""/>
        <dsp:cNvSpPr/>
      </dsp:nvSpPr>
      <dsp:spPr>
        <a:xfrm>
          <a:off x="0" y="1256"/>
          <a:ext cx="4665472" cy="99720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900" kern="1200" dirty="0" smtClean="0"/>
            <a:t>Assess Business Needs:</a:t>
          </a:r>
          <a:endParaRPr lang="en-IN" sz="2900" kern="1200" dirty="0"/>
        </a:p>
      </dsp:txBody>
      <dsp:txXfrm>
        <a:off x="48679" y="49935"/>
        <a:ext cx="4568114" cy="899844"/>
      </dsp:txXfrm>
    </dsp:sp>
    <dsp:sp modelId="{6EEE1D0D-F986-483A-A4EE-A16AEADA80A8}">
      <dsp:nvSpPr>
        <dsp:cNvPr id="0" name=""/>
        <dsp:cNvSpPr/>
      </dsp:nvSpPr>
      <dsp:spPr>
        <a:xfrm>
          <a:off x="4665472" y="1098179"/>
          <a:ext cx="6998208" cy="997202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2374573"/>
            <a:satOff val="-353"/>
            <a:lumOff val="-409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374573"/>
              <a:satOff val="-353"/>
              <a:lumOff val="-409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2700" kern="1200" smtClean="0"/>
            <a:t>Evaluate on-premises, cloud, and hybrid options.</a:t>
          </a:r>
          <a:endParaRPr lang="en-US" altLang="en-US" sz="2700" kern="1200" dirty="0" smtClean="0"/>
        </a:p>
      </dsp:txBody>
      <dsp:txXfrm>
        <a:off x="4665472" y="1222829"/>
        <a:ext cx="6624257" cy="747902"/>
      </dsp:txXfrm>
    </dsp:sp>
    <dsp:sp modelId="{195AE2F3-D35B-4D45-8419-321BB18E7A2E}">
      <dsp:nvSpPr>
        <dsp:cNvPr id="0" name=""/>
        <dsp:cNvSpPr/>
      </dsp:nvSpPr>
      <dsp:spPr>
        <a:xfrm>
          <a:off x="0" y="1098179"/>
          <a:ext cx="4665472" cy="997202"/>
        </a:xfrm>
        <a:prstGeom prst="roundRect">
          <a:avLst/>
        </a:prstGeom>
        <a:solidFill>
          <a:schemeClr val="accent2">
            <a:hueOff val="2365363"/>
            <a:satOff val="878"/>
            <a:lumOff val="-2549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900" kern="1200" smtClean="0"/>
            <a:t>Choose the Right Solution:</a:t>
          </a:r>
          <a:endParaRPr lang="en-US" altLang="en-US" sz="2900" kern="1200" dirty="0" smtClean="0"/>
        </a:p>
      </dsp:txBody>
      <dsp:txXfrm>
        <a:off x="48679" y="1146858"/>
        <a:ext cx="4568114" cy="899844"/>
      </dsp:txXfrm>
    </dsp:sp>
    <dsp:sp modelId="{6D2909E4-90AF-4774-B0D4-34FE9F5295E9}">
      <dsp:nvSpPr>
        <dsp:cNvPr id="0" name=""/>
        <dsp:cNvSpPr/>
      </dsp:nvSpPr>
      <dsp:spPr>
        <a:xfrm>
          <a:off x="4665472" y="2195101"/>
          <a:ext cx="6998208" cy="997202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4749145"/>
            <a:satOff val="-705"/>
            <a:lumOff val="-819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4749145"/>
              <a:satOff val="-705"/>
              <a:lumOff val="-819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2700" kern="1200" smtClean="0"/>
            <a:t>Prioritize data security with encryption and audits.</a:t>
          </a:r>
          <a:endParaRPr lang="en-US" altLang="en-US" sz="2700" kern="1200" dirty="0" smtClean="0"/>
        </a:p>
      </dsp:txBody>
      <dsp:txXfrm>
        <a:off x="4665472" y="2319751"/>
        <a:ext cx="6624257" cy="747902"/>
      </dsp:txXfrm>
    </dsp:sp>
    <dsp:sp modelId="{AE33D3C7-0B1E-42FD-B6D4-92D9D901DF0D}">
      <dsp:nvSpPr>
        <dsp:cNvPr id="0" name=""/>
        <dsp:cNvSpPr/>
      </dsp:nvSpPr>
      <dsp:spPr>
        <a:xfrm>
          <a:off x="0" y="2195101"/>
          <a:ext cx="4665472" cy="997202"/>
        </a:xfrm>
        <a:prstGeom prst="roundRect">
          <a:avLst/>
        </a:prstGeom>
        <a:solidFill>
          <a:schemeClr val="accent2">
            <a:hueOff val="4730725"/>
            <a:satOff val="1755"/>
            <a:lumOff val="-5098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900" kern="1200" smtClean="0"/>
            <a:t>Implement Security Measures:</a:t>
          </a:r>
          <a:endParaRPr lang="en-US" altLang="en-US" sz="2900" kern="1200" dirty="0"/>
        </a:p>
      </dsp:txBody>
      <dsp:txXfrm>
        <a:off x="48679" y="2243780"/>
        <a:ext cx="4568114" cy="899844"/>
      </dsp:txXfrm>
    </dsp:sp>
    <dsp:sp modelId="{17C6746D-8586-44CA-A1FD-4BD344A9A1A6}">
      <dsp:nvSpPr>
        <dsp:cNvPr id="0" name=""/>
        <dsp:cNvSpPr/>
      </dsp:nvSpPr>
      <dsp:spPr>
        <a:xfrm>
          <a:off x="4665472" y="3292023"/>
          <a:ext cx="6998208" cy="997202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7123718"/>
            <a:satOff val="-1058"/>
            <a:lumOff val="-1228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7123718"/>
              <a:satOff val="-1058"/>
              <a:lumOff val="-1228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2700" kern="1200" smtClean="0"/>
            <a:t>Monitor performance and costs; optimize configurations.</a:t>
          </a:r>
          <a:endParaRPr lang="en-US" altLang="en-US" sz="2700" kern="1200" dirty="0"/>
        </a:p>
      </dsp:txBody>
      <dsp:txXfrm>
        <a:off x="4665472" y="3416673"/>
        <a:ext cx="6624257" cy="747902"/>
      </dsp:txXfrm>
    </dsp:sp>
    <dsp:sp modelId="{E394A417-5954-4473-A194-1C5A13EB2770}">
      <dsp:nvSpPr>
        <dsp:cNvPr id="0" name=""/>
        <dsp:cNvSpPr/>
      </dsp:nvSpPr>
      <dsp:spPr>
        <a:xfrm>
          <a:off x="0" y="3292023"/>
          <a:ext cx="4665472" cy="997202"/>
        </a:xfrm>
        <a:prstGeom prst="roundRect">
          <a:avLst/>
        </a:prstGeom>
        <a:solidFill>
          <a:schemeClr val="accent2">
            <a:hueOff val="7096088"/>
            <a:satOff val="2633"/>
            <a:lumOff val="-7647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900" kern="1200" smtClean="0"/>
            <a:t>Regularly Review and Optimize:</a:t>
          </a:r>
          <a:endParaRPr lang="en-US" altLang="en-US" sz="2900" kern="1200" dirty="0"/>
        </a:p>
      </dsp:txBody>
      <dsp:txXfrm>
        <a:off x="48679" y="3340702"/>
        <a:ext cx="4568114" cy="899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‹#›</a:t>
            </a:fld>
            <a:endParaRPr sz="1400" b="0" i="0" u="none" strike="noStrike" cap="none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0251349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590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strike="noStrike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NOTE:</a:t>
            </a:r>
            <a:endParaRPr sz="2000" b="0" strike="noStrike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1590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strike="noStrike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 change the  image on this slide, select the picture and delete it. Then click the Pictures icon in the placeholder to insert your own image.</a:t>
            </a:r>
            <a:endParaRPr sz="2000" b="0" strike="noStrike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8" name="Google Shape;308;p1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200" b="0" i="0" u="none" strike="noStrike" cap="none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68158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9511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313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subTitle" idx="1"/>
          </p:nvPr>
        </p:nvSpPr>
        <p:spPr>
          <a:xfrm>
            <a:off x="1104840" y="2292120"/>
            <a:ext cx="10096200" cy="1028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subTitle" idx="1"/>
          </p:nvPr>
        </p:nvSpPr>
        <p:spPr>
          <a:xfrm>
            <a:off x="1104840" y="2292120"/>
            <a:ext cx="10096200" cy="1028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6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9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1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>
            <a:spLocks noGrp="1"/>
          </p:cNvSpPr>
          <p:nvPr>
            <p:ph type="subTitle" idx="1"/>
          </p:nvPr>
        </p:nvSpPr>
        <p:spPr>
          <a:xfrm>
            <a:off x="1104840" y="2292120"/>
            <a:ext cx="10096200" cy="1028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5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5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6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6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7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7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8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8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8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8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9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9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9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9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9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9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1103040" y="1218960"/>
            <a:ext cx="9985320" cy="84960"/>
            <a:chOff x="1103040" y="1218960"/>
            <a:chExt cx="9985320" cy="84960"/>
          </a:xfrm>
        </p:grpSpPr>
        <p:cxnSp>
          <p:nvCxnSpPr>
            <p:cNvPr id="11" name="Google Shape;11;p1"/>
            <p:cNvCxnSpPr/>
            <p:nvPr/>
          </p:nvCxnSpPr>
          <p:spPr>
            <a:xfrm flipH="1">
              <a:off x="1103040" y="1218960"/>
              <a:ext cx="9985320" cy="360"/>
            </a:xfrm>
            <a:prstGeom prst="straightConnector1">
              <a:avLst/>
            </a:prstGeom>
            <a:noFill/>
            <a:ln w="381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2" name="Google Shape;12;p1"/>
            <p:cNvCxnSpPr/>
            <p:nvPr/>
          </p:nvCxnSpPr>
          <p:spPr>
            <a:xfrm flipH="1">
              <a:off x="1103040" y="1303560"/>
              <a:ext cx="9985320" cy="360"/>
            </a:xfrm>
            <a:prstGeom prst="straightConnector1">
              <a:avLst/>
            </a:prstGeom>
            <a:noFill/>
            <a:ln w="126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573372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6981120" y="1310760"/>
            <a:ext cx="5210640" cy="4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1005825" rIns="90000" bIns="450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0"/>
            <a:ext cx="12191760" cy="1079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16;p1"/>
          <p:cNvGrpSpPr/>
          <p:nvPr/>
        </p:nvGrpSpPr>
        <p:grpSpPr>
          <a:xfrm>
            <a:off x="0" y="1142640"/>
            <a:ext cx="12191760" cy="63720"/>
            <a:chOff x="0" y="1142640"/>
            <a:chExt cx="12191760" cy="63720"/>
          </a:xfrm>
        </p:grpSpPr>
        <p:cxnSp>
          <p:nvCxnSpPr>
            <p:cNvPr id="17" name="Google Shape;17;p1"/>
            <p:cNvCxnSpPr/>
            <p:nvPr/>
          </p:nvCxnSpPr>
          <p:spPr>
            <a:xfrm>
              <a:off x="0" y="1206000"/>
              <a:ext cx="12191760" cy="360"/>
            </a:xfrm>
            <a:prstGeom prst="straightConnector1">
              <a:avLst/>
            </a:prstGeom>
            <a:noFill/>
            <a:ln w="381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0" y="1142640"/>
              <a:ext cx="12191760" cy="360"/>
            </a:xfrm>
            <a:prstGeom prst="straightConnector1">
              <a:avLst/>
            </a:prstGeom>
            <a:noFill/>
            <a:ln w="126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pic>
        <p:nvPicPr>
          <p:cNvPr id="19" name="Google Shape;19;p1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1325880" y="0"/>
            <a:ext cx="1747080" cy="2291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0" y="5645160"/>
            <a:ext cx="12191760" cy="63720"/>
            <a:chOff x="0" y="5645160"/>
            <a:chExt cx="12191760" cy="63720"/>
          </a:xfrm>
        </p:grpSpPr>
        <p:cxnSp>
          <p:nvCxnSpPr>
            <p:cNvPr id="21" name="Google Shape;21;p1"/>
            <p:cNvCxnSpPr/>
            <p:nvPr/>
          </p:nvCxnSpPr>
          <p:spPr>
            <a:xfrm flipH="1">
              <a:off x="0" y="5645160"/>
              <a:ext cx="12191760" cy="360"/>
            </a:xfrm>
            <a:prstGeom prst="straightConnector1">
              <a:avLst/>
            </a:prstGeom>
            <a:noFill/>
            <a:ln w="381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2" name="Google Shape;22;p1"/>
            <p:cNvCxnSpPr/>
            <p:nvPr/>
          </p:nvCxnSpPr>
          <p:spPr>
            <a:xfrm flipH="1">
              <a:off x="0" y="5708520"/>
              <a:ext cx="12191760" cy="360"/>
            </a:xfrm>
            <a:prstGeom prst="straightConnector1">
              <a:avLst/>
            </a:prstGeom>
            <a:noFill/>
            <a:ln w="126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23" name="Google Shape;23;p1"/>
          <p:cNvSpPr/>
          <p:nvPr/>
        </p:nvSpPr>
        <p:spPr>
          <a:xfrm>
            <a:off x="0" y="5778000"/>
            <a:ext cx="12191760" cy="1079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4"/>
          <p:cNvGrpSpPr/>
          <p:nvPr/>
        </p:nvGrpSpPr>
        <p:grpSpPr>
          <a:xfrm>
            <a:off x="1103040" y="1218960"/>
            <a:ext cx="9985320" cy="84960"/>
            <a:chOff x="1103040" y="1218960"/>
            <a:chExt cx="9985320" cy="84960"/>
          </a:xfrm>
        </p:grpSpPr>
        <p:cxnSp>
          <p:nvCxnSpPr>
            <p:cNvPr id="74" name="Google Shape;74;p14"/>
            <p:cNvCxnSpPr/>
            <p:nvPr/>
          </p:nvCxnSpPr>
          <p:spPr>
            <a:xfrm flipH="1">
              <a:off x="1103040" y="1218960"/>
              <a:ext cx="9985320" cy="360"/>
            </a:xfrm>
            <a:prstGeom prst="straightConnector1">
              <a:avLst/>
            </a:prstGeom>
            <a:noFill/>
            <a:ln w="381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75" name="Google Shape;75;p14"/>
            <p:cNvCxnSpPr/>
            <p:nvPr/>
          </p:nvCxnSpPr>
          <p:spPr>
            <a:xfrm flipH="1">
              <a:off x="1103040" y="1303560"/>
              <a:ext cx="9985320" cy="360"/>
            </a:xfrm>
            <a:prstGeom prst="straightConnector1">
              <a:avLst/>
            </a:prstGeom>
            <a:noFill/>
            <a:ln w="126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76" name="Google Shape;76;p14"/>
          <p:cNvSpPr/>
          <p:nvPr/>
        </p:nvSpPr>
        <p:spPr>
          <a:xfrm>
            <a:off x="0" y="0"/>
            <a:ext cx="12191760" cy="1079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1324440" y="0"/>
            <a:ext cx="1747080" cy="229176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0" y="5778000"/>
            <a:ext cx="12191760" cy="1079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dt" idx="10"/>
          </p:nvPr>
        </p:nvSpPr>
        <p:spPr>
          <a:xfrm>
            <a:off x="1104840" y="6356520"/>
            <a:ext cx="18291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ftr" idx="11"/>
          </p:nvPr>
        </p:nvSpPr>
        <p:spPr>
          <a:xfrm>
            <a:off x="2934360" y="6356520"/>
            <a:ext cx="63226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9256680" y="6356520"/>
            <a:ext cx="1828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DBD6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DBD6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DBD6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DBD6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DBD6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DBD6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DBD6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DBD6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DBD6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7"/>
          <p:cNvGrpSpPr/>
          <p:nvPr/>
        </p:nvGrpSpPr>
        <p:grpSpPr>
          <a:xfrm>
            <a:off x="1103040" y="1218960"/>
            <a:ext cx="9985320" cy="84960"/>
            <a:chOff x="1103040" y="1218960"/>
            <a:chExt cx="9985320" cy="84960"/>
          </a:xfrm>
        </p:grpSpPr>
        <p:cxnSp>
          <p:nvCxnSpPr>
            <p:cNvPr id="134" name="Google Shape;134;p27"/>
            <p:cNvCxnSpPr/>
            <p:nvPr/>
          </p:nvCxnSpPr>
          <p:spPr>
            <a:xfrm flipH="1">
              <a:off x="1103040" y="1218960"/>
              <a:ext cx="9985320" cy="360"/>
            </a:xfrm>
            <a:prstGeom prst="straightConnector1">
              <a:avLst/>
            </a:prstGeom>
            <a:noFill/>
            <a:ln w="381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135" name="Google Shape;135;p27"/>
            <p:cNvCxnSpPr/>
            <p:nvPr/>
          </p:nvCxnSpPr>
          <p:spPr>
            <a:xfrm flipH="1">
              <a:off x="1103040" y="1303560"/>
              <a:ext cx="9985320" cy="360"/>
            </a:xfrm>
            <a:prstGeom prst="straightConnector1">
              <a:avLst/>
            </a:prstGeom>
            <a:noFill/>
            <a:ln w="126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136" name="Google Shape;136;p27"/>
          <p:cNvSpPr txBox="1">
            <a:spLocks noGrp="1"/>
          </p:cNvSpPr>
          <p:nvPr>
            <p:ph type="title"/>
          </p:nvPr>
        </p:nvSpPr>
        <p:spPr>
          <a:xfrm>
            <a:off x="1104840" y="76320"/>
            <a:ext cx="9980280" cy="109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body" idx="1"/>
          </p:nvPr>
        </p:nvSpPr>
        <p:spPr>
          <a:xfrm>
            <a:off x="1104840" y="1600200"/>
            <a:ext cx="9981720" cy="457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dt" idx="10"/>
          </p:nvPr>
        </p:nvSpPr>
        <p:spPr>
          <a:xfrm>
            <a:off x="1104840" y="6356520"/>
            <a:ext cx="18291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ftr" idx="11"/>
          </p:nvPr>
        </p:nvSpPr>
        <p:spPr>
          <a:xfrm>
            <a:off x="2934360" y="6356520"/>
            <a:ext cx="63226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sldNum" idx="12"/>
          </p:nvPr>
        </p:nvSpPr>
        <p:spPr>
          <a:xfrm>
            <a:off x="9256680" y="6356520"/>
            <a:ext cx="1828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3D363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3D363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3D363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3D363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3D363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3D363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3D363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3D363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3D363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6"/>
          <p:cNvSpPr txBox="1"/>
          <p:nvPr/>
        </p:nvSpPr>
        <p:spPr>
          <a:xfrm>
            <a:off x="542925" y="1822450"/>
            <a:ext cx="5733415" cy="268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4200" b="1" dirty="0"/>
              <a:t>Cloud Computing</a:t>
            </a:r>
            <a:endParaRPr lang="en-IN" altLang="en-US" sz="4200" b="0" i="0" u="none" strike="noStrike" cap="none" dirty="0">
              <a:solidFill>
                <a:srgbClr val="514843"/>
              </a:solidFill>
              <a:sym typeface="Arial" panose="020B0604020202020204"/>
            </a:endParaRPr>
          </a:p>
        </p:txBody>
      </p:sp>
      <p:sp>
        <p:nvSpPr>
          <p:cNvPr id="311" name="Google Shape;311;p66"/>
          <p:cNvSpPr txBox="1"/>
          <p:nvPr/>
        </p:nvSpPr>
        <p:spPr>
          <a:xfrm>
            <a:off x="569160" y="4179960"/>
            <a:ext cx="5909400" cy="14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5148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K.K.Wagh</a:t>
            </a:r>
            <a:r>
              <a:rPr lang="en-US" sz="1800" b="0" i="0" u="none" strike="noStrike" cap="none" dirty="0">
                <a:solidFill>
                  <a:srgbClr val="5148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Institute of Engineering Education &amp; Research</a:t>
            </a:r>
            <a:endParaRPr sz="1800" b="0" i="0" u="none" strike="noStrike" cap="none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5148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Nashik</a:t>
            </a:r>
            <a:endParaRPr sz="1800" b="0" i="0" u="none" strike="noStrike" cap="none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12" name="Google Shape;312;p6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99520" y="3344400"/>
            <a:ext cx="2677680" cy="2154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6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962400" y="1310760"/>
            <a:ext cx="5229000" cy="198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7"/>
          <p:cNvSpPr txBox="1"/>
          <p:nvPr/>
        </p:nvSpPr>
        <p:spPr>
          <a:xfrm>
            <a:off x="1104840" y="2144338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lvl="0" algn="ctr">
              <a:lnSpc>
                <a:spcPct val="90000"/>
              </a:lnSpc>
            </a:pPr>
            <a:r>
              <a:rPr lang="en-US" altLang="en-US" sz="4200" b="1" dirty="0" smtClean="0">
                <a:solidFill>
                  <a:schemeClr val="tx1"/>
                </a:solidFill>
              </a:rPr>
              <a:t>Data Storage and Cloud Computing</a:t>
            </a:r>
            <a:r>
              <a:rPr lang="en-US" sz="4200" b="1" dirty="0" smtClean="0">
                <a:solidFill>
                  <a:schemeClr val="tx1"/>
                </a:solidFill>
              </a:rPr>
              <a:t> </a:t>
            </a:r>
            <a:r>
              <a:rPr lang="en-IN" sz="4200" b="1" i="0" u="none" strike="noStrike" cap="none" dirty="0" smtClean="0">
                <a:solidFill>
                  <a:schemeClr val="tx1"/>
                </a:solidFill>
                <a:sym typeface="Arial" panose="020B0604020202020204"/>
              </a:rPr>
              <a:t>(Unit </a:t>
            </a:r>
            <a:r>
              <a:rPr lang="en-US" altLang="en-IN" sz="4200" b="1" i="0" u="none" strike="noStrike" cap="none" dirty="0" smtClean="0">
                <a:solidFill>
                  <a:schemeClr val="tx1"/>
                </a:solidFill>
                <a:sym typeface="Arial" panose="020B0604020202020204"/>
              </a:rPr>
              <a:t>2</a:t>
            </a:r>
            <a:r>
              <a:rPr lang="en-IN" sz="4200" b="1" i="0" u="none" strike="noStrike" cap="none" dirty="0" smtClean="0">
                <a:solidFill>
                  <a:schemeClr val="tx1"/>
                </a:solidFill>
                <a:sym typeface="Arial" panose="020B0604020202020204"/>
              </a:rPr>
              <a:t>)</a:t>
            </a:r>
            <a:endParaRPr lang="en-IN" sz="4200" b="1" i="0" u="none" strike="noStrike" cap="none" dirty="0">
              <a:solidFill>
                <a:schemeClr val="tx1"/>
              </a:solidFill>
              <a:sym typeface="Arial" panose="020B060402020202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26540" y="282575"/>
            <a:ext cx="9255760" cy="765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200" b="1"/>
              <a:t>Outline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23185" y="1203325"/>
            <a:ext cx="7767955" cy="5548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Data Storage: Introduction to Enterprise Data Storage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Direct Attached Storage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Storage Area Network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Network Attached Storage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Data Storage Management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File System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Cloud Data Stores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Using Grids for Data Storage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Cloud Storage: Data Management, Provisioning Cloud storage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Data Intensive Technologies for Cloud Computing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Cloud file system (gfs and hdfs)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Distributed Data Storage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41211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 smtClean="0">
                <a:sym typeface="+mn-ea"/>
              </a:rPr>
              <a:t>Data Storage: Introduction to Enterprise Data Storage</a:t>
            </a:r>
            <a:endParaRPr 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187450" y="1484630"/>
            <a:ext cx="9925050" cy="5275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/>
              <a:t>Definition:</a:t>
            </a:r>
            <a:r>
              <a:rPr lang="en-US" altLang="en-US" sz="2000"/>
              <a:t> </a:t>
            </a:r>
          </a:p>
          <a:p>
            <a:pPr marL="0" indent="0" eaLnBrk="1" fontAlgn="auto" latinLnBrk="0" hangingPunct="1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Systems and technologies for storing, managing, and retrieving data in a business environment.</a:t>
            </a:r>
          </a:p>
          <a:p>
            <a:pPr marL="0" indent="0" eaLnBrk="1" fontAlgn="auto" latinLnBrk="0" hangingPunct="1">
              <a:lnSpc>
                <a:spcPct val="200000"/>
              </a:lnSpc>
              <a:buNone/>
            </a:pPr>
            <a:r>
              <a:rPr lang="en-US" altLang="en-US" sz="2000">
                <a:solidFill>
                  <a:schemeClr val="tx1"/>
                </a:solidFill>
              </a:rPr>
              <a:t>It encompasses a range of solutions designed to handle large volumes of data efficiently and securely.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b="1">
                <a:solidFill>
                  <a:schemeClr val="tx1"/>
                </a:solidFill>
              </a:rPr>
              <a:t>Importance:</a:t>
            </a:r>
            <a:r>
              <a:rPr lang="en-US" altLang="en-US" sz="2000">
                <a:solidFill>
                  <a:schemeClr val="tx1"/>
                </a:solidFill>
              </a:rPr>
              <a:t> </a:t>
            </a:r>
          </a:p>
          <a:p>
            <a:pPr marL="0" indent="0" eaLnBrk="1" fontAlgn="auto" latinLnBrk="0" hangingPunct="1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tx1"/>
                </a:solidFill>
              </a:rPr>
              <a:t>Essential for </a:t>
            </a:r>
            <a:r>
              <a:rPr lang="en-US" altLang="en-US" sz="2000" b="1">
                <a:solidFill>
                  <a:srgbClr val="FF0000"/>
                </a:solidFill>
              </a:rPr>
              <a:t>managing large volumes of data</a:t>
            </a:r>
            <a:r>
              <a:rPr lang="en-US" altLang="en-US" sz="2000">
                <a:solidFill>
                  <a:schemeClr val="tx1"/>
                </a:solidFill>
              </a:rPr>
              <a:t> efficiently and securely.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42354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Types of Data Storage Solutions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35685" y="1364615"/>
            <a:ext cx="10674985" cy="5395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 b="1">
                <a:solidFill>
                  <a:schemeClr val="tx1"/>
                </a:solidFill>
              </a:rPr>
              <a:t>On-Premises Storage: </a:t>
            </a:r>
            <a:r>
              <a:rPr lang="en-US" altLang="en-US" sz="2200">
                <a:solidFill>
                  <a:schemeClr val="tx1"/>
                </a:solidFill>
              </a:rPr>
              <a:t>Traditional storage solutions located within the organization’s physical premises. This includes: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Direct Attached Storage (DAS): </a:t>
            </a:r>
            <a:r>
              <a:rPr lang="en-US" altLang="en-US" sz="2200">
                <a:solidFill>
                  <a:schemeClr val="tx1"/>
                </a:solidFill>
              </a:rPr>
              <a:t>Storage devices directly connected to a server.</a:t>
            </a:r>
            <a:endParaRPr lang="en-US" altLang="en-US" sz="2200" b="1">
              <a:solidFill>
                <a:schemeClr val="tx1"/>
              </a:solidFill>
            </a:endParaRP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Network Attached Storage (NAS): </a:t>
            </a:r>
            <a:r>
              <a:rPr lang="en-US" altLang="en-US" sz="2200">
                <a:solidFill>
                  <a:schemeClr val="tx1"/>
                </a:solidFill>
              </a:rPr>
              <a:t>Dedicated file storage that allows multiple users to access data over a network.</a:t>
            </a:r>
            <a:endParaRPr lang="en-US" altLang="en-US" sz="2200">
              <a:solidFill>
                <a:srgbClr val="FF0000"/>
              </a:solidFill>
            </a:endParaRP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Storage Area Network (SAN): </a:t>
            </a:r>
            <a:r>
              <a:rPr lang="en-US" altLang="en-US" sz="2200">
                <a:solidFill>
                  <a:schemeClr val="tx1"/>
                </a:solidFill>
              </a:rPr>
              <a:t>A high-speed network that provides access to consolidated block-level storage.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532130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Types of Data Storage Solutions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35685" y="1364615"/>
            <a:ext cx="10358755" cy="5395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en-US" sz="2200" b="1" dirty="0">
                <a:solidFill>
                  <a:schemeClr val="tx1"/>
                </a:solidFill>
              </a:rPr>
              <a:t>Cloud Storage: </a:t>
            </a:r>
            <a:r>
              <a:rPr lang="en-US" altLang="en-US" sz="2200" dirty="0">
                <a:solidFill>
                  <a:schemeClr val="tx1"/>
                </a:solidFill>
              </a:rPr>
              <a:t>A model that allows data to be stored on remote servers accessed via the internet. </a:t>
            </a:r>
            <a:endParaRPr lang="en-US" altLang="en-US" sz="2200" dirty="0" smtClean="0">
              <a:solidFill>
                <a:schemeClr val="tx1"/>
              </a:solidFill>
            </a:endParaRPr>
          </a:p>
          <a:p>
            <a:pPr eaLnBrk="1" fontAlgn="auto" latinLnBrk="0" hangingPunct="1">
              <a:lnSpc>
                <a:spcPct val="250000"/>
              </a:lnSpc>
            </a:pPr>
            <a:r>
              <a:rPr lang="en-US" altLang="en-US" sz="2200" dirty="0" smtClean="0">
                <a:solidFill>
                  <a:schemeClr val="tx1"/>
                </a:solidFill>
              </a:rPr>
              <a:t>Key </a:t>
            </a:r>
            <a:r>
              <a:rPr lang="en-US" altLang="en-US" sz="2200" dirty="0">
                <a:solidFill>
                  <a:schemeClr val="tx1"/>
                </a:solidFill>
              </a:rPr>
              <a:t>characteristics include:</a:t>
            </a:r>
          </a:p>
          <a:p>
            <a:pPr marL="914400" lvl="1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 dirty="0">
                <a:solidFill>
                  <a:srgbClr val="FF0000"/>
                </a:solidFill>
              </a:rPr>
              <a:t>Scalability:</a:t>
            </a:r>
            <a:r>
              <a:rPr lang="en-US" altLang="en-US" sz="2200" dirty="0">
                <a:solidFill>
                  <a:schemeClr val="tx1"/>
                </a:solidFill>
              </a:rPr>
              <a:t> Easily scale storage capacity based on demand.</a:t>
            </a:r>
          </a:p>
          <a:p>
            <a:pPr marL="914400" lvl="1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 dirty="0">
                <a:solidFill>
                  <a:srgbClr val="FF0000"/>
                </a:solidFill>
              </a:rPr>
              <a:t>Cost-Effectiveness: </a:t>
            </a:r>
            <a:r>
              <a:rPr lang="en-US" altLang="en-US" sz="2200" dirty="0">
                <a:solidFill>
                  <a:schemeClr val="tx1"/>
                </a:solidFill>
              </a:rPr>
              <a:t>Pay-as-you-go pricing models reduce upfront costs.</a:t>
            </a:r>
          </a:p>
          <a:p>
            <a:pPr marL="914400" lvl="1" indent="-457200" eaLnBrk="1" fontAlgn="auto" latinLnBrk="0" hangingPunct="1">
              <a:lnSpc>
                <a:spcPct val="150000"/>
              </a:lnSpc>
              <a:buFont typeface="+mj-lt"/>
              <a:buAutoNum type="alphaLcPeriod"/>
            </a:pPr>
            <a:r>
              <a:rPr lang="en-US" altLang="en-US" sz="2200" b="1" dirty="0">
                <a:solidFill>
                  <a:srgbClr val="FF0000"/>
                </a:solidFill>
              </a:rPr>
              <a:t>Accessibility:</a:t>
            </a:r>
            <a:r>
              <a:rPr lang="en-US" altLang="en-US" sz="2200" dirty="0">
                <a:solidFill>
                  <a:schemeClr val="tx1"/>
                </a:solidFill>
              </a:rPr>
              <a:t> Data can be accessed from anywhere with an internet connection.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Types of Data Storage Solutions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35685" y="1364615"/>
            <a:ext cx="10358755" cy="5395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rabicPeriod" startAt="3"/>
            </a:pPr>
            <a:r>
              <a:rPr lang="en-US" altLang="en-US" sz="2200" b="1" dirty="0">
                <a:solidFill>
                  <a:schemeClr val="tx1"/>
                </a:solidFill>
              </a:rPr>
              <a:t>Hybrid Storage Solutions:</a:t>
            </a:r>
            <a:r>
              <a:rPr lang="en-US" altLang="en-US" sz="2200" dirty="0">
                <a:solidFill>
                  <a:schemeClr val="tx1"/>
                </a:solidFill>
              </a:rPr>
              <a:t> Combines on-premises and cloud storage, allowing organizations to leverage the benefits of both environments.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Key Considerations for Enterprise Data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35685" y="974725"/>
            <a:ext cx="10358755" cy="5785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+mj-lt"/>
              <a:buAutoNum type="arabicPeriod"/>
            </a:pPr>
            <a:r>
              <a:rPr lang="en-US" altLang="en-US" sz="1800" b="1">
                <a:solidFill>
                  <a:schemeClr val="tx1"/>
                </a:solidFill>
              </a:rPr>
              <a:t>Data Security:</a:t>
            </a:r>
          </a:p>
          <a:p>
            <a:pPr marL="457200" lvl="1" indent="0" eaLnBrk="1" fontAlgn="auto" latinLnBrk="0" hangingPunct="1">
              <a:lnSpc>
                <a:spcPct val="250000"/>
              </a:lnSpc>
              <a:buFont typeface="+mj-lt"/>
              <a:buNone/>
            </a:pPr>
            <a:r>
              <a:rPr lang="en-US" altLang="en-US" sz="1800">
                <a:solidFill>
                  <a:schemeClr val="tx1"/>
                </a:solidFill>
              </a:rPr>
              <a:t>Encryption, access controls, compliance with regulations (e.g., GDPR, HIPAA).</a:t>
            </a:r>
          </a:p>
          <a:p>
            <a:pPr marL="342900" indent="-342900" eaLnBrk="1" fontAlgn="auto" latinLnBrk="0" hangingPunct="1">
              <a:lnSpc>
                <a:spcPct val="250000"/>
              </a:lnSpc>
              <a:buFont typeface="+mj-lt"/>
              <a:buAutoNum type="arabicPeriod"/>
            </a:pPr>
            <a:r>
              <a:rPr lang="en-US" altLang="en-US" sz="1800" b="1">
                <a:solidFill>
                  <a:schemeClr val="tx1"/>
                </a:solidFill>
              </a:rPr>
              <a:t>Data Backup and Recovery:</a:t>
            </a:r>
          </a:p>
          <a:p>
            <a:pPr marL="0" indent="457200" eaLnBrk="1" fontAlgn="auto" latinLnBrk="0" hangingPunct="1">
              <a:lnSpc>
                <a:spcPct val="250000"/>
              </a:lnSpc>
              <a:buFont typeface="+mj-lt"/>
              <a:buNone/>
            </a:pPr>
            <a:r>
              <a:rPr lang="en-US" altLang="en-US" sz="1800">
                <a:solidFill>
                  <a:schemeClr val="tx1"/>
                </a:solidFill>
              </a:rPr>
              <a:t>Regular backups and disaster recovery plans.</a:t>
            </a:r>
          </a:p>
          <a:p>
            <a:pPr marL="342900" indent="-342900" eaLnBrk="1" fontAlgn="auto" latinLnBrk="0" hangingPunct="1">
              <a:lnSpc>
                <a:spcPct val="250000"/>
              </a:lnSpc>
              <a:buFont typeface="+mj-lt"/>
              <a:buAutoNum type="arabicPeriod"/>
            </a:pPr>
            <a:r>
              <a:rPr lang="en-US" altLang="en-US" sz="1800" b="1">
                <a:solidFill>
                  <a:schemeClr val="tx1"/>
                </a:solidFill>
              </a:rPr>
              <a:t>Performance and Latency:</a:t>
            </a:r>
          </a:p>
          <a:p>
            <a:pPr marL="0" indent="457200" eaLnBrk="1" fontAlgn="auto" latinLnBrk="0" hangingPunct="1">
              <a:lnSpc>
                <a:spcPct val="250000"/>
              </a:lnSpc>
              <a:buFont typeface="+mj-lt"/>
              <a:buNone/>
            </a:pPr>
            <a:r>
              <a:rPr lang="en-US" altLang="en-US" sz="1800">
                <a:solidFill>
                  <a:schemeClr val="tx1"/>
                </a:solidFill>
              </a:rPr>
              <a:t>Fast access to data for real-time processing.</a:t>
            </a:r>
          </a:p>
          <a:p>
            <a:pPr marL="342900" indent="-342900" eaLnBrk="1" fontAlgn="auto" latinLnBrk="0" hangingPunct="1">
              <a:lnSpc>
                <a:spcPct val="250000"/>
              </a:lnSpc>
              <a:buFont typeface="+mj-lt"/>
              <a:buAutoNum type="arabicPeriod"/>
            </a:pPr>
            <a:r>
              <a:rPr lang="en-US" altLang="en-US" sz="1800" b="1">
                <a:solidFill>
                  <a:schemeClr val="tx1"/>
                </a:solidFill>
              </a:rPr>
              <a:t>Data Management:</a:t>
            </a:r>
          </a:p>
          <a:p>
            <a:pPr marL="0" indent="457200" eaLnBrk="1" fontAlgn="auto" latinLnBrk="0" hangingPunct="1">
              <a:lnSpc>
                <a:spcPct val="250000"/>
              </a:lnSpc>
              <a:buFont typeface="+mj-lt"/>
              <a:buNone/>
            </a:pPr>
            <a:r>
              <a:rPr lang="en-US" altLang="en-US" sz="1800">
                <a:solidFill>
                  <a:schemeClr val="tx1"/>
                </a:solidFill>
              </a:rPr>
              <a:t>Organizing and managing data for easy retrieval.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Emerging Trends in Data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35685" y="1181735"/>
            <a:ext cx="10358755" cy="5578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+mj-lt"/>
              <a:buAutoNum type="arabicPeriod"/>
            </a:pPr>
            <a:r>
              <a:rPr lang="en-US" altLang="en-US" sz="2000" b="1">
                <a:solidFill>
                  <a:schemeClr val="tx1"/>
                </a:solidFill>
              </a:rPr>
              <a:t>Cloud Computing:</a:t>
            </a:r>
          </a:p>
          <a:p>
            <a:pPr marL="0" indent="0" eaLnBrk="1" fontAlgn="auto" latinLnBrk="0" hangingPunct="1">
              <a:lnSpc>
                <a:spcPct val="250000"/>
              </a:lnSpc>
              <a:buFont typeface="+mj-lt"/>
              <a:buNone/>
            </a:pPr>
            <a:r>
              <a:rPr lang="en-US" altLang="en-US" sz="2000">
                <a:solidFill>
                  <a:schemeClr val="tx1"/>
                </a:solidFill>
              </a:rPr>
              <a:t>Shift towards cloud-based storage solutions for flexibility and reduced costs.</a:t>
            </a:r>
          </a:p>
          <a:p>
            <a:pPr marL="342900" indent="-342900" eaLnBrk="1" fontAlgn="auto" latinLnBrk="0" hangingPunct="1">
              <a:lnSpc>
                <a:spcPct val="250000"/>
              </a:lnSpc>
              <a:buFont typeface="+mj-lt"/>
              <a:buAutoNum type="arabicPeriod" startAt="2"/>
            </a:pPr>
            <a:r>
              <a:rPr lang="en-US" altLang="en-US" sz="2000" b="1">
                <a:solidFill>
                  <a:schemeClr val="tx1"/>
                </a:solidFill>
              </a:rPr>
              <a:t>Big Data Technologies:</a:t>
            </a:r>
          </a:p>
          <a:p>
            <a:pPr marL="0" indent="0" eaLnBrk="1" fontAlgn="auto" latinLnBrk="0" hangingPunct="1">
              <a:lnSpc>
                <a:spcPct val="250000"/>
              </a:lnSpc>
              <a:buFont typeface="+mj-lt"/>
              <a:buNone/>
            </a:pPr>
            <a:r>
              <a:rPr lang="en-US" altLang="en-US" sz="2000">
                <a:solidFill>
                  <a:schemeClr val="tx1"/>
                </a:solidFill>
              </a:rPr>
              <a:t>Handling vast amounts of unstructured data (e.g., Hadoop, NoSQL).</a:t>
            </a:r>
          </a:p>
          <a:p>
            <a:pPr marL="342900" indent="-342900" eaLnBrk="1" fontAlgn="auto" latinLnBrk="0" hangingPunct="1">
              <a:lnSpc>
                <a:spcPct val="250000"/>
              </a:lnSpc>
              <a:buFont typeface="+mj-lt"/>
              <a:buAutoNum type="arabicPeriod" startAt="3"/>
            </a:pPr>
            <a:r>
              <a:rPr lang="en-US" altLang="en-US" sz="2000" b="1">
                <a:solidFill>
                  <a:schemeClr val="tx1"/>
                </a:solidFill>
              </a:rPr>
              <a:t>Artificial Intelligence and Machine Learning:</a:t>
            </a:r>
          </a:p>
          <a:p>
            <a:pPr marL="0" indent="0" eaLnBrk="1" fontAlgn="auto" latinLnBrk="0" hangingPunct="1">
              <a:lnSpc>
                <a:spcPct val="250000"/>
              </a:lnSpc>
              <a:buFont typeface="+mj-lt"/>
              <a:buNone/>
            </a:pPr>
            <a:r>
              <a:rPr lang="en-US" altLang="en-US" sz="2000">
                <a:solidFill>
                  <a:schemeClr val="tx1"/>
                </a:solidFill>
              </a:rPr>
              <a:t>Enhancing data management and automating processes.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Best Practices for Implementing Enterprise Data Storage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911712728"/>
              </p:ext>
            </p:extLst>
          </p:nvPr>
        </p:nvGraphicFramePr>
        <p:xfrm>
          <a:off x="286385" y="1695450"/>
          <a:ext cx="11663680" cy="4290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Direct Attached Storage (DAS)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35685" y="1181735"/>
            <a:ext cx="10358755" cy="5578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000" b="1" dirty="0">
                <a:solidFill>
                  <a:schemeClr val="tx1"/>
                </a:solidFill>
              </a:rPr>
              <a:t>Definition of Direct Attached Storage (DAS):</a:t>
            </a:r>
          </a:p>
          <a:p>
            <a:pPr marL="0" indent="0" eaLnBrk="1" fontAlgn="auto" latinLnBrk="0" hangingPunct="1">
              <a:lnSpc>
                <a:spcPct val="250000"/>
              </a:lnSpc>
              <a:buFont typeface="+mj-lt"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Direct Attached Storage (DAS) refers to </a:t>
            </a:r>
            <a:r>
              <a:rPr lang="en-US" altLang="en-US" sz="2000" b="1" dirty="0">
                <a:solidFill>
                  <a:srgbClr val="FF0000"/>
                </a:solidFill>
              </a:rPr>
              <a:t>storage devices that are directly connected</a:t>
            </a:r>
            <a:r>
              <a:rPr lang="en-US" altLang="en-US" sz="2000" dirty="0">
                <a:solidFill>
                  <a:schemeClr val="tx1"/>
                </a:solidFill>
              </a:rPr>
              <a:t> to a computer or server without a network in between.</a:t>
            </a:r>
          </a:p>
          <a:p>
            <a:pPr marL="342900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</a:rPr>
              <a:t>Examples:</a:t>
            </a:r>
          </a:p>
          <a:p>
            <a:pPr marL="0" indent="0" eaLnBrk="1" fontAlgn="auto" latinLnBrk="0" hangingPunct="1">
              <a:lnSpc>
                <a:spcPct val="250000"/>
              </a:lnSpc>
              <a:buFont typeface="+mj-lt"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Hard drives, solid-state drives, and external storage devices that connect via USB, SATA, or SCSI interfaces.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Direct Attached Storage (DAS)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35685" y="1181735"/>
            <a:ext cx="10358755" cy="5578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50000"/>
              </a:lnSpc>
              <a:buFont typeface="Wingdings" panose="05000000000000000000" charset="0"/>
              <a:buNone/>
            </a:pPr>
            <a:endParaRPr lang="en-US" altLang="en-US" sz="2000">
              <a:solidFill>
                <a:schemeClr val="tx1"/>
              </a:solidFill>
            </a:endParaRPr>
          </a:p>
        </p:txBody>
      </p:sp>
      <p:pic>
        <p:nvPicPr>
          <p:cNvPr id="4" name="Picture 3" descr="DAS"/>
          <p:cNvPicPr>
            <a:picLocks noChangeAspect="1"/>
          </p:cNvPicPr>
          <p:nvPr/>
        </p:nvPicPr>
        <p:blipFill>
          <a:blip r:embed="rId2"/>
          <a:srcRect l="20577" r="20304"/>
          <a:stretch>
            <a:fillRect/>
          </a:stretch>
        </p:blipFill>
        <p:spPr>
          <a:xfrm>
            <a:off x="1826260" y="1359535"/>
            <a:ext cx="9108440" cy="49771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Direct Attached Storage (DAS)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35685" y="1181735"/>
            <a:ext cx="10358755" cy="5578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000" b="1">
                <a:solidFill>
                  <a:schemeClr val="tx1"/>
                </a:solidFill>
              </a:rPr>
              <a:t>Characteristics of DAS: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000" b="1">
                <a:solidFill>
                  <a:srgbClr val="FF0000"/>
                </a:solidFill>
              </a:rPr>
              <a:t>Connection:</a:t>
            </a:r>
            <a:r>
              <a:rPr lang="en-US" altLang="en-US" sz="2000">
                <a:solidFill>
                  <a:schemeClr val="tx1"/>
                </a:solidFill>
              </a:rPr>
              <a:t> Directly attached to a single server or workstation.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000" b="1">
                <a:solidFill>
                  <a:srgbClr val="FF0000"/>
                </a:solidFill>
              </a:rPr>
              <a:t>Performance:</a:t>
            </a:r>
            <a:r>
              <a:rPr lang="en-US" altLang="en-US" sz="2000">
                <a:solidFill>
                  <a:schemeClr val="tx1"/>
                </a:solidFill>
              </a:rPr>
              <a:t> Typically offers high-speed data access due to the direct connection.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000" b="1">
                <a:solidFill>
                  <a:srgbClr val="FF0000"/>
                </a:solidFill>
              </a:rPr>
              <a:t>Simplicity:</a:t>
            </a:r>
            <a:r>
              <a:rPr lang="en-US" altLang="en-US" sz="2000">
                <a:solidFill>
                  <a:schemeClr val="tx1"/>
                </a:solidFill>
              </a:rPr>
              <a:t> Easy to set up and manage, as it does not require complex networking configurations.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000" b="1">
                <a:solidFill>
                  <a:srgbClr val="FF0000"/>
                </a:solidFill>
              </a:rPr>
              <a:t>Cost-Effectiveness:</a:t>
            </a:r>
            <a:r>
              <a:rPr lang="en-US" altLang="en-US" sz="2000">
                <a:solidFill>
                  <a:schemeClr val="tx1"/>
                </a:solidFill>
              </a:rPr>
              <a:t> Generally less expensive than networked storage solutions, making it a budget-friendly option for small to medium-sized businesses.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Direct Attached Storage (DAS)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35685" y="1181735"/>
            <a:ext cx="10358755" cy="5578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200" b="1">
                <a:solidFill>
                  <a:schemeClr val="tx1"/>
                </a:solidFill>
              </a:rPr>
              <a:t>Types of DAS: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Internal Storage:</a:t>
            </a:r>
            <a:r>
              <a:rPr lang="en-US" altLang="en-US" sz="2200">
                <a:solidFill>
                  <a:schemeClr val="tx1"/>
                </a:solidFill>
              </a:rPr>
              <a:t> Hard drives or SSDs installed within the computer or server.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External Storage:</a:t>
            </a:r>
            <a:r>
              <a:rPr lang="en-US" altLang="en-US" sz="2200">
                <a:solidFill>
                  <a:schemeClr val="tx1"/>
                </a:solidFill>
              </a:rPr>
              <a:t> Standalone devices connected via USB, Thunderbolt, or other interfaces, allowing for easy portability and additional storage capacity.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Direct Attached Storage (DAS)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35685" y="974725"/>
            <a:ext cx="11022965" cy="5785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200" b="1">
                <a:solidFill>
                  <a:schemeClr val="tx1"/>
                </a:solidFill>
              </a:rPr>
              <a:t>Advantages of DAS: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High Performance:</a:t>
            </a:r>
            <a:r>
              <a:rPr lang="en-US" altLang="en-US" sz="2200">
                <a:solidFill>
                  <a:schemeClr val="tx1"/>
                </a:solidFill>
              </a:rPr>
              <a:t> Low latency and high throughput due to direct connections.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Ease of Use:</a:t>
            </a:r>
            <a:r>
              <a:rPr lang="en-US" altLang="en-US" sz="2200">
                <a:solidFill>
                  <a:schemeClr val="tx1"/>
                </a:solidFill>
              </a:rPr>
              <a:t> Simple installation and management without the need for network configuration.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Cost-Effective: </a:t>
            </a:r>
            <a:r>
              <a:rPr lang="en-US" altLang="en-US" sz="2200">
                <a:solidFill>
                  <a:schemeClr val="tx1"/>
                </a:solidFill>
              </a:rPr>
              <a:t>Lower initial investment compared to networked storage solutions.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Data Security:</a:t>
            </a:r>
            <a:r>
              <a:rPr lang="en-US" altLang="en-US" sz="2200">
                <a:solidFill>
                  <a:schemeClr val="tx1"/>
                </a:solidFill>
              </a:rPr>
              <a:t> Data is stored locally, reducing exposure to network vulnerabilities.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Direct Attached Storage (DAS)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90295" y="898525"/>
            <a:ext cx="10991215" cy="5785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200" b="1">
                <a:solidFill>
                  <a:schemeClr val="tx1"/>
                </a:solidFill>
              </a:rPr>
              <a:t> Disadvantages of DAS: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Limited Scalability:</a:t>
            </a:r>
            <a:r>
              <a:rPr lang="en-US" altLang="en-US" sz="2200">
                <a:solidFill>
                  <a:schemeClr val="tx1"/>
                </a:solidFill>
              </a:rPr>
              <a:t> Adding more storage requires physical installation of additional devices, which can be cumbersome.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Single Point of Failure:</a:t>
            </a:r>
            <a:r>
              <a:rPr lang="en-US" altLang="en-US" sz="2200">
                <a:solidFill>
                  <a:schemeClr val="tx1"/>
                </a:solidFill>
              </a:rPr>
              <a:t> If the attached device fails, data may be lost unless backed up elsewhere.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Limited Accessibility:</a:t>
            </a:r>
            <a:r>
              <a:rPr lang="en-US" altLang="en-US" sz="2200">
                <a:solidFill>
                  <a:schemeClr val="tx1"/>
                </a:solidFill>
              </a:rPr>
              <a:t> Data is only accessible from the connected server or workstation, making it less suitable for collaborative environments.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Direct Attached Storage (DAS)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0915" y="897890"/>
            <a:ext cx="10979150" cy="5785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200" b="1">
                <a:solidFill>
                  <a:schemeClr val="tx1"/>
                </a:solidFill>
              </a:rPr>
              <a:t>Use Cases for DAS: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Personal Computing:</a:t>
            </a:r>
            <a:r>
              <a:rPr lang="en-US" altLang="en-US" sz="2200">
                <a:solidFill>
                  <a:schemeClr val="tx1"/>
                </a:solidFill>
              </a:rPr>
              <a:t> Ideal for individual users needing additional storage for files, media, and applications.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Small Businesses:</a:t>
            </a:r>
            <a:r>
              <a:rPr lang="en-US" altLang="en-US" sz="2200">
                <a:solidFill>
                  <a:schemeClr val="tx1"/>
                </a:solidFill>
              </a:rPr>
              <a:t> Suitable for businesses with limited data storage needs that do not require complex networking.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200" b="1">
                <a:solidFill>
                  <a:srgbClr val="FF0000"/>
                </a:solidFill>
              </a:rPr>
              <a:t>Backup Solutions:</a:t>
            </a:r>
            <a:r>
              <a:rPr lang="en-US" altLang="en-US" sz="2200">
                <a:solidFill>
                  <a:schemeClr val="tx1"/>
                </a:solidFill>
              </a:rPr>
              <a:t> Often used for local backups due to its simplicity and cost-effectiveness.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Storage Area Network (SAN)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0915" y="974090"/>
            <a:ext cx="10979150" cy="5709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200" b="1">
                <a:solidFill>
                  <a:schemeClr val="tx1"/>
                </a:solidFill>
              </a:rPr>
              <a:t>Definition of Storage Area Network (SAN):</a:t>
            </a:r>
          </a:p>
          <a:p>
            <a:pPr marL="342900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</a:rPr>
              <a:t>A Storage Area Network (SAN) is a dedicated network that </a:t>
            </a:r>
            <a:r>
              <a:rPr lang="en-US" altLang="en-US" sz="2200" b="1">
                <a:solidFill>
                  <a:srgbClr val="FF0000"/>
                </a:solidFill>
              </a:rPr>
              <a:t>provides access to consolidated block-level storage</a:t>
            </a:r>
            <a:r>
              <a:rPr lang="en-US" altLang="en-US" sz="2200">
                <a:solidFill>
                  <a:schemeClr val="tx1"/>
                </a:solidFill>
              </a:rPr>
              <a:t>, allowing multiple servers to access shared storage resources.</a:t>
            </a:r>
          </a:p>
          <a:p>
            <a:pPr marL="342900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</a:rPr>
              <a:t>SANs are designed to </a:t>
            </a:r>
            <a:r>
              <a:rPr lang="en-US" altLang="en-US" sz="2200" b="1">
                <a:solidFill>
                  <a:srgbClr val="FF0000"/>
                </a:solidFill>
              </a:rPr>
              <a:t>enhance storage devices' performance and availability</a:t>
            </a:r>
            <a:r>
              <a:rPr lang="en-US" altLang="en-US" sz="2200">
                <a:solidFill>
                  <a:schemeClr val="tx1"/>
                </a:solidFill>
              </a:rPr>
              <a:t>, making them ideal for enterprise environments.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3200" b="1" dirty="0"/>
              <a:t>Storage Area Network (SAN)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0915" y="974090"/>
            <a:ext cx="10979150" cy="5709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50000"/>
              </a:lnSpc>
              <a:buFont typeface="Wingdings" panose="05000000000000000000" charset="0"/>
              <a:buNone/>
            </a:pPr>
            <a:endParaRPr lang="en-US" altLang="en-US" sz="2200">
              <a:solidFill>
                <a:schemeClr val="tx1"/>
              </a:solidFill>
            </a:endParaRPr>
          </a:p>
        </p:txBody>
      </p:sp>
      <p:pic>
        <p:nvPicPr>
          <p:cNvPr id="4" name="Picture 3" descr="S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390" y="259715"/>
            <a:ext cx="5389245" cy="64230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Storage Area Network (SAN)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57225" y="908685"/>
            <a:ext cx="11292840" cy="5709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Characteristics of SAN: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High-Speed Connectivity: </a:t>
            </a:r>
            <a:r>
              <a:rPr lang="en-US" altLang="en-US" sz="2100">
                <a:solidFill>
                  <a:schemeClr val="tx1"/>
                </a:solidFill>
              </a:rPr>
              <a:t>Utilizes high-speed network technologies (e.g., Fibre Channel, iSCSI) to connect servers and storage devices, ensuring low latency and high throughput.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Block-Level Storage: </a:t>
            </a:r>
            <a:r>
              <a:rPr lang="en-US" altLang="en-US" sz="2100">
                <a:solidFill>
                  <a:schemeClr val="tx1"/>
                </a:solidFill>
              </a:rPr>
              <a:t>Provides storage at the block level, allowing for more efficient data management and performance compared to file-level storage.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Scalability:</a:t>
            </a:r>
            <a:r>
              <a:rPr lang="en-US" altLang="en-US" sz="2100">
                <a:solidFill>
                  <a:schemeClr val="tx1"/>
                </a:solidFill>
              </a:rPr>
              <a:t> Easily scalable to accommodate growing storage needs by adding more storage devices or servers without significant disruption.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Storage Area Network (SAN)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85825" y="908685"/>
            <a:ext cx="10911840" cy="5709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Components of a SAN: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Storage Devices: </a:t>
            </a:r>
            <a:r>
              <a:rPr lang="en-US" altLang="en-US" sz="2100">
                <a:solidFill>
                  <a:schemeClr val="tx1"/>
                </a:solidFill>
              </a:rPr>
              <a:t>Disk arrays or tape libraries that store data.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Switches:</a:t>
            </a:r>
            <a:r>
              <a:rPr lang="en-US" altLang="en-US" sz="2100">
                <a:solidFill>
                  <a:schemeClr val="tx1"/>
                </a:solidFill>
              </a:rPr>
              <a:t> Network switches that connect servers to storage devices, facilitating data transfer.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Host Bus Adapters (HBAs):</a:t>
            </a:r>
            <a:r>
              <a:rPr lang="en-US" altLang="en-US" sz="2100">
                <a:solidFill>
                  <a:schemeClr val="tx1"/>
                </a:solidFill>
              </a:rPr>
              <a:t> Interface cards installed in servers to connect to the SAN.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Management Software:</a:t>
            </a:r>
            <a:r>
              <a:rPr lang="en-US" altLang="en-US" sz="2100">
                <a:solidFill>
                  <a:schemeClr val="tx1"/>
                </a:solidFill>
              </a:rPr>
              <a:t> Tools for monitoring, managing, and configuring the SAN environment.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Storage Area Network (SAN)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05180" y="908685"/>
            <a:ext cx="11208385" cy="5709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Advantages of SAN: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Performance:</a:t>
            </a:r>
            <a:r>
              <a:rPr lang="en-US" altLang="en-US" sz="2100">
                <a:solidFill>
                  <a:schemeClr val="tx1"/>
                </a:solidFill>
              </a:rPr>
              <a:t> High-speed data transfer rates and low latency improve application performance, especially for data-intensive applications.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Centralized Storage Management:</a:t>
            </a:r>
            <a:r>
              <a:rPr lang="en-US" altLang="en-US" sz="2100">
                <a:solidFill>
                  <a:schemeClr val="tx1"/>
                </a:solidFill>
              </a:rPr>
              <a:t> Simplifies storage management by consolidating storage resources, making it easier to allocate and manage storage.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Flexibility:</a:t>
            </a:r>
            <a:r>
              <a:rPr lang="en-US" altLang="en-US" sz="2100">
                <a:solidFill>
                  <a:schemeClr val="tx1"/>
                </a:solidFill>
              </a:rPr>
              <a:t> Allows for the use of various storage technologies and configurations, adapting to different business needs.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Storage Area Network (SAN)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05180" y="908685"/>
            <a:ext cx="11208385" cy="5709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Disadvantages of SAN: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Complexity:</a:t>
            </a:r>
            <a:r>
              <a:rPr lang="en-US" altLang="en-US" sz="2100">
                <a:solidFill>
                  <a:schemeClr val="tx1"/>
                </a:solidFill>
              </a:rPr>
              <a:t> SANs can be complex to design, implement, and manage, requiring specialized knowledge and skills.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Cost: </a:t>
            </a:r>
            <a:r>
              <a:rPr lang="en-US" altLang="en-US" sz="2100">
                <a:solidFill>
                  <a:schemeClr val="tx1"/>
                </a:solidFill>
              </a:rPr>
              <a:t>Higher initial investment compared to simpler storage solutions like Direct Attached Storage (DAS) or Network Attached Storage (NAS).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Maintenance:</a:t>
            </a:r>
            <a:r>
              <a:rPr lang="en-US" altLang="en-US" sz="2100">
                <a:solidFill>
                  <a:schemeClr val="tx1"/>
                </a:solidFill>
              </a:rPr>
              <a:t> Ongoing maintenance and management can require dedicated IT resources.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390525"/>
            <a:ext cx="11663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/>
              <a:t>Storage Area Network (SAN)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05180" y="908685"/>
            <a:ext cx="10348595" cy="5709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Use Cases for SAN: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Enterprise Applications:</a:t>
            </a:r>
            <a:r>
              <a:rPr lang="en-US" altLang="en-US" sz="2100">
                <a:solidFill>
                  <a:schemeClr val="tx1"/>
                </a:solidFill>
              </a:rPr>
              <a:t> Ideal for environments with high transaction volumes, such as databases and enterprise resource planning (ERP) systems.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Virtualization:</a:t>
            </a:r>
            <a:r>
              <a:rPr lang="en-US" altLang="en-US" sz="2100">
                <a:solidFill>
                  <a:schemeClr val="tx1"/>
                </a:solidFill>
              </a:rPr>
              <a:t> Supports virtualized environments by providing shared storage for multiple virtual machines, improving resource utilization.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Data Backup and Recovery:</a:t>
            </a:r>
            <a:r>
              <a:rPr lang="en-US" altLang="en-US" sz="2100">
                <a:solidFill>
                  <a:schemeClr val="tx1"/>
                </a:solidFill>
              </a:rPr>
              <a:t> Facilitates efficient backup and recovery processes through centralized storage management and data protection features.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227330"/>
            <a:ext cx="11663680" cy="993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 smtClean="0">
                <a:sym typeface="+mn-ea"/>
              </a:rPr>
              <a:t>Network Attached Storage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805180" y="1049655"/>
            <a:ext cx="10348595" cy="5568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Definition of Network Attached Storage (NAS):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Network Attached Storage (NAS) is a dedicated file storage device that </a:t>
            </a:r>
            <a:r>
              <a:rPr lang="en-US" altLang="en-US" sz="2100" b="1">
                <a:solidFill>
                  <a:srgbClr val="FF0000"/>
                </a:solidFill>
              </a:rPr>
              <a:t>provides data access to a network of clients</a:t>
            </a:r>
            <a:r>
              <a:rPr lang="en-US" altLang="en-US" sz="2100">
                <a:solidFill>
                  <a:schemeClr val="tx1"/>
                </a:solidFill>
              </a:rPr>
              <a:t>. It allows multiple users and devices to retrieve and store data from a centralized location over a network.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NAS </a:t>
            </a:r>
            <a:r>
              <a:rPr lang="en-US" altLang="en-US" sz="2100" b="1">
                <a:solidFill>
                  <a:srgbClr val="FF0000"/>
                </a:solidFill>
              </a:rPr>
              <a:t>operates on standard network protocols</a:t>
            </a:r>
            <a:r>
              <a:rPr lang="en-US" altLang="en-US" sz="2100">
                <a:solidFill>
                  <a:schemeClr val="tx1"/>
                </a:solidFill>
              </a:rPr>
              <a:t>, making it accessible to various operating systems and devices.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227330"/>
            <a:ext cx="11663680" cy="993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 smtClean="0">
                <a:sym typeface="+mn-ea"/>
              </a:rPr>
              <a:t>Network Attached Storage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805180" y="1049655"/>
            <a:ext cx="10348595" cy="5568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50000"/>
              </a:lnSpc>
              <a:buFont typeface="Wingdings" panose="05000000000000000000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  <p:pic>
        <p:nvPicPr>
          <p:cNvPr id="4" name="Picture 3" descr="n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895" y="1400810"/>
            <a:ext cx="5944235" cy="52933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 smtClean="0">
                <a:sym typeface="+mn-ea"/>
              </a:rPr>
              <a:t>Network Attached Storage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087755" y="1100455"/>
            <a:ext cx="10066020" cy="551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Characteristics of NAS: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File-Level Storage:</a:t>
            </a:r>
            <a:r>
              <a:rPr lang="en-US" altLang="en-US" sz="2100" b="1">
                <a:solidFill>
                  <a:schemeClr val="tx1"/>
                </a:solidFill>
              </a:rPr>
              <a:t> </a:t>
            </a:r>
            <a:r>
              <a:rPr lang="en-US" altLang="en-US" sz="2100">
                <a:solidFill>
                  <a:schemeClr val="tx1"/>
                </a:solidFill>
              </a:rPr>
              <a:t>Unlike block-level storage (e.g., SAN), NAS provides file-level access, allowing users to store and retrieve files using standard file-sharing protocols (e.g., NFS, SMB/CIFS).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Network Connectivity:</a:t>
            </a:r>
            <a:r>
              <a:rPr lang="en-US" altLang="en-US" sz="2100">
                <a:solidFill>
                  <a:schemeClr val="tx1"/>
                </a:solidFill>
              </a:rPr>
              <a:t> NAS devices connect to a local area network (LAN) via Ethernet, enabling easy access from multiple devices.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User -Friendly Interface: </a:t>
            </a:r>
            <a:r>
              <a:rPr lang="en-US" altLang="en-US" sz="2100">
                <a:solidFill>
                  <a:schemeClr val="tx1"/>
                </a:solidFill>
              </a:rPr>
              <a:t>Many NAS systems come with web-based interfaces for easy configuration and management.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 smtClean="0">
                <a:sym typeface="+mn-ea"/>
              </a:rPr>
              <a:t>Network Attached Storage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087755" y="1100455"/>
            <a:ext cx="10066020" cy="551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Components of NAS: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Storage Drives:</a:t>
            </a:r>
            <a:r>
              <a:rPr lang="en-US" altLang="en-US" sz="2100">
                <a:solidFill>
                  <a:schemeClr val="tx1"/>
                </a:solidFill>
              </a:rPr>
              <a:t> Typically consists of multiple hard drives or SSDs configured in RAID for redundancy and performance.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Network Interface: </a:t>
            </a:r>
            <a:r>
              <a:rPr lang="en-US" altLang="en-US" sz="2100">
                <a:solidFill>
                  <a:schemeClr val="tx1"/>
                </a:solidFill>
              </a:rPr>
              <a:t>Ethernet ports for connecting to the network.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Operating System:</a:t>
            </a:r>
            <a:r>
              <a:rPr lang="en-US" altLang="en-US" sz="2100">
                <a:solidFill>
                  <a:schemeClr val="tx1"/>
                </a:solidFill>
              </a:rPr>
              <a:t> A specialized OS that manages storage, file sharing, and user access.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Management Software:</a:t>
            </a:r>
            <a:r>
              <a:rPr lang="en-US" altLang="en-US" sz="2100">
                <a:solidFill>
                  <a:schemeClr val="tx1"/>
                </a:solidFill>
              </a:rPr>
              <a:t> Tools for monitoring performance, managing users, and configuring settings.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 smtClean="0">
                <a:sym typeface="+mn-ea"/>
              </a:rPr>
              <a:t>Network Attached Storage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087755" y="991235"/>
            <a:ext cx="10066020" cy="5626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Advantages of NAS: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Centralized Storage:</a:t>
            </a:r>
            <a:r>
              <a:rPr lang="en-US" altLang="en-US" sz="2100">
                <a:solidFill>
                  <a:schemeClr val="tx1"/>
                </a:solidFill>
              </a:rPr>
              <a:t> Provides a single location for data storage, making it easier to manage and back up data.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Scalability:</a:t>
            </a:r>
            <a:r>
              <a:rPr lang="en-US" altLang="en-US" sz="2100">
                <a:solidFill>
                  <a:schemeClr val="tx1"/>
                </a:solidFill>
              </a:rPr>
              <a:t> Easily expandable by adding more drives or additional NAS units to the network.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Accessibility:</a:t>
            </a:r>
            <a:r>
              <a:rPr lang="en-US" altLang="en-US" sz="2100">
                <a:solidFill>
                  <a:schemeClr val="tx1"/>
                </a:solidFill>
              </a:rPr>
              <a:t> Allows access to files from any device on the network, including computers, tablets, and smartphones.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Cost-Effective:</a:t>
            </a:r>
            <a:r>
              <a:rPr lang="en-US" altLang="en-US" sz="2100">
                <a:solidFill>
                  <a:schemeClr val="tx1"/>
                </a:solidFill>
              </a:rPr>
              <a:t> Generally more affordable than SAN solutions, making it suitable for small to medium-sized businesses and home users.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 smtClean="0">
                <a:sym typeface="+mn-ea"/>
              </a:rPr>
              <a:t>Network Attached Storage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087755" y="1100455"/>
            <a:ext cx="10066020" cy="551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Disadvantages of NAS: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Performance Limitations:</a:t>
            </a:r>
            <a:r>
              <a:rPr lang="en-US" altLang="en-US" sz="2100">
                <a:solidFill>
                  <a:schemeClr val="tx1"/>
                </a:solidFill>
              </a:rPr>
              <a:t> May not provide the same performance as SANs for high-demand applications due to file-level access.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Network Dependency: </a:t>
            </a:r>
            <a:r>
              <a:rPr lang="en-US" altLang="en-US" sz="2100">
                <a:solidFill>
                  <a:schemeClr val="tx1"/>
                </a:solidFill>
              </a:rPr>
              <a:t>Performance is dependent on network speed and reliability; a slow network can lead to bottlenecks.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Limited Advanced Features:</a:t>
            </a:r>
            <a:r>
              <a:rPr lang="en-US" altLang="en-US" sz="2100">
                <a:solidFill>
                  <a:schemeClr val="tx1"/>
                </a:solidFill>
              </a:rPr>
              <a:t> While NAS devices offer basic data protection features, they may lack the advanced capabilities found in SANs, such as block-level storage and extensive redundancy options.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 smtClean="0">
                <a:sym typeface="+mn-ea"/>
              </a:rPr>
              <a:t>Network Attached Storage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087755" y="1035050"/>
            <a:ext cx="10066020" cy="5582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Use Cases for NAS: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File Sharing:</a:t>
            </a:r>
            <a:r>
              <a:rPr lang="en-US" altLang="en-US" sz="2100">
                <a:solidFill>
                  <a:schemeClr val="tx1"/>
                </a:solidFill>
              </a:rPr>
              <a:t> Ideal for environments where multiple users need to access and share files, such as offices and collaborative workspaces.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Backup Solutions:</a:t>
            </a:r>
            <a:r>
              <a:rPr lang="en-US" altLang="en-US" sz="2100">
                <a:solidFill>
                  <a:schemeClr val="tx1"/>
                </a:solidFill>
              </a:rPr>
              <a:t> Commonly used for centralized backups of data from multiple devices, providing a simple and efficient backup solution.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Media Streaming:</a:t>
            </a:r>
            <a:r>
              <a:rPr lang="en-US" altLang="en-US" sz="2100">
                <a:solidFill>
                  <a:schemeClr val="tx1"/>
                </a:solidFill>
              </a:rPr>
              <a:t> Suitable for storing and streaming media files (e.g., videos, music) to various devices within a home or office network.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Virtualization:</a:t>
            </a:r>
            <a:r>
              <a:rPr lang="en-US" altLang="en-US" sz="2100">
                <a:solidFill>
                  <a:schemeClr val="tx1"/>
                </a:solidFill>
              </a:rPr>
              <a:t> Can be used in virtualized environments for storing virtual machine images and data.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Data Storage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329690"/>
            <a:ext cx="10066020" cy="5288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Definition of Data Storage Management: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Data Storage Management refers to the </a:t>
            </a:r>
            <a:r>
              <a:rPr lang="en-US" altLang="en-US" sz="2100" b="1">
                <a:solidFill>
                  <a:srgbClr val="FF0000"/>
                </a:solidFill>
              </a:rPr>
              <a:t>processes and technologies used to manage data storage resources effectively</a:t>
            </a:r>
            <a:r>
              <a:rPr lang="en-US" altLang="en-US" sz="2100">
                <a:solidFill>
                  <a:schemeClr val="tx1"/>
                </a:solidFill>
              </a:rPr>
              <a:t>. 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It encompasses the organization, storage, retrieval, and protection of data across various storage systems.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Data Storage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329690"/>
            <a:ext cx="10066020" cy="5288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50000"/>
              </a:lnSpc>
              <a:buFont typeface="Wingdings" panose="05000000000000000000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  <p:pic>
        <p:nvPicPr>
          <p:cNvPr id="4" name="Picture 3" descr="ds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470" y="1406525"/>
            <a:ext cx="6012180" cy="52108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Data Storage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264285"/>
            <a:ext cx="10066020" cy="4775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File-Based Storage Management: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Definition:</a:t>
            </a:r>
            <a:r>
              <a:rPr lang="en-US" altLang="en-US" sz="2100">
                <a:solidFill>
                  <a:schemeClr val="tx1"/>
                </a:solidFill>
              </a:rPr>
              <a:t> Involves managing data stored in files, typically organized in a hierarchical structure (directories and subdirectories).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Characteristics: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Simple organization of data.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Commonly used in personal computing and small business environments.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Examples:</a:t>
            </a:r>
            <a:r>
              <a:rPr lang="en-US" altLang="en-US" sz="2100">
                <a:solidFill>
                  <a:schemeClr val="tx1"/>
                </a:solidFill>
              </a:rPr>
              <a:t> Network Attached Storage (NAS) systems that allow file sharing across a network.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Data Storage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176655"/>
            <a:ext cx="10066020" cy="4775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190000"/>
              </a:lnSpc>
              <a:buFont typeface="+mj-lt"/>
              <a:buAutoNum type="arabicPeriod" startAt="2"/>
            </a:pPr>
            <a:r>
              <a:rPr lang="en-US" altLang="en-US" sz="2100" b="1">
                <a:solidFill>
                  <a:srgbClr val="FF0000"/>
                </a:solidFill>
              </a:rPr>
              <a:t>Block-Based Storage Management:</a:t>
            </a:r>
          </a:p>
          <a:p>
            <a:pPr marL="342900" indent="-342900" eaLnBrk="1" fontAlgn="auto" latinLnBrk="0" hangingPunct="1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Definition: </a:t>
            </a:r>
            <a:r>
              <a:rPr lang="en-US" altLang="en-US" sz="2100">
                <a:solidFill>
                  <a:schemeClr val="tx1"/>
                </a:solidFill>
              </a:rPr>
              <a:t>Manages data in fixed-size blocks, allowing for high-performance access and manipulation.</a:t>
            </a:r>
          </a:p>
          <a:p>
            <a:pPr marL="342900" indent="-342900" eaLnBrk="1" fontAlgn="auto" latinLnBrk="0" hangingPunct="1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Characteristics:</a:t>
            </a:r>
          </a:p>
          <a:p>
            <a:pPr marL="800100" lvl="1" indent="-342900" eaLnBrk="1" fontAlgn="auto" latinLnBrk="0" hangingPunct="1">
              <a:lnSpc>
                <a:spcPct val="19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Provides low-latency access to data.</a:t>
            </a:r>
          </a:p>
          <a:p>
            <a:pPr marL="800100" lvl="1" indent="-342900" eaLnBrk="1" fontAlgn="auto" latinLnBrk="0" hangingPunct="1">
              <a:lnSpc>
                <a:spcPct val="19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Suitable for applications requiring high I/O operations, such as databases and virtual machines.</a:t>
            </a:r>
          </a:p>
          <a:p>
            <a:pPr marL="342900" indent="-342900" eaLnBrk="1" fontAlgn="auto" latinLnBrk="0" hangingPunct="1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Examples:</a:t>
            </a:r>
            <a:r>
              <a:rPr lang="en-US" altLang="en-US" sz="2100">
                <a:solidFill>
                  <a:schemeClr val="tx1"/>
                </a:solidFill>
              </a:rPr>
              <a:t> Storage Area Networks (SAN) that provide block-level storage to multiple servers.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Data Storage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176655"/>
            <a:ext cx="10066020" cy="4775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3"/>
            </a:pPr>
            <a:r>
              <a:rPr lang="en-US" altLang="en-US" sz="2100" b="1">
                <a:solidFill>
                  <a:srgbClr val="FF0000"/>
                </a:solidFill>
              </a:rPr>
              <a:t>Object-Based Storage Management: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Definition:</a:t>
            </a:r>
            <a:r>
              <a:rPr lang="en-US" altLang="en-US" sz="2100">
                <a:solidFill>
                  <a:schemeClr val="tx1"/>
                </a:solidFill>
              </a:rPr>
              <a:t> Manages data as objects, which include the data itself, metadata, and a unique identifier.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Characteristics: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Highly scalable and suitable for unstructured data.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Facilitates easy access and retrieval of data through APIs.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Examples:</a:t>
            </a:r>
            <a:r>
              <a:rPr lang="en-US" altLang="en-US" sz="2100">
                <a:solidFill>
                  <a:schemeClr val="tx1"/>
                </a:solidFill>
              </a:rPr>
              <a:t> Cloud storage solutions like Amazon S3 and Google Cloud Storage.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Data Storage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176655"/>
            <a:ext cx="10066020" cy="4775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4"/>
            </a:pPr>
            <a:r>
              <a:rPr lang="en-US" altLang="en-US" sz="2100" b="1">
                <a:solidFill>
                  <a:srgbClr val="FF0000"/>
                </a:solidFill>
              </a:rPr>
              <a:t>Cloud Storage Management: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Definition:</a:t>
            </a:r>
            <a:r>
              <a:rPr lang="en-US" altLang="en-US" sz="2100">
                <a:solidFill>
                  <a:schemeClr val="tx1"/>
                </a:solidFill>
              </a:rPr>
              <a:t> Involves managing data stored in cloud environments, where data is stored on remote servers accessed via the internet.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Characteristics: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Offers scalability, flexibility, and cost-effectiveness.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Provides features like automatic backups, data redundancy, and disaster recovery.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Examples: </a:t>
            </a:r>
            <a:r>
              <a:rPr lang="en-US" altLang="en-US" sz="2100">
                <a:solidFill>
                  <a:schemeClr val="tx1"/>
                </a:solidFill>
              </a:rPr>
              <a:t>Services like Microsoft Azure, Google Cloud Platform, and Dropbox.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Data Storage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040765"/>
            <a:ext cx="10066020" cy="4775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5"/>
            </a:pPr>
            <a:r>
              <a:rPr lang="en-US" altLang="en-US" sz="2100" b="1">
                <a:solidFill>
                  <a:srgbClr val="FF0000"/>
                </a:solidFill>
              </a:rPr>
              <a:t>Hybrid Storage Management: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Definition: </a:t>
            </a:r>
            <a:r>
              <a:rPr lang="en-US" altLang="en-US" sz="2100">
                <a:solidFill>
                  <a:schemeClr val="tx1"/>
                </a:solidFill>
              </a:rPr>
              <a:t>Combines on-premises storage solutions with cloud storage, allowing organizations to leverage the benefits of both environments.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Characteristics: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Provides flexibility in data management and storage allocation.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Enables organizations to optimize costs and performance based on data access patterns.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Examples: </a:t>
            </a:r>
            <a:r>
              <a:rPr lang="en-US" altLang="en-US" sz="2100">
                <a:solidFill>
                  <a:schemeClr val="tx1"/>
                </a:solidFill>
              </a:rPr>
              <a:t>Using local storage for frequently accessed data while archiving less critical data in the cloud.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Data Storage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003935"/>
            <a:ext cx="10066020" cy="5614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Importance of Data Storage Management: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Data Accessibility:</a:t>
            </a:r>
            <a:r>
              <a:rPr lang="en-US" altLang="en-US" sz="2100">
                <a:solidFill>
                  <a:schemeClr val="tx1"/>
                </a:solidFill>
              </a:rPr>
              <a:t> Ensures that data is readily available to users and applications when needed.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Data Security:</a:t>
            </a:r>
            <a:r>
              <a:rPr lang="en-US" altLang="en-US" sz="2100">
                <a:solidFill>
                  <a:schemeClr val="tx1"/>
                </a:solidFill>
              </a:rPr>
              <a:t> Protects sensitive information from unauthorized access and breaches.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Cost Efficiency:</a:t>
            </a:r>
            <a:r>
              <a:rPr lang="en-US" altLang="en-US" sz="2100">
                <a:solidFill>
                  <a:schemeClr val="tx1"/>
                </a:solidFill>
              </a:rPr>
              <a:t> Optimizes storage resources to reduce costs associated with data storage and management.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Compliance:</a:t>
            </a:r>
            <a:r>
              <a:rPr lang="en-US" altLang="en-US" sz="2100">
                <a:solidFill>
                  <a:schemeClr val="tx1"/>
                </a:solidFill>
              </a:rPr>
              <a:t> Helps organizations adhere to regulatory requirements regarding data retention and protection.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Data Storage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101090"/>
            <a:ext cx="1006602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Key Components of Data Storage Management: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Data Classification:</a:t>
            </a:r>
            <a:r>
              <a:rPr lang="en-US" altLang="en-US" sz="2100">
                <a:solidFill>
                  <a:schemeClr val="tx1"/>
                </a:solidFill>
              </a:rPr>
              <a:t> Organizing data into categories based on its importance, sensitivity, and usage patterns. This helps in applying appropriate storage policies and access controls.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Data Backup and Recovery:</a:t>
            </a:r>
            <a:r>
              <a:rPr lang="en-US" altLang="en-US" sz="2100">
                <a:solidFill>
                  <a:schemeClr val="tx1"/>
                </a:solidFill>
              </a:rPr>
              <a:t> Implementing strategies to regularly back up data and ensure it can be restored in case of loss or corruption. This includes full, incremental, and differential backups.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Data Storage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101090"/>
            <a:ext cx="1006602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Key Components of Data Storage Management: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Data Archiving:</a:t>
            </a:r>
            <a:r>
              <a:rPr lang="en-US" altLang="en-US" sz="2100">
                <a:solidFill>
                  <a:schemeClr val="tx1"/>
                </a:solidFill>
              </a:rPr>
              <a:t> Moving infrequently accessed data to lower-cost storage solutions to free up primary storage resources while ensuring long-term retention.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Storage Tiering:</a:t>
            </a:r>
            <a:r>
              <a:rPr lang="en-US" altLang="en-US" sz="2100">
                <a:solidFill>
                  <a:schemeClr val="tx1"/>
                </a:solidFill>
              </a:rPr>
              <a:t> Utilizing different types of storage (e.g., SSDs, HDDs, cloud storage) based on performance and cost requirements. Frequently accessed data can be stored on high-performance storage, while less critical data can be moved to slower, more cost-effective options.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Data Storage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101090"/>
            <a:ext cx="1006602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Data Storage Management Strategies: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Capacity Planning:</a:t>
            </a:r>
            <a:r>
              <a:rPr lang="en-US" altLang="en-US" sz="2100">
                <a:solidFill>
                  <a:schemeClr val="tx1"/>
                </a:solidFill>
              </a:rPr>
              <a:t> Analyzing current and future storage needs to ensure adequate resources are available. This involves forecasting data growth and planning for scalability.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Performance Monitoring: </a:t>
            </a:r>
            <a:r>
              <a:rPr lang="en-US" altLang="en-US" sz="2100">
                <a:solidFill>
                  <a:schemeClr val="tx1"/>
                </a:solidFill>
              </a:rPr>
              <a:t>Continuously monitoring storage performance to identify bottlenecks and optimize resource allocation. Tools and software can help track metrics such as I/O operations, latency, and throughput.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Data Storage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101090"/>
            <a:ext cx="1006602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Data Storage Management Strategies: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Data Deduplication: </a:t>
            </a:r>
            <a:r>
              <a:rPr lang="en-US" altLang="en-US" sz="2100">
                <a:solidFill>
                  <a:schemeClr val="tx1"/>
                </a:solidFill>
              </a:rPr>
              <a:t>Reducing storage requirements by eliminating duplicate copies of data. This is particularly useful in backup and archiving processes.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Data Encryption:</a:t>
            </a:r>
            <a:r>
              <a:rPr lang="en-US" altLang="en-US" sz="2100">
                <a:solidFill>
                  <a:schemeClr val="tx1"/>
                </a:solidFill>
              </a:rPr>
              <a:t> Protecting data at rest and in transit through encryption techniques to safeguard sensitive information from unauthorized access.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File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101090"/>
            <a:ext cx="1006602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Definition of File System:</a:t>
            </a:r>
          </a:p>
          <a:p>
            <a:pPr marL="342900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A file system is a method and data structure that an </a:t>
            </a:r>
            <a:r>
              <a:rPr lang="en-US" altLang="en-US" sz="2100" b="1">
                <a:solidFill>
                  <a:srgbClr val="FF0000"/>
                </a:solidFill>
              </a:rPr>
              <a:t>operating system uses to manage files on a storage device. </a:t>
            </a:r>
            <a:endParaRPr lang="en-US" altLang="en-US" sz="2100">
              <a:solidFill>
                <a:schemeClr val="tx1"/>
              </a:solidFill>
            </a:endParaRPr>
          </a:p>
          <a:p>
            <a:pPr marL="342900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It defines how data is stored, organized, accessed, and retrieved on storage media such as hard drives, SSDs, and removable storage devices.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File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101090"/>
            <a:ext cx="1006602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50000"/>
              </a:lnSpc>
              <a:buFont typeface="Wingdings" panose="05000000000000000000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  <p:pic>
        <p:nvPicPr>
          <p:cNvPr id="4" name="Picture 3" descr="GoogleFile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15" y="1407795"/>
            <a:ext cx="9839960" cy="521081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File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101090"/>
            <a:ext cx="1006602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Purpose of File Systems:</a:t>
            </a:r>
          </a:p>
          <a:p>
            <a:pPr marL="342900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Data Organization:</a:t>
            </a:r>
            <a:r>
              <a:rPr lang="en-US" altLang="en-US" sz="2100">
                <a:solidFill>
                  <a:schemeClr val="tx1"/>
                </a:solidFill>
              </a:rPr>
              <a:t> Provides a structured way to store and organize files and directories, making it easier for users and applications to access data.</a:t>
            </a:r>
          </a:p>
          <a:p>
            <a:pPr marL="342900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Data Management: </a:t>
            </a:r>
            <a:r>
              <a:rPr lang="en-US" altLang="en-US" sz="2100">
                <a:solidFill>
                  <a:schemeClr val="tx1"/>
                </a:solidFill>
              </a:rPr>
              <a:t>Facilitates the management of file attributes, permissions, and metadata, ensuring efficient data handling.</a:t>
            </a:r>
          </a:p>
          <a:p>
            <a:pPr marL="342900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Data Access: </a:t>
            </a:r>
            <a:r>
              <a:rPr lang="en-US" altLang="en-US" sz="2100">
                <a:solidFill>
                  <a:schemeClr val="tx1"/>
                </a:solidFill>
              </a:rPr>
              <a:t>Enables users and applications to read, write, and manipulate files through a consistent interface.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File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101090"/>
            <a:ext cx="1006602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Key Components of a File System: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Files:</a:t>
            </a:r>
            <a:r>
              <a:rPr lang="en-US" altLang="en-US" sz="2100">
                <a:solidFill>
                  <a:schemeClr val="tx1"/>
                </a:solidFill>
              </a:rPr>
              <a:t> The basic unit of storage, which contains data and is identified by a unique name.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Directories: </a:t>
            </a:r>
            <a:r>
              <a:rPr lang="en-US" altLang="en-US" sz="2100">
                <a:solidFill>
                  <a:schemeClr val="tx1"/>
                </a:solidFill>
              </a:rPr>
              <a:t>Containers that hold files and other directories, allowing for hierarchical organization of data.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File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101090"/>
            <a:ext cx="1006602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Key Components of a File System: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Metadata:</a:t>
            </a:r>
            <a:r>
              <a:rPr lang="en-US" altLang="en-US" sz="2100">
                <a:solidFill>
                  <a:schemeClr val="tx1"/>
                </a:solidFill>
              </a:rPr>
              <a:t> Information about files, such as file name, size, type, creation date, modification date, and permissions.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File Allocation Table (FAT):</a:t>
            </a:r>
            <a:r>
              <a:rPr lang="en-US" altLang="en-US" sz="2100">
                <a:solidFill>
                  <a:schemeClr val="tx1"/>
                </a:solidFill>
              </a:rPr>
              <a:t> A data structure that keeps track of the allocation of disk space for files, indicating which clusters are used and which are free.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File Systems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7755" y="1101090"/>
            <a:ext cx="1006602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chemeClr val="tx1"/>
                </a:solidFill>
              </a:rPr>
              <a:t>Traditional File Systems: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FAT (File Allocation Table):</a:t>
            </a:r>
            <a:r>
              <a:rPr lang="en-US" altLang="en-US" sz="2100">
                <a:solidFill>
                  <a:schemeClr val="tx1"/>
                </a:solidFill>
              </a:rPr>
              <a:t> An older file system used in DOS and Windows, known for its simplicity and compatibility.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NTFS (New Technology File System): </a:t>
            </a:r>
            <a:r>
              <a:rPr lang="en-US" altLang="en-US" sz="2100">
                <a:solidFill>
                  <a:schemeClr val="tx1"/>
                </a:solidFill>
              </a:rPr>
              <a:t>A more advanced file system used in modern Windows operating systems, supporting large files, security features, and journaling.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HFS+ (Hierarchical File System Plus):</a:t>
            </a:r>
            <a:r>
              <a:rPr lang="en-US" altLang="en-US" sz="2100">
                <a:solidFill>
                  <a:schemeClr val="tx1"/>
                </a:solidFill>
              </a:rPr>
              <a:t> Used by macOS, supporting features like journaling and metadata.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File Systems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300000"/>
              </a:lnSpc>
              <a:buFont typeface="+mj-lt"/>
              <a:buAutoNum type="arabicPeriod" startAt="2"/>
            </a:pPr>
            <a:r>
              <a:rPr lang="en-US" altLang="en-US" sz="2100" b="1">
                <a:solidFill>
                  <a:schemeClr val="tx1"/>
                </a:solidFill>
              </a:rPr>
              <a:t>Unix/Linux File Systems: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ext3/ext4:</a:t>
            </a:r>
            <a:r>
              <a:rPr lang="en-US" altLang="en-US" sz="2100">
                <a:solidFill>
                  <a:schemeClr val="tx1"/>
                </a:solidFill>
              </a:rPr>
              <a:t> Common file systems used in Linux, with ext4 being the latest version, offering improved performance and features.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XFS:</a:t>
            </a:r>
            <a:r>
              <a:rPr lang="en-US" altLang="en-US" sz="2100">
                <a:solidFill>
                  <a:schemeClr val="tx1"/>
                </a:solidFill>
              </a:rPr>
              <a:t> A high-performance file system designed for scalability and large data sets.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File Systems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300000"/>
              </a:lnSpc>
              <a:buFont typeface="+mj-lt"/>
              <a:buAutoNum type="arabicPeriod" startAt="3"/>
            </a:pPr>
            <a:r>
              <a:rPr lang="en-US" altLang="en-US" sz="2100" b="1">
                <a:solidFill>
                  <a:schemeClr val="tx1"/>
                </a:solidFill>
              </a:rPr>
              <a:t>Distributed File Systems: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NFS (Network File System):</a:t>
            </a:r>
            <a:r>
              <a:rPr lang="en-US" altLang="en-US" sz="2100">
                <a:solidFill>
                  <a:schemeClr val="tx1"/>
                </a:solidFill>
              </a:rPr>
              <a:t> Allows file sharing over a network, enabling remote access to files.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CIFS (Common Internet File System):</a:t>
            </a:r>
            <a:r>
              <a:rPr lang="en-US" altLang="en-US" sz="2100">
                <a:solidFill>
                  <a:schemeClr val="tx1"/>
                </a:solidFill>
              </a:rPr>
              <a:t> A protocol used for sharing files and printers in Windows networks.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File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File System Operations: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File Creation:</a:t>
            </a:r>
            <a:r>
              <a:rPr lang="en-US" altLang="en-US" sz="2100">
                <a:solidFill>
                  <a:schemeClr val="tx1"/>
                </a:solidFill>
              </a:rPr>
              <a:t> The process of creating a new file and allocating space for it on the storage device.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File Reading/Writing:</a:t>
            </a:r>
            <a:r>
              <a:rPr lang="en-US" altLang="en-US" sz="2100">
                <a:solidFill>
                  <a:schemeClr val="tx1"/>
                </a:solidFill>
              </a:rPr>
              <a:t> Accessing the contents of a file for reading or modifying data.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File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File System Operations: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File Deletion: </a:t>
            </a:r>
            <a:r>
              <a:rPr lang="en-US" altLang="en-US" sz="2100">
                <a:solidFill>
                  <a:schemeClr val="tx1"/>
                </a:solidFill>
              </a:rPr>
              <a:t>Removing a file from the file system, which may involve freeing up allocated space.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File Renaming: </a:t>
            </a:r>
            <a:r>
              <a:rPr lang="en-US" altLang="en-US" sz="2100">
                <a:solidFill>
                  <a:schemeClr val="tx1"/>
                </a:solidFill>
              </a:rPr>
              <a:t>Changing the name of an existing file while maintaining its contents and attributes.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File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File System Features: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Access Control:</a:t>
            </a:r>
            <a:r>
              <a:rPr lang="en-US" altLang="en-US" sz="2100">
                <a:solidFill>
                  <a:schemeClr val="tx1"/>
                </a:solidFill>
              </a:rPr>
              <a:t> Mechanisms to define who can access or modify files, typically through permissions and user roles.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Journaling: </a:t>
            </a:r>
            <a:r>
              <a:rPr lang="en-US" altLang="en-US" sz="2100">
                <a:solidFill>
                  <a:schemeClr val="tx1"/>
                </a:solidFill>
              </a:rPr>
              <a:t>A feature that keeps a log of changes to the file system, helping to recover data in case of a crash or power failure.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File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File System Features: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Compression:</a:t>
            </a:r>
            <a:r>
              <a:rPr lang="en-US" altLang="en-US" sz="2100">
                <a:solidFill>
                  <a:schemeClr val="tx1"/>
                </a:solidFill>
              </a:rPr>
              <a:t> Reducing the size of files to save storage space, often supported by modern file systems.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Encryption:</a:t>
            </a:r>
            <a:r>
              <a:rPr lang="en-US" altLang="en-US" sz="2100">
                <a:solidFill>
                  <a:schemeClr val="tx1"/>
                </a:solidFill>
              </a:rPr>
              <a:t> Protecting files by encoding their contents, ensuring that only authorized users can access the data.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File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File System Features: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Compression:</a:t>
            </a:r>
            <a:r>
              <a:rPr lang="en-US" altLang="en-US" sz="2100">
                <a:solidFill>
                  <a:schemeClr val="tx1"/>
                </a:solidFill>
              </a:rPr>
              <a:t> Reducing the size of files to save storage space, often supported by modern file systems.</a:t>
            </a:r>
          </a:p>
          <a:p>
            <a:pPr marL="914400" lvl="1" indent="-457200" eaLnBrk="1" fontAlgn="auto" latinLnBrk="0" hangingPunct="1">
              <a:lnSpc>
                <a:spcPct val="30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Encryption:</a:t>
            </a:r>
            <a:r>
              <a:rPr lang="en-US" altLang="en-US" sz="2100">
                <a:solidFill>
                  <a:schemeClr val="tx1"/>
                </a:solidFill>
              </a:rPr>
              <a:t> Protecting files by encoding their contents, ensuring that only authorized users can access the data.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Cloud Data Stores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Definition of Cloud Data Stores:</a:t>
            </a:r>
          </a:p>
          <a:p>
            <a:pPr marL="342900" indent="-342900" eaLnBrk="1" fontAlgn="auto" latinLnBrk="0" hangingPunct="1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Cloud data stores are </a:t>
            </a:r>
            <a:r>
              <a:rPr lang="en-US" altLang="en-US" sz="2100" b="1">
                <a:solidFill>
                  <a:srgbClr val="FF0000"/>
                </a:solidFill>
              </a:rPr>
              <a:t>storage solutions that allow data to be stored, managed, and accessed over the internet </a:t>
            </a:r>
            <a:r>
              <a:rPr lang="en-US" altLang="en-US" sz="2100">
                <a:solidFill>
                  <a:schemeClr val="tx1"/>
                </a:solidFill>
              </a:rPr>
              <a:t>using cloud computing technologies. </a:t>
            </a:r>
          </a:p>
          <a:p>
            <a:pPr marL="342900" indent="-342900" eaLnBrk="1" fontAlgn="auto" latinLnBrk="0" hangingPunct="1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They provide scalable, flexible, and cost-effective options for data storage and management.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Cloud Data Stores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300000"/>
              </a:lnSpc>
              <a:buFont typeface="Wingdings" panose="05000000000000000000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  <p:pic>
        <p:nvPicPr>
          <p:cNvPr id="4" name="Picture 3" descr="c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349375"/>
            <a:ext cx="9057005" cy="51714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Cloud Data Stores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chemeClr val="tx1"/>
                </a:solidFill>
              </a:rPr>
              <a:t>Object Storage: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Definition:</a:t>
            </a:r>
            <a:r>
              <a:rPr lang="en-US" altLang="en-US" sz="2100">
                <a:solidFill>
                  <a:schemeClr val="tx1"/>
                </a:solidFill>
              </a:rPr>
              <a:t> Stores data as objects, which include the data itself, metadata, and a unique identifier.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Characteristics: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Highly scalable and suitable for unstructured data (e.g., images, videos).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Accessed via APIs, making it easy to integrate with applications.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Examples:</a:t>
            </a:r>
            <a:r>
              <a:rPr lang="en-US" altLang="en-US" sz="2100">
                <a:solidFill>
                  <a:schemeClr val="tx1"/>
                </a:solidFill>
              </a:rPr>
              <a:t> Amazon S3, Google Cloud Storage, Microsoft Azure Blob Storage.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Cloud Data Stores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2"/>
            </a:pPr>
            <a:r>
              <a:rPr lang="en-US" altLang="en-US" sz="2100" b="1">
                <a:solidFill>
                  <a:schemeClr val="tx1"/>
                </a:solidFill>
              </a:rPr>
              <a:t>Block Storage: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Definition:</a:t>
            </a:r>
            <a:r>
              <a:rPr lang="en-US" altLang="en-US" sz="2100">
                <a:solidFill>
                  <a:schemeClr val="tx1"/>
                </a:solidFill>
              </a:rPr>
              <a:t> Provides raw storage volumes that can be attached to virtual machines (VMs) and accessed as block devices.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Characteristics: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Offers low-latency access and high performance, suitable for databases and applications requiring fast I/O operations.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Allows for the creation of file systems on top of the block storage.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Examples:</a:t>
            </a:r>
            <a:r>
              <a:rPr lang="en-US" altLang="en-US" sz="2100">
                <a:solidFill>
                  <a:schemeClr val="tx1"/>
                </a:solidFill>
              </a:rPr>
              <a:t> Amazon Elastic Block Store (EBS), Google Persistent Disk, Azure Managed Disks.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Cloud Data Stores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3"/>
            </a:pPr>
            <a:r>
              <a:rPr lang="en-US" altLang="en-US" sz="2100" b="1">
                <a:solidFill>
                  <a:schemeClr val="tx1"/>
                </a:solidFill>
              </a:rPr>
              <a:t>File Storage: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Definition:</a:t>
            </a:r>
            <a:r>
              <a:rPr lang="en-US" altLang="en-US" sz="2100">
                <a:solidFill>
                  <a:schemeClr val="tx1"/>
                </a:solidFill>
              </a:rPr>
              <a:t> Provides a file system interface for storing and accessing files over the cloud.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Characteristics: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Supports file sharing and collaboration among multiple users and applications.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Typically uses standard protocols like NFS or SMB for access.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Examples:</a:t>
            </a:r>
            <a:r>
              <a:rPr lang="en-US" altLang="en-US" sz="2100">
                <a:solidFill>
                  <a:schemeClr val="tx1"/>
                </a:solidFill>
              </a:rPr>
              <a:t> Amazon Elastic File System (EFS), Google Filestore, Azure Files.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 smtClean="0">
                <a:sym typeface="+mn-ea"/>
              </a:rPr>
              <a:t>Using Grids for Data Storage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Introduction to Grid Computing: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Definition:</a:t>
            </a:r>
            <a:r>
              <a:rPr lang="en-US" altLang="en-US" sz="2100">
                <a:solidFill>
                  <a:schemeClr val="tx1"/>
                </a:solidFill>
              </a:rPr>
              <a:t> Grid computing is a distributed computing model that connects multiple computers (or nodes) to work collaboratively on a common task, sharing resources such as processing power and storage.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Purpose:</a:t>
            </a:r>
            <a:r>
              <a:rPr lang="en-US" altLang="en-US" sz="2100">
                <a:solidFill>
                  <a:schemeClr val="tx1"/>
                </a:solidFill>
              </a:rPr>
              <a:t> It aims to provide high-performance computing capabilities by pooling resources from various locations, enabling efficient data storage and processing.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 smtClean="0">
                <a:sym typeface="+mn-ea"/>
              </a:rPr>
              <a:t>Using Grids for Data Storage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Concept of Grid-Based Data Storage: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Grid Data Storage:</a:t>
            </a:r>
            <a:r>
              <a:rPr lang="en-US" altLang="en-US" sz="2100">
                <a:solidFill>
                  <a:schemeClr val="tx1"/>
                </a:solidFill>
              </a:rPr>
              <a:t> Involves using a grid computing architecture to manage and store data across multiple distributed nodes. This approach allows for efficient data management, high availability, and redundancy.</a:t>
            </a:r>
          </a:p>
          <a:p>
            <a:pPr marL="34290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Architecture:</a:t>
            </a:r>
            <a:r>
              <a:rPr lang="en-US" altLang="en-US" sz="2100">
                <a:solidFill>
                  <a:schemeClr val="tx1"/>
                </a:solidFill>
              </a:rPr>
              <a:t> Typically consists of a network of interconnected nodes (servers) that collaborate to store and process data. Each node can contribute storage capacity and processing power.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>
                <a:sym typeface="+mn-ea"/>
              </a:rPr>
              <a:t>Working of </a:t>
            </a:r>
            <a:r>
              <a:rPr lang="en-US" altLang="en-US" sz="3200" b="1" dirty="0"/>
              <a:t>Grid Computing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00000"/>
              </a:lnSpc>
              <a:buFont typeface="Wingdings" panose="05000000000000000000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  <p:pic>
        <p:nvPicPr>
          <p:cNvPr id="4" name="Picture 3" descr="grid"/>
          <p:cNvPicPr>
            <a:picLocks noChangeAspect="1"/>
          </p:cNvPicPr>
          <p:nvPr/>
        </p:nvPicPr>
        <p:blipFill>
          <a:blip r:embed="rId2"/>
          <a:srcRect t="9870"/>
          <a:stretch>
            <a:fillRect/>
          </a:stretch>
        </p:blipFill>
        <p:spPr>
          <a:xfrm>
            <a:off x="2112010" y="1384300"/>
            <a:ext cx="8273415" cy="538607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>
                <a:sym typeface="+mn-ea"/>
              </a:rPr>
              <a:t>Working of Grid Computing 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A typical grid computing network consists of three machine types: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Control node/server:</a:t>
            </a:r>
            <a:r>
              <a:rPr lang="en-US" altLang="en-US" sz="2100">
                <a:solidFill>
                  <a:schemeClr val="tx1"/>
                </a:solidFill>
              </a:rPr>
              <a:t> A control node is a server or a group of servers that administers the entire network and maintains the record for resources in a network pool.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Provider/grid node: </a:t>
            </a:r>
            <a:r>
              <a:rPr lang="en-US" altLang="en-US" sz="2100">
                <a:solidFill>
                  <a:schemeClr val="tx1"/>
                </a:solidFill>
              </a:rPr>
              <a:t>A provider or grid node is a computer that contributes its resources to the network resource pool.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User:</a:t>
            </a:r>
            <a:r>
              <a:rPr lang="en-US" altLang="en-US" sz="2100">
                <a:solidFill>
                  <a:schemeClr val="tx1"/>
                </a:solidFill>
              </a:rPr>
              <a:t> A user refers to the computer that uses the resources on the network to complete the task.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>
                <a:sym typeface="+mn-ea"/>
              </a:rPr>
              <a:t>Working of Grid Computing 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100">
                <a:solidFill>
                  <a:schemeClr val="tx1"/>
                </a:solidFill>
              </a:rPr>
              <a:t>In grid computing, each computing task is broken into small fragments and distributed across computing nodes for efficient execution. </a:t>
            </a:r>
          </a:p>
          <a:p>
            <a:pPr marL="342900" indent="-342900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  <a:sym typeface="+mn-ea"/>
              </a:rPr>
              <a:t>Let’s consider this equation:</a:t>
            </a:r>
            <a:endParaRPr lang="en-US" altLang="en-US" sz="2100">
              <a:solidFill>
                <a:schemeClr val="tx1"/>
              </a:solidFill>
            </a:endParaRPr>
          </a:p>
          <a:p>
            <a:pPr marL="457200" lvl="1" indent="457200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100" b="1">
                <a:solidFill>
                  <a:srgbClr val="FF0000"/>
                </a:solidFill>
                <a:sym typeface="+mn-ea"/>
              </a:rPr>
              <a:t>X = (4 x 7) + (3 x 9) + (2 x 5)</a:t>
            </a:r>
          </a:p>
          <a:p>
            <a:pPr marL="457200" lvl="1" indent="457200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</a:pPr>
            <a:endParaRPr lang="en-US" altLang="en-US" sz="2100">
              <a:solidFill>
                <a:srgbClr val="FF0000"/>
              </a:solidFill>
            </a:endParaRPr>
          </a:p>
          <a:p>
            <a:pPr marL="342900" indent="-342900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Typically, </a:t>
            </a:r>
            <a:r>
              <a:rPr lang="en-US" altLang="en-US" sz="2100" b="1">
                <a:solidFill>
                  <a:srgbClr val="FF0000"/>
                </a:solidFill>
              </a:rPr>
              <a:t>on a desktop computer</a:t>
            </a:r>
            <a:r>
              <a:rPr lang="en-US" altLang="en-US" sz="2100">
                <a:solidFill>
                  <a:schemeClr val="tx1"/>
                </a:solidFill>
              </a:rPr>
              <a:t>, the steps needed here to calculate the value of X may look like this:</a:t>
            </a:r>
          </a:p>
          <a:p>
            <a:pPr marL="914400" lvl="2" indent="0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100" b="1">
                <a:solidFill>
                  <a:srgbClr val="7030A0"/>
                </a:solidFill>
              </a:rPr>
              <a:t>Step 1:</a:t>
            </a:r>
            <a:r>
              <a:rPr lang="en-US" altLang="en-US" sz="2100" b="1">
                <a:solidFill>
                  <a:schemeClr val="tx1"/>
                </a:solidFill>
              </a:rPr>
              <a:t> X = 28 + (3 x 9) + (2 x 5)</a:t>
            </a:r>
          </a:p>
          <a:p>
            <a:pPr marL="914400" lvl="2" indent="0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100" b="1">
                <a:solidFill>
                  <a:srgbClr val="7030A0"/>
                </a:solidFill>
              </a:rPr>
              <a:t>Step 2:</a:t>
            </a:r>
            <a:r>
              <a:rPr lang="en-US" altLang="en-US" sz="2100" b="1">
                <a:solidFill>
                  <a:schemeClr val="tx1"/>
                </a:solidFill>
              </a:rPr>
              <a:t> X = 28 + 27 + (2 x 5)</a:t>
            </a:r>
          </a:p>
          <a:p>
            <a:pPr marL="914400" lvl="2" indent="0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100" b="1">
                <a:solidFill>
                  <a:srgbClr val="7030A0"/>
                </a:solidFill>
              </a:rPr>
              <a:t>Step 3:</a:t>
            </a:r>
            <a:r>
              <a:rPr lang="en-US" altLang="en-US" sz="2100" b="1">
                <a:solidFill>
                  <a:schemeClr val="tx1"/>
                </a:solidFill>
              </a:rPr>
              <a:t> X = 28 + 27 + 10</a:t>
            </a:r>
          </a:p>
          <a:p>
            <a:pPr marL="914400" lvl="2" indent="0" eaLnBrk="1" fontAlgn="auto" latinLnBrk="0" hangingPunct="1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100" b="1">
                <a:solidFill>
                  <a:srgbClr val="7030A0"/>
                </a:solidFill>
              </a:rPr>
              <a:t>Step 4:</a:t>
            </a:r>
            <a:r>
              <a:rPr lang="en-US" altLang="en-US" sz="2100" b="1">
                <a:solidFill>
                  <a:schemeClr val="tx1"/>
                </a:solidFill>
              </a:rPr>
              <a:t> X = 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>
                <a:sym typeface="+mn-ea"/>
              </a:rPr>
              <a:t>Working of Grid Computing 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en-US" sz="2100">
                <a:solidFill>
                  <a:schemeClr val="tx1"/>
                </a:solidFill>
              </a:rPr>
              <a:t>However, </a:t>
            </a:r>
            <a:r>
              <a:rPr lang="en-US" altLang="en-US" sz="2100" b="1">
                <a:solidFill>
                  <a:srgbClr val="FF0000"/>
                </a:solidFill>
              </a:rPr>
              <a:t>in a grid computing setup</a:t>
            </a:r>
            <a:r>
              <a:rPr lang="en-US" altLang="en-US" sz="2100">
                <a:solidFill>
                  <a:schemeClr val="tx1"/>
                </a:solidFill>
              </a:rPr>
              <a:t>, the steps are different as three processors or computers calculate different pieces of the equation separately and combine them later. </a:t>
            </a:r>
          </a:p>
          <a:p>
            <a:pPr marL="0" indent="0" eaLnBrk="1" fontAlgn="auto" latinLnBrk="0" hangingPunct="1">
              <a:lnSpc>
                <a:spcPct val="200000"/>
              </a:lnSpc>
              <a:buFont typeface="Wingdings" panose="05000000000000000000" charset="0"/>
              <a:buNone/>
            </a:pPr>
            <a:r>
              <a:rPr lang="en-US" altLang="en-US" sz="2100">
                <a:solidFill>
                  <a:schemeClr val="tx1"/>
                </a:solidFill>
              </a:rPr>
              <a:t>The steps look like this:</a:t>
            </a:r>
          </a:p>
          <a:p>
            <a:pPr marL="0" indent="0" eaLnBrk="1" fontAlgn="auto" latinLnBrk="0" hangingPunct="1">
              <a:lnSpc>
                <a:spcPct val="200000"/>
              </a:lnSpc>
              <a:buFont typeface="Wingdings" panose="05000000000000000000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7030A0"/>
                </a:solidFill>
              </a:rPr>
              <a:t>Step 1:</a:t>
            </a:r>
            <a:r>
              <a:rPr lang="en-US" altLang="en-US" sz="2100" b="1">
                <a:solidFill>
                  <a:schemeClr val="tx1"/>
                </a:solidFill>
              </a:rPr>
              <a:t> X = 28 + 27 + 10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7030A0"/>
                </a:solidFill>
              </a:rPr>
              <a:t>Step 2:</a:t>
            </a:r>
            <a:r>
              <a:rPr lang="en-US" altLang="en-US" sz="2100" b="1">
                <a:solidFill>
                  <a:schemeClr val="tx1"/>
                </a:solidFill>
              </a:rPr>
              <a:t> X = 65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Key Components of Grid Computing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00000"/>
              </a:lnSpc>
              <a:buFont typeface="Wingdings" panose="05000000000000000000" charset="0"/>
              <a:buNone/>
            </a:pPr>
            <a:endParaRPr lang="en-US" altLang="en-US" sz="2100" b="1">
              <a:solidFill>
                <a:schemeClr val="tx1"/>
              </a:solidFill>
            </a:endParaRPr>
          </a:p>
        </p:txBody>
      </p:sp>
      <p:pic>
        <p:nvPicPr>
          <p:cNvPr id="4" name="Picture 3" descr="grid comp"/>
          <p:cNvPicPr>
            <a:picLocks noChangeAspect="1"/>
          </p:cNvPicPr>
          <p:nvPr/>
        </p:nvPicPr>
        <p:blipFill>
          <a:blip r:embed="rId2"/>
          <a:srcRect t="11306" b="5287"/>
          <a:stretch>
            <a:fillRect/>
          </a:stretch>
        </p:blipFill>
        <p:spPr>
          <a:xfrm>
            <a:off x="2176780" y="1410970"/>
            <a:ext cx="7935595" cy="5207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Key Components of Grid Computing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5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User Interface:</a:t>
            </a:r>
            <a:r>
              <a:rPr lang="en-US" altLang="en-US" sz="2100">
                <a:solidFill>
                  <a:schemeClr val="tx1"/>
                </a:solidFill>
              </a:rPr>
              <a:t> Allows users to interact with the grid.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Security:</a:t>
            </a:r>
            <a:r>
              <a:rPr lang="en-US" altLang="en-US" sz="2100">
                <a:solidFill>
                  <a:schemeClr val="tx1"/>
                </a:solidFill>
              </a:rPr>
              <a:t> Ensures data protection and secure access.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Scheduler:</a:t>
            </a:r>
            <a:r>
              <a:rPr lang="en-US" altLang="en-US" sz="2100">
                <a:solidFill>
                  <a:schemeClr val="tx1"/>
                </a:solidFill>
              </a:rPr>
              <a:t> Manages and assigns tasks to resources.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Data Management:</a:t>
            </a:r>
            <a:r>
              <a:rPr lang="en-US" altLang="en-US" sz="2100">
                <a:solidFill>
                  <a:schemeClr val="tx1"/>
                </a:solidFill>
              </a:rPr>
              <a:t> Handles storage, retrieval, and processing of data.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Workload and Resource Management:</a:t>
            </a:r>
            <a:r>
              <a:rPr lang="en-US" altLang="en-US" sz="2100">
                <a:solidFill>
                  <a:schemeClr val="tx1"/>
                </a:solidFill>
              </a:rPr>
              <a:t> Optimizes resource utilization and manages the workload.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Grid Computing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50000"/>
              </a:lnSpc>
              <a:buFont typeface="Wingdings" panose="05000000000000000000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  <p:pic>
        <p:nvPicPr>
          <p:cNvPr id="4" name="Picture 3" descr="grid type"/>
          <p:cNvPicPr>
            <a:picLocks noChangeAspect="1"/>
          </p:cNvPicPr>
          <p:nvPr/>
        </p:nvPicPr>
        <p:blipFill>
          <a:blip r:embed="rId2"/>
          <a:srcRect t="8602" b="5287"/>
          <a:stretch>
            <a:fillRect/>
          </a:stretch>
        </p:blipFill>
        <p:spPr>
          <a:xfrm>
            <a:off x="2522220" y="1363345"/>
            <a:ext cx="7234555" cy="538289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Grid Computing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101090"/>
            <a:ext cx="9892030" cy="551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5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Computational Grid Computing:</a:t>
            </a:r>
            <a:r>
              <a:rPr lang="en-US" altLang="en-US" sz="2100">
                <a:solidFill>
                  <a:schemeClr val="tx1"/>
                </a:solidFill>
              </a:rPr>
              <a:t> Uses interconnected computers to solve complex problems.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Data Grid Computing:</a:t>
            </a:r>
            <a:r>
              <a:rPr lang="en-US" altLang="en-US" sz="2100">
                <a:solidFill>
                  <a:schemeClr val="tx1"/>
                </a:solidFill>
              </a:rPr>
              <a:t> Focuses on sharing and managing vast datasets across a network.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Wingdings" panose="05000000000000000000" charset="0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Collaborative Grid Computing:</a:t>
            </a:r>
            <a:r>
              <a:rPr lang="en-US" altLang="en-US" sz="2100">
                <a:solidFill>
                  <a:schemeClr val="tx1"/>
                </a:solidFill>
              </a:rPr>
              <a:t> Enables collaboration among users to solve common problems.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Grid Computing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264285"/>
            <a:ext cx="9892030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rabicPeriod" startAt="4"/>
            </a:pPr>
            <a:r>
              <a:rPr lang="en-US" altLang="en-US" sz="2100" b="1">
                <a:solidFill>
                  <a:srgbClr val="FF0000"/>
                </a:solidFill>
              </a:rPr>
              <a:t>Manuscript Grid Computing:</a:t>
            </a:r>
            <a:r>
              <a:rPr lang="en-US" altLang="en-US" sz="2100">
                <a:solidFill>
                  <a:schemeClr val="tx1"/>
                </a:solidFill>
              </a:rPr>
              <a:t> Deals with the digitization and analysis of handwritten documents.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Wingdings" panose="05000000000000000000" charset="0"/>
              <a:buAutoNum type="arabicPeriod" startAt="4"/>
            </a:pPr>
            <a:r>
              <a:rPr lang="en-US" altLang="en-US" sz="2100" b="1">
                <a:solidFill>
                  <a:srgbClr val="FF0000"/>
                </a:solidFill>
              </a:rPr>
              <a:t>Modular Grid Computing:</a:t>
            </a:r>
            <a:r>
              <a:rPr lang="en-US" altLang="en-US" sz="2100">
                <a:solidFill>
                  <a:schemeClr val="tx1"/>
                </a:solidFill>
              </a:rPr>
              <a:t> Utilizes modular components to build flexible and scalable computing systems.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Applications of Grid Computing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264285"/>
            <a:ext cx="9892030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50000"/>
              </a:lnSpc>
              <a:buFont typeface="+mj-lt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  <p:pic>
        <p:nvPicPr>
          <p:cNvPr id="4" name="Picture 3" descr="app grid"/>
          <p:cNvPicPr>
            <a:picLocks noChangeAspect="1"/>
          </p:cNvPicPr>
          <p:nvPr/>
        </p:nvPicPr>
        <p:blipFill>
          <a:blip r:embed="rId2"/>
          <a:srcRect t="9398" b="1796"/>
          <a:stretch>
            <a:fillRect/>
          </a:stretch>
        </p:blipFill>
        <p:spPr>
          <a:xfrm>
            <a:off x="2384425" y="1395730"/>
            <a:ext cx="7597775" cy="533908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Applications of Grid Computing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264285"/>
            <a:ext cx="9892030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Life science:</a:t>
            </a:r>
            <a:r>
              <a:rPr lang="en-US" altLang="en-US" sz="2100">
                <a:solidFill>
                  <a:schemeClr val="tx1"/>
                </a:solidFill>
              </a:rPr>
              <a:t> Grid computing is used to analyze large datasets of genetic information.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Engineering-oriented applications:</a:t>
            </a:r>
            <a:r>
              <a:rPr lang="en-US" altLang="en-US" sz="2100">
                <a:solidFill>
                  <a:schemeClr val="tx1"/>
                </a:solidFill>
              </a:rPr>
              <a:t> Grid computing is used to simulate complex engineering problems.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Data-oriented applications:</a:t>
            </a:r>
            <a:r>
              <a:rPr lang="en-US" altLang="en-US" sz="2100">
                <a:solidFill>
                  <a:schemeClr val="tx1"/>
                </a:solidFill>
              </a:rPr>
              <a:t> Grid computing is used to process and analyze large datasets.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Applications of Grid Computing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52525" y="1264285"/>
            <a:ext cx="9892030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rabicPeriod" startAt="4"/>
            </a:pPr>
            <a:r>
              <a:rPr lang="en-US" altLang="en-US" sz="2100" b="1">
                <a:solidFill>
                  <a:srgbClr val="FF0000"/>
                </a:solidFill>
              </a:rPr>
              <a:t>Scientific research collaboration:</a:t>
            </a:r>
            <a:r>
              <a:rPr lang="en-US" altLang="en-US" sz="2100">
                <a:solidFill>
                  <a:schemeClr val="tx1"/>
                </a:solidFill>
              </a:rPr>
              <a:t> Grid computing allows scientists to share data and resources to work together on large research projects.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rabicPeriod" startAt="4"/>
            </a:pPr>
            <a:r>
              <a:rPr lang="en-US" altLang="en-US" sz="2100" b="1">
                <a:solidFill>
                  <a:srgbClr val="FF0000"/>
                </a:solidFill>
              </a:rPr>
              <a:t>Commercial applications:</a:t>
            </a:r>
            <a:r>
              <a:rPr lang="en-US" altLang="en-US" sz="2100">
                <a:solidFill>
                  <a:schemeClr val="tx1"/>
                </a:solidFill>
              </a:rPr>
              <a:t> Grid computing is being used by businesses to improve efficiency and performance.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Cloud Storage: Data Management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chemeClr val="tx1"/>
                </a:solidFill>
              </a:rPr>
              <a:t>Cloud Storage Models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  <a:sym typeface="+mn-ea"/>
              </a:rPr>
              <a:t>File Storage: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  <a:sym typeface="+mn-ea"/>
              </a:rPr>
              <a:t>Hierarchical storage (directories and files).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  <a:sym typeface="+mn-ea"/>
              </a:rPr>
              <a:t>Suitable for shared file systems.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Examples:</a:t>
            </a:r>
            <a:r>
              <a:rPr lang="en-US" altLang="en-US" sz="2100">
                <a:solidFill>
                  <a:schemeClr val="tx1"/>
                </a:solidFill>
              </a:rPr>
              <a:t> </a:t>
            </a:r>
            <a:r>
              <a:rPr lang="en-US" altLang="en-US" sz="2100" b="1">
                <a:solidFill>
                  <a:srgbClr val="FF0000"/>
                </a:solidFill>
              </a:rPr>
              <a:t>NAS</a:t>
            </a:r>
            <a:r>
              <a:rPr lang="en-US" altLang="en-US" sz="2100">
                <a:solidFill>
                  <a:schemeClr val="tx1"/>
                </a:solidFill>
              </a:rPr>
              <a:t> (Network Attached Storage),</a:t>
            </a:r>
            <a:r>
              <a:rPr lang="en-US" altLang="en-US" sz="2100" b="1">
                <a:solidFill>
                  <a:srgbClr val="FF0000"/>
                </a:solidFill>
              </a:rPr>
              <a:t> AWS EFS</a:t>
            </a:r>
            <a:r>
              <a:rPr lang="en-US" altLang="en-US" sz="2100">
                <a:solidFill>
                  <a:schemeClr val="tx1"/>
                </a:solidFill>
              </a:rPr>
              <a:t> (Elastic File System).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Advantages:</a:t>
            </a:r>
            <a:r>
              <a:rPr lang="en-US" altLang="en-US" sz="2100">
                <a:solidFill>
                  <a:schemeClr val="tx1"/>
                </a:solidFill>
              </a:rPr>
              <a:t> Shared access, POSIX compliance.</a:t>
            </a:r>
          </a:p>
          <a:p>
            <a:pPr marL="914400" lvl="2" indent="0" eaLnBrk="1" fontAlgn="auto" latinLnBrk="0" hangingPunct="1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  <a:p>
            <a:pPr marL="457200" lvl="1" indent="0" eaLnBrk="1" fontAlgn="auto" latinLnBrk="0" hangingPunct="1">
              <a:lnSpc>
                <a:spcPct val="200000"/>
              </a:lnSpc>
              <a:buFont typeface="+mj-lt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Cloud Storage: Data Management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chemeClr val="tx1"/>
                </a:solidFill>
              </a:rPr>
              <a:t>Cloud Storage Models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 startAt="2"/>
            </a:pPr>
            <a:r>
              <a:rPr lang="en-US" altLang="en-US" sz="2100" b="1">
                <a:solidFill>
                  <a:srgbClr val="FF0000"/>
                </a:solidFill>
                <a:sym typeface="+mn-ea"/>
              </a:rPr>
              <a:t>Object Storage:</a:t>
            </a:r>
            <a:endParaRPr lang="en-US" altLang="en-US" sz="2100" b="1">
              <a:solidFill>
                <a:srgbClr val="FF0000"/>
              </a:solidFill>
            </a:endParaRP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Stores unstructured data (e.g., images, videos) as objects with unique identifiers.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Examples:</a:t>
            </a:r>
            <a:r>
              <a:rPr lang="en-US" altLang="en-US" sz="2100">
                <a:solidFill>
                  <a:schemeClr val="tx1"/>
                </a:solidFill>
              </a:rPr>
              <a:t> Amazon S3, Azure Blob Storage.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Features:</a:t>
            </a:r>
            <a:r>
              <a:rPr lang="en-US" altLang="en-US" sz="2100">
                <a:solidFill>
                  <a:schemeClr val="tx1"/>
                </a:solidFill>
              </a:rPr>
              <a:t> Scalability, metadata tagging, RESTful API access.</a:t>
            </a:r>
          </a:p>
          <a:p>
            <a:pPr marL="914400" lvl="2" indent="0" eaLnBrk="1" fontAlgn="auto" latinLnBrk="0" hangingPunct="1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  <a:p>
            <a:pPr marL="457200" lvl="1" indent="0" eaLnBrk="1" fontAlgn="auto" latinLnBrk="0" hangingPunct="1">
              <a:lnSpc>
                <a:spcPct val="200000"/>
              </a:lnSpc>
              <a:buFont typeface="+mj-lt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Cloud Storage: Data Management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chemeClr val="tx1"/>
                </a:solidFill>
              </a:rPr>
              <a:t>Cloud Storage Models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  <a:sym typeface="+mn-ea"/>
              </a:rPr>
              <a:t>Block Storage:</a:t>
            </a:r>
            <a:endParaRPr lang="en-US" altLang="en-US" sz="2100" b="1">
              <a:solidFill>
                <a:srgbClr val="FF0000"/>
              </a:solidFill>
            </a:endParaRP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  <a:sym typeface="+mn-ea"/>
              </a:rPr>
              <a:t>Splits data into fixed-size blocks (e.g., 512 KB).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  <a:sym typeface="+mn-ea"/>
              </a:rPr>
              <a:t>Use Cases:</a:t>
            </a:r>
            <a:r>
              <a:rPr lang="en-US" altLang="en-US" sz="2100">
                <a:solidFill>
                  <a:schemeClr val="tx1"/>
                </a:solidFill>
                <a:sym typeface="+mn-ea"/>
              </a:rPr>
              <a:t> Databases (e.g., SQL, NoSQL), transactional systems.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  <a:sym typeface="+mn-ea"/>
              </a:rPr>
              <a:t>Examples:</a:t>
            </a:r>
            <a:r>
              <a:rPr lang="en-US" altLang="en-US" sz="2100">
                <a:solidFill>
                  <a:schemeClr val="tx1"/>
                </a:solidFill>
                <a:sym typeface="+mn-ea"/>
              </a:rPr>
              <a:t> AWS EBS (Elastic Block Store), Google Persistent Disk.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  <a:sym typeface="+mn-ea"/>
              </a:rPr>
              <a:t>For example, If a system has 1000 GB of volume, then we can partition it into 800 GB and 200 GB for local C and local D drives respectively.</a:t>
            </a:r>
            <a:endParaRPr lang="en-US" altLang="en-US" sz="2100" b="1">
              <a:solidFill>
                <a:schemeClr val="tx1"/>
              </a:solidFill>
            </a:endParaRP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 startAt="3"/>
            </a:pPr>
            <a:endParaRPr lang="en-US" alt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Cloud Storage: Data Management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00000"/>
              </a:lnSpc>
              <a:buFont typeface="+mj-lt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  <p:pic>
        <p:nvPicPr>
          <p:cNvPr id="4" name="Picture 3" descr="block-or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430020"/>
            <a:ext cx="8982075" cy="506793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Cloud Storage: Data Management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2"/>
            </a:pPr>
            <a:r>
              <a:rPr lang="en-US" altLang="en-US" sz="2100" b="1">
                <a:solidFill>
                  <a:schemeClr val="tx1"/>
                </a:solidFill>
              </a:rPr>
              <a:t>Data Management Strategies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chemeClr val="bg2"/>
                </a:solidFill>
              </a:rPr>
              <a:t>Replication &amp; Redundancy: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Geo-Replication:</a:t>
            </a:r>
            <a:r>
              <a:rPr lang="en-US" altLang="en-US" sz="2100">
                <a:solidFill>
                  <a:schemeClr val="bg2"/>
                </a:solidFill>
              </a:rPr>
              <a:t> Copies data across multiple regions (e.g., Azure Geo-Redundant Storage).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RAID-like Redundancy:</a:t>
            </a:r>
            <a:r>
              <a:rPr lang="en-US" altLang="en-US" sz="2100">
                <a:solidFill>
                  <a:schemeClr val="bg2"/>
                </a:solidFill>
              </a:rPr>
              <a:t> Combines disk arrays for fault tolerance.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Use Case:</a:t>
            </a:r>
            <a:r>
              <a:rPr lang="en-US" altLang="en-US" sz="2100">
                <a:solidFill>
                  <a:schemeClr val="bg2"/>
                </a:solidFill>
              </a:rPr>
              <a:t> Ensures high availability during outages.Backup &amp; Disaster</a:t>
            </a:r>
            <a:r>
              <a:rPr lang="en-US" altLang="en-US" sz="2100" b="1">
                <a:solidFill>
                  <a:srgbClr val="FF0000"/>
                </a:solidFill>
              </a:rPr>
              <a:t> </a:t>
            </a:r>
            <a:endParaRPr lang="en-US" alt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Cloud Storage: Data Management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2"/>
            </a:pPr>
            <a:r>
              <a:rPr lang="en-US" altLang="en-US" sz="2100" b="1">
                <a:solidFill>
                  <a:schemeClr val="tx1"/>
                </a:solidFill>
              </a:rPr>
              <a:t>Data Management Strategies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 startAt="2"/>
            </a:pPr>
            <a:r>
              <a:rPr lang="en-US" altLang="en-US" sz="2100" b="1">
                <a:solidFill>
                  <a:schemeClr val="bg2"/>
                </a:solidFill>
              </a:rPr>
              <a:t>Backup &amp; Disaster Recovery: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Automated Snapshots:</a:t>
            </a:r>
            <a:r>
              <a:rPr lang="en-US" altLang="en-US" sz="2100">
                <a:solidFill>
                  <a:schemeClr val="tx1"/>
                </a:solidFill>
              </a:rPr>
              <a:t> Point-in-time backups (e.g., AWS EBS Snapshots).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Cold Storage:</a:t>
            </a:r>
            <a:r>
              <a:rPr lang="en-US" altLang="en-US" sz="2100">
                <a:solidFill>
                  <a:schemeClr val="tx1"/>
                </a:solidFill>
              </a:rPr>
              <a:t> Long-term archival (e.g., AWS Glacier, Google Coldline).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RTO/RPO:</a:t>
            </a:r>
          </a:p>
          <a:p>
            <a:pPr marL="1714500" lvl="3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bg2"/>
                </a:solidFill>
              </a:rPr>
              <a:t>Recovery Time Objective (RTO):</a:t>
            </a:r>
            <a:r>
              <a:rPr lang="en-US" altLang="en-US" sz="2100">
                <a:solidFill>
                  <a:schemeClr val="tx1"/>
                </a:solidFill>
              </a:rPr>
              <a:t> Time to restore operations.</a:t>
            </a:r>
          </a:p>
          <a:p>
            <a:pPr marL="1714500" lvl="3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bg2"/>
                </a:solidFill>
              </a:rPr>
              <a:t>Recovery Point Objective (RPO):</a:t>
            </a:r>
            <a:r>
              <a:rPr lang="en-US" altLang="en-US" sz="2100">
                <a:solidFill>
                  <a:schemeClr val="tx1"/>
                </a:solidFill>
              </a:rPr>
              <a:t> Maximum data loss tolerance.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Cloud Storage: Data Management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2"/>
            </a:pPr>
            <a:r>
              <a:rPr lang="en-US" altLang="en-US" sz="2100" b="1">
                <a:solidFill>
                  <a:schemeClr val="tx1"/>
                </a:solidFill>
              </a:rPr>
              <a:t>Data Management Strategies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chemeClr val="bg2"/>
                </a:solidFill>
              </a:rPr>
              <a:t>Security &amp; Compliance: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Encryption:</a:t>
            </a:r>
            <a:endParaRPr lang="en-US" altLang="en-US" sz="2100">
              <a:solidFill>
                <a:schemeClr val="tx1"/>
              </a:solidFill>
            </a:endParaRPr>
          </a:p>
          <a:p>
            <a:pPr marL="1714500" lvl="3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At Rest:</a:t>
            </a:r>
            <a:r>
              <a:rPr lang="en-US" altLang="en-US" sz="2100">
                <a:solidFill>
                  <a:schemeClr val="tx1"/>
                </a:solidFill>
              </a:rPr>
              <a:t> AES-256 encryption (e.g., AWS S3 server-side encryption).</a:t>
            </a:r>
          </a:p>
          <a:p>
            <a:pPr marL="1714500" lvl="3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In Transit:</a:t>
            </a:r>
            <a:r>
              <a:rPr lang="en-US" altLang="en-US" sz="2100">
                <a:solidFill>
                  <a:schemeClr val="tx1"/>
                </a:solidFill>
              </a:rPr>
              <a:t> TLS/SSL protocols.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IAM Policies:</a:t>
            </a:r>
            <a:r>
              <a:rPr lang="en-US" altLang="en-US" sz="2100">
                <a:solidFill>
                  <a:schemeClr val="tx1"/>
                </a:solidFill>
              </a:rPr>
              <a:t> Role-based access control (RBAC).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Compliance Frameworks:</a:t>
            </a:r>
            <a:r>
              <a:rPr lang="en-US" altLang="en-US" sz="2100">
                <a:solidFill>
                  <a:schemeClr val="tx1"/>
                </a:solidFill>
              </a:rPr>
              <a:t> GDPR, HIPAA, SOC 2.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3980" y="173990"/>
            <a:ext cx="11856085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en-US" sz="2900" b="1">
                <a:solidFill>
                  <a:schemeClr val="tx1"/>
                </a:solidFill>
                <a:sym typeface="+mn-ea"/>
              </a:rPr>
              <a:t>Data Management Strategies</a:t>
            </a:r>
            <a:endParaRPr lang="en-US" altLang="en-US" sz="29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00000"/>
              </a:lnSpc>
              <a:buFont typeface="+mj-lt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  <p:pic>
        <p:nvPicPr>
          <p:cNvPr id="4" name="Picture 3" descr="7-Key-Strategies-for-Disaster-Recove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315" y="86995"/>
            <a:ext cx="6742430" cy="653097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Cloud Storage: Data Management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300000"/>
              </a:lnSpc>
              <a:buFont typeface="+mj-lt"/>
              <a:buAutoNum type="arabicPeriod" startAt="3"/>
            </a:pPr>
            <a:r>
              <a:rPr lang="en-US" altLang="en-US" sz="2100" b="1">
                <a:solidFill>
                  <a:schemeClr val="tx1"/>
                </a:solidFill>
              </a:rPr>
              <a:t>Metadata Management</a:t>
            </a:r>
          </a:p>
          <a:p>
            <a:pPr marL="800100" lvl="1" indent="-342900" eaLnBrk="1" fontAlgn="auto" latinLnBrk="0" hangingPunct="1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Custom Tags:</a:t>
            </a:r>
            <a:r>
              <a:rPr lang="en-US" altLang="en-US" sz="2100">
                <a:solidFill>
                  <a:schemeClr val="tx1"/>
                </a:solidFill>
              </a:rPr>
              <a:t> Attach metadata (e.g., creation date, author) for efficient search.</a:t>
            </a:r>
          </a:p>
          <a:p>
            <a:pPr marL="800100" lvl="1" indent="-342900" eaLnBrk="1" fontAlgn="auto" latinLnBrk="0" hangingPunct="1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Example:</a:t>
            </a:r>
            <a:r>
              <a:rPr lang="en-US" altLang="en-US" sz="2100">
                <a:solidFill>
                  <a:schemeClr val="tx1"/>
                </a:solidFill>
              </a:rPr>
              <a:t> AWS S3 object tagging for lifecycle policies.</a:t>
            </a:r>
          </a:p>
          <a:p>
            <a:pPr marL="457200" lvl="1" indent="0" eaLnBrk="1" fontAlgn="auto" latinLnBrk="0" hangingPunct="1">
              <a:lnSpc>
                <a:spcPct val="300000"/>
              </a:lnSpc>
              <a:buFont typeface="Arial" panose="020B0604020202020204" pitchFamily="34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  <a:p>
            <a:pPr marL="457200" lvl="1" indent="0" eaLnBrk="1" fontAlgn="auto" latinLnBrk="0" hangingPunct="1">
              <a:lnSpc>
                <a:spcPct val="300000"/>
              </a:lnSpc>
              <a:buFont typeface="Arial" panose="020B0604020202020204" pitchFamily="34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Cloud Storage: Data Management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4"/>
            </a:pPr>
            <a:r>
              <a:rPr lang="en-US" altLang="en-US" sz="2100" b="1">
                <a:solidFill>
                  <a:schemeClr val="tx1"/>
                </a:solidFill>
              </a:rPr>
              <a:t>Data Governance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Data Sovereignty: </a:t>
            </a:r>
            <a:r>
              <a:rPr lang="en-US" altLang="en-US" sz="2100">
                <a:solidFill>
                  <a:schemeClr val="tx1"/>
                </a:solidFill>
              </a:rPr>
              <a:t>Legal requirement to store data within geographic boundaries.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Audit Trails:</a:t>
            </a:r>
            <a:r>
              <a:rPr lang="en-US" altLang="en-US" sz="2100">
                <a:solidFill>
                  <a:schemeClr val="tx1"/>
                </a:solidFill>
              </a:rPr>
              <a:t> Track access/modifications for compliance (e.g., AWS CloudTrail).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Lifecycle Management: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Phases:</a:t>
            </a:r>
            <a:r>
              <a:rPr lang="en-US" altLang="en-US" sz="2100">
                <a:solidFill>
                  <a:schemeClr val="tx1"/>
                </a:solidFill>
              </a:rPr>
              <a:t> Creation → Active Use → Archival → Deletion.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Tools:</a:t>
            </a:r>
            <a:r>
              <a:rPr lang="en-US" altLang="en-US" sz="2100">
                <a:solidFill>
                  <a:schemeClr val="tx1"/>
                </a:solidFill>
              </a:rPr>
              <a:t> AWS S3 Lifecycle Policies, Azure Blob Storage Tiering.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Provisioning Cloud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chemeClr val="tx1"/>
                </a:solidFill>
              </a:rPr>
              <a:t>Dynamic Allocation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On-Demand Scaling: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Automatically allocate storage based on workload (e.g., AWS Auto Scaling).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Thin Provisioning allocates storage only when needed to reduce waste.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Elasticity: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Burst Provisioning:</a:t>
            </a:r>
            <a:r>
              <a:rPr lang="en-US" altLang="en-US" sz="2100">
                <a:solidFill>
                  <a:schemeClr val="tx1"/>
                </a:solidFill>
              </a:rPr>
              <a:t> Temporary scaling for peak demands (e.g., holiday sales).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Use Case:</a:t>
            </a:r>
            <a:r>
              <a:rPr lang="en-US" altLang="en-US" sz="2100">
                <a:solidFill>
                  <a:schemeClr val="tx1"/>
                </a:solidFill>
              </a:rPr>
              <a:t> E-commerce platforms handling traffic spikes.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Provisioning Cloud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2"/>
            </a:pPr>
            <a:r>
              <a:rPr lang="en-US" altLang="en-US" sz="2100" b="1">
                <a:solidFill>
                  <a:schemeClr val="tx1"/>
                </a:solidFill>
              </a:rPr>
              <a:t>Automation &amp; APIs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Infrastructure-as-Code (IaC):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Define storage configurations using templates (e.g., AWS CloudFormation, Terraform).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Advantage: Consistency across environments.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RESTful APIs: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Programmatically manage storage (e.g., create buckets, upload objects).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APIs enable integration with DevOps pipelines.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Provisioning Cloud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180000"/>
              </a:lnSpc>
              <a:buFont typeface="+mj-lt"/>
              <a:buAutoNum type="arabicPeriod" startAt="3"/>
            </a:pPr>
            <a:r>
              <a:rPr lang="en-US" altLang="en-US" sz="2100" b="1">
                <a:solidFill>
                  <a:schemeClr val="tx1"/>
                </a:solidFill>
              </a:rPr>
              <a:t>Storage Tiers &amp; Cost Optimization</a:t>
            </a:r>
          </a:p>
          <a:p>
            <a:pPr marL="914400" lvl="1" indent="-457200" eaLnBrk="1" fontAlgn="auto" latinLnBrk="0" hangingPunct="1">
              <a:lnSpc>
                <a:spcPct val="18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Performance Tiers:</a:t>
            </a:r>
          </a:p>
          <a:p>
            <a:pPr marL="1257300" lvl="2" indent="-342900" eaLnBrk="1" fontAlgn="auto" latinLnBrk="0" hangingPunct="1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bg2"/>
                </a:solidFill>
              </a:rPr>
              <a:t>Hot:</a:t>
            </a:r>
            <a:r>
              <a:rPr lang="en-US" altLang="en-US" sz="2100">
                <a:solidFill>
                  <a:schemeClr val="bg2"/>
                </a:solidFill>
              </a:rPr>
              <a:t> Frequent access (e.g., active databases).</a:t>
            </a:r>
          </a:p>
          <a:p>
            <a:pPr marL="1257300" lvl="2" indent="-342900" eaLnBrk="1" fontAlgn="auto" latinLnBrk="0" hangingPunct="1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bg2"/>
                </a:solidFill>
              </a:rPr>
              <a:t>Cool:</a:t>
            </a:r>
            <a:r>
              <a:rPr lang="en-US" altLang="en-US" sz="2100">
                <a:solidFill>
                  <a:schemeClr val="bg2"/>
                </a:solidFill>
              </a:rPr>
              <a:t> Infrequent access (e.g., backups older than 30 days).</a:t>
            </a:r>
          </a:p>
          <a:p>
            <a:pPr marL="1257300" lvl="2" indent="-342900" eaLnBrk="1" fontAlgn="auto" latinLnBrk="0" hangingPunct="1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bg2"/>
                </a:solidFill>
              </a:rPr>
              <a:t>Archive:</a:t>
            </a:r>
            <a:r>
              <a:rPr lang="en-US" altLang="en-US" sz="2100">
                <a:solidFill>
                  <a:schemeClr val="bg2"/>
                </a:solidFill>
              </a:rPr>
              <a:t> Long-term retention (e.g., compliance data).</a:t>
            </a:r>
          </a:p>
          <a:p>
            <a:pPr marL="914400" lvl="1" indent="-457200" eaLnBrk="1" fontAlgn="auto" latinLnBrk="0" hangingPunct="1">
              <a:lnSpc>
                <a:spcPct val="18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Cost Models:</a:t>
            </a:r>
          </a:p>
          <a:p>
            <a:pPr marL="1257300" lvl="2" indent="-342900" eaLnBrk="1" fontAlgn="auto" latinLnBrk="0" hangingPunct="1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Pay-as-You-Go:</a:t>
            </a:r>
            <a:r>
              <a:rPr lang="en-US" altLang="en-US" sz="2100">
                <a:solidFill>
                  <a:schemeClr val="tx1"/>
                </a:solidFill>
              </a:rPr>
              <a:t> Ideal for unpredictable workloads.</a:t>
            </a:r>
          </a:p>
          <a:p>
            <a:pPr marL="1257300" lvl="2" indent="-342900" eaLnBrk="1" fontAlgn="auto" latinLnBrk="0" hangingPunct="1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Reserved Capacity:</a:t>
            </a:r>
            <a:r>
              <a:rPr lang="en-US" altLang="en-US" sz="2100">
                <a:solidFill>
                  <a:schemeClr val="tx1"/>
                </a:solidFill>
              </a:rPr>
              <a:t> Discounted pricing for predictable enterprise needs.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Provisioning Cloud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300000"/>
              </a:lnSpc>
              <a:buFont typeface="+mj-lt"/>
              <a:buAutoNum type="arabicPeriod" startAt="4"/>
            </a:pPr>
            <a:r>
              <a:rPr lang="en-US" altLang="en-US" sz="2100" b="1">
                <a:solidFill>
                  <a:schemeClr val="tx1"/>
                </a:solidFill>
              </a:rPr>
              <a:t> Monitoring &amp; Management</a:t>
            </a:r>
          </a:p>
          <a:p>
            <a:pPr marL="800100" lvl="1" indent="-342900" eaLnBrk="1" fontAlgn="auto" latinLnBrk="0" hangingPunct="1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Tools: </a:t>
            </a:r>
            <a:r>
              <a:rPr lang="en-US" altLang="en-US" sz="2100">
                <a:solidFill>
                  <a:schemeClr val="tx1"/>
                </a:solidFill>
              </a:rPr>
              <a:t>AWS CloudWatch, Azure Monitor (track usage, latency, errors).</a:t>
            </a:r>
          </a:p>
          <a:p>
            <a:pPr marL="800100" lvl="1" indent="-342900" eaLnBrk="1" fontAlgn="auto" latinLnBrk="0" hangingPunct="1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SLAs:</a:t>
            </a:r>
            <a:r>
              <a:rPr lang="en-US" altLang="en-US" sz="2100">
                <a:solidFill>
                  <a:schemeClr val="tx1"/>
                </a:solidFill>
              </a:rPr>
              <a:t> Guarantees for uptime (e.g., 99.9%), throughput, and support response times.</a:t>
            </a:r>
          </a:p>
          <a:p>
            <a:pPr marL="0" indent="0" eaLnBrk="1" fontAlgn="auto" latinLnBrk="0" hangingPunct="1">
              <a:lnSpc>
                <a:spcPct val="300000"/>
              </a:lnSpc>
              <a:buFont typeface="Arial" panose="020B0604020202020204" pitchFamily="34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Provisioning Cloud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67244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5"/>
            </a:pPr>
            <a:r>
              <a:rPr lang="en-US" altLang="en-US" sz="2100" b="1">
                <a:solidFill>
                  <a:schemeClr val="tx1"/>
                </a:solidFill>
              </a:rPr>
              <a:t>Enterprise Considerations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Hybrid Cloud: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Integrate on-premises storage with cloud (e.g., AWS Storage Gateway).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Use Case: Retailers using hybrid storage for inventory management.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Multi-Cloud Strategies: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Avoid vendor lock-in by distributing storage across AWS, Azure, GCP.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Challenges in Cloud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25715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30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Security Risks: </a:t>
            </a:r>
            <a:r>
              <a:rPr lang="en-US" altLang="en-US" sz="2100">
                <a:solidFill>
                  <a:schemeClr val="tx1"/>
                </a:solidFill>
              </a:rPr>
              <a:t>Multi-tenancy vulnerabilities, misconfigured IAM policies.</a:t>
            </a:r>
          </a:p>
          <a:p>
            <a:pPr marL="457200" indent="-457200" eaLnBrk="1" fontAlgn="auto" latinLnBrk="0" hangingPunct="1">
              <a:lnSpc>
                <a:spcPct val="30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Complexity:</a:t>
            </a:r>
            <a:r>
              <a:rPr lang="en-US" altLang="en-US" sz="2100">
                <a:solidFill>
                  <a:schemeClr val="tx1"/>
                </a:solidFill>
              </a:rPr>
              <a:t> Managing data across hybrid/multi-cloud environments.</a:t>
            </a:r>
          </a:p>
          <a:p>
            <a:pPr marL="457200" indent="-457200" eaLnBrk="1" fontAlgn="auto" latinLnBrk="0" hangingPunct="1">
              <a:lnSpc>
                <a:spcPct val="30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rgbClr val="FF0000"/>
                </a:solidFill>
              </a:rPr>
              <a:t>Cost Overruns:</a:t>
            </a:r>
            <a:r>
              <a:rPr lang="en-US" altLang="en-US" sz="2100">
                <a:solidFill>
                  <a:schemeClr val="tx1"/>
                </a:solidFill>
              </a:rPr>
              <a:t> Unmonitored storage growth (solved via lifecycle policies).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Data-Intensive Technologies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25715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rgbClr val="FF0000"/>
                </a:solidFill>
              </a:rPr>
              <a:t>Definition: </a:t>
            </a:r>
            <a:r>
              <a:rPr lang="en-US" altLang="en-US" sz="2100">
                <a:solidFill>
                  <a:schemeClr val="tx1"/>
                </a:solidFill>
              </a:rPr>
              <a:t>Technologies designed to process, store, and analyze massive datasets (terabytes to petabytes) efficiently in cloud environments.</a:t>
            </a:r>
          </a:p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rgbClr val="FF0000"/>
                </a:solidFill>
              </a:rPr>
              <a:t>Use Cases: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Big data analytics (e.g., customer behavior analysis).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Real-time data processing (e.g., IoT sensor data).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Machine learning pipelines.</a:t>
            </a:r>
          </a:p>
          <a:p>
            <a:pPr marL="0" indent="0" eaLnBrk="1" fontAlgn="auto" latinLnBrk="0" hangingPunct="1">
              <a:lnSpc>
                <a:spcPct val="250000"/>
              </a:lnSpc>
              <a:buFont typeface="+mj-lt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Core Technologies for Data-Intensive Workloads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25715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chemeClr val="tx1"/>
                </a:solidFill>
              </a:rPr>
              <a:t>Distributed Data Processing Frameworks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Apache Hadoop: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Components:</a:t>
            </a:r>
          </a:p>
          <a:p>
            <a:pPr marL="1714500" lvl="3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 b="1">
                <a:solidFill>
                  <a:srgbClr val="FF0000"/>
                </a:solidFill>
              </a:rPr>
              <a:t>HDFS (Hadoop Distributed File System):</a:t>
            </a:r>
            <a:r>
              <a:rPr lang="en-US" altLang="en-US" sz="2100">
                <a:solidFill>
                  <a:schemeClr val="tx1"/>
                </a:solidFill>
              </a:rPr>
              <a:t> Distributed storage for large datasets.</a:t>
            </a:r>
          </a:p>
          <a:p>
            <a:pPr marL="1714500" lvl="3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 b="1">
                <a:solidFill>
                  <a:srgbClr val="FF0000"/>
                </a:solidFill>
              </a:rPr>
              <a:t>MapReduce: </a:t>
            </a:r>
            <a:r>
              <a:rPr lang="en-US" altLang="en-US" sz="2100">
                <a:solidFill>
                  <a:schemeClr val="tx1"/>
                </a:solidFill>
              </a:rPr>
              <a:t>Batch processing model for parallel computation.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Cloud Integration: </a:t>
            </a:r>
          </a:p>
          <a:p>
            <a:pPr marL="1714500" lvl="3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>
                <a:solidFill>
                  <a:schemeClr val="tx1"/>
                </a:solidFill>
              </a:rPr>
              <a:t>AWS EMR (Elastic MapReduce), Google Dataproc.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Core Technologies for Data-Intensive Workloads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25715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chemeClr val="tx1"/>
                </a:solidFill>
              </a:rPr>
              <a:t>Distributed Data Processing Frameworks</a:t>
            </a:r>
          </a:p>
          <a:p>
            <a:pPr marL="914400" lvl="1" indent="-457200" eaLnBrk="1" fontAlgn="auto" latinLnBrk="0" hangingPunct="1">
              <a:lnSpc>
                <a:spcPct val="250000"/>
              </a:lnSpc>
              <a:buFont typeface="+mj-lt"/>
              <a:buAutoNum type="alphaLcPeriod" startAt="2"/>
            </a:pPr>
            <a:r>
              <a:rPr lang="en-US" altLang="en-US" sz="2100" b="1">
                <a:solidFill>
                  <a:srgbClr val="FF0000"/>
                </a:solidFill>
              </a:rPr>
              <a:t>Apache Spark:</a:t>
            </a:r>
          </a:p>
          <a:p>
            <a:pPr marL="1257300" lvl="2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Features:</a:t>
            </a:r>
            <a:r>
              <a:rPr lang="en-US" altLang="en-US" sz="2100">
                <a:solidFill>
                  <a:schemeClr val="tx1"/>
                </a:solidFill>
              </a:rPr>
              <a:t> In-memory processing for faster data analytics. Supports both batch and stream processing.</a:t>
            </a:r>
          </a:p>
          <a:p>
            <a:pPr marL="1257300" lvl="2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Advantages:</a:t>
            </a:r>
            <a:r>
              <a:rPr lang="en-US" altLang="en-US" sz="2100">
                <a:solidFill>
                  <a:schemeClr val="tx1"/>
                </a:solidFill>
              </a:rPr>
              <a:t> Faster than Hadoop for iterative algorithms(e.g., ML).</a:t>
            </a:r>
          </a:p>
          <a:p>
            <a:pPr marL="1257300" lvl="2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Enterprise Use:</a:t>
            </a:r>
            <a:r>
              <a:rPr lang="en-US" altLang="en-US" sz="2100">
                <a:solidFill>
                  <a:schemeClr val="tx1"/>
                </a:solidFill>
              </a:rPr>
              <a:t> Real-time fraud detection in banking.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Core Technologies for Data-Intensive Workloads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25715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chemeClr val="tx1"/>
                </a:solidFill>
              </a:rPr>
              <a:t>Distributed Data Processing Frameworks</a:t>
            </a:r>
          </a:p>
          <a:p>
            <a:pPr marL="914400" lvl="1" indent="-457200" eaLnBrk="1" fontAlgn="auto" latinLnBrk="0" hangingPunct="1">
              <a:lnSpc>
                <a:spcPct val="25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Apache Kafka:</a:t>
            </a:r>
          </a:p>
          <a:p>
            <a:pPr marL="1257300" lvl="2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Role:</a:t>
            </a:r>
            <a:r>
              <a:rPr lang="en-US" altLang="en-US" sz="2100">
                <a:solidFill>
                  <a:schemeClr val="tx1"/>
                </a:solidFill>
              </a:rPr>
              <a:t> Distributed streaming platform for real-time data pipelines.</a:t>
            </a:r>
          </a:p>
          <a:p>
            <a:pPr marL="1257300" lvl="2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Use Case:</a:t>
            </a:r>
            <a:r>
              <a:rPr lang="en-US" altLang="en-US" sz="2100">
                <a:solidFill>
                  <a:schemeClr val="tx1"/>
                </a:solidFill>
              </a:rPr>
              <a:t> Event-driven architectures (e.g., stock trading systems).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Core Technologies for Data-Intensive Workloads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25715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2"/>
            </a:pPr>
            <a:r>
              <a:rPr lang="en-US" altLang="en-US" sz="2100" b="1">
                <a:solidFill>
                  <a:schemeClr val="tx1"/>
                </a:solidFill>
              </a:rPr>
              <a:t>Scalable Storage Systems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NoSQL Databases: </a:t>
            </a:r>
            <a:r>
              <a:rPr lang="en-US" altLang="en-US" sz="2100">
                <a:solidFill>
                  <a:schemeClr val="tx1"/>
                </a:solidFill>
              </a:rPr>
              <a:t>Designed for scalability and flexibility in handling unstructured or semi-structured data.</a:t>
            </a:r>
            <a:endParaRPr lang="en-US" altLang="en-US" sz="2100" b="1">
              <a:solidFill>
                <a:srgbClr val="FF0000"/>
              </a:solidFill>
            </a:endParaRP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Types:</a:t>
            </a:r>
          </a:p>
          <a:p>
            <a:pPr marL="1714500" lvl="3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 b="1">
                <a:solidFill>
                  <a:srgbClr val="FF0000"/>
                </a:solidFill>
              </a:rPr>
              <a:t>Key-Value Stores:</a:t>
            </a:r>
            <a:r>
              <a:rPr lang="en-US" altLang="en-US" sz="2100">
                <a:solidFill>
                  <a:schemeClr val="tx1"/>
                </a:solidFill>
              </a:rPr>
              <a:t> Redis, DynamoDB (for high-speed transactions).</a:t>
            </a:r>
          </a:p>
          <a:p>
            <a:pPr marL="1714500" lvl="3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 b="1">
                <a:solidFill>
                  <a:srgbClr val="FF0000"/>
                </a:solidFill>
              </a:rPr>
              <a:t>Document Stores:</a:t>
            </a:r>
            <a:r>
              <a:rPr lang="en-US" altLang="en-US" sz="2100">
                <a:solidFill>
                  <a:schemeClr val="tx1"/>
                </a:solidFill>
              </a:rPr>
              <a:t> MongoDB (flexible schema for JSON data).</a:t>
            </a:r>
          </a:p>
          <a:p>
            <a:pPr marL="1714500" lvl="3" indent="-342900" eaLnBrk="1" fontAlgn="auto" latinLnBrk="0" hangingPunct="1">
              <a:lnSpc>
                <a:spcPct val="200000"/>
              </a:lnSpc>
              <a:buFont typeface="Wingdings" panose="05000000000000000000" charset="0"/>
              <a:buChar char="ü"/>
            </a:pPr>
            <a:r>
              <a:rPr lang="en-US" altLang="en-US" sz="2100" b="1">
                <a:solidFill>
                  <a:srgbClr val="FF0000"/>
                </a:solidFill>
              </a:rPr>
              <a:t>Column-Family Stores: </a:t>
            </a:r>
            <a:r>
              <a:rPr lang="en-US" altLang="en-US" sz="2100">
                <a:solidFill>
                  <a:schemeClr val="tx1"/>
                </a:solidFill>
              </a:rPr>
              <a:t>Cassandra (time-series data, IoT).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Cloud Services:</a:t>
            </a:r>
            <a:r>
              <a:rPr lang="en-US" altLang="en-US" sz="2100">
                <a:solidFill>
                  <a:schemeClr val="tx1"/>
                </a:solidFill>
              </a:rPr>
              <a:t> AWS DynamoDB, Azure Cosmos DB.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Core Technologies for Data-Intensive Workloads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25715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2"/>
            </a:pPr>
            <a:r>
              <a:rPr lang="en-US" altLang="en-US" sz="2100" b="1">
                <a:solidFill>
                  <a:schemeClr val="tx1"/>
                </a:solidFill>
              </a:rPr>
              <a:t>Scalable Storage Systems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 startAt="2"/>
            </a:pPr>
            <a:r>
              <a:rPr lang="en-US" altLang="en-US" sz="2100" b="1">
                <a:solidFill>
                  <a:srgbClr val="FF0000"/>
                </a:solidFill>
              </a:rPr>
              <a:t>Data Lakes: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Definition: </a:t>
            </a:r>
            <a:r>
              <a:rPr lang="en-US" altLang="en-US" sz="2100">
                <a:solidFill>
                  <a:schemeClr val="tx1"/>
                </a:solidFill>
              </a:rPr>
              <a:t>Centralized repositories for raw, unstructured data (e.g., logs, videos).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Tools:</a:t>
            </a:r>
            <a:r>
              <a:rPr lang="en-US" altLang="en-US" sz="2100">
                <a:solidFill>
                  <a:schemeClr val="tx1"/>
                </a:solidFill>
              </a:rPr>
              <a:t> AWS S3 + Athena, Azure Data Lake Storage.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Enterprise Focus:</a:t>
            </a:r>
            <a:r>
              <a:rPr lang="en-US" altLang="en-US" sz="2100">
                <a:solidFill>
                  <a:schemeClr val="tx1"/>
                </a:solidFill>
              </a:rPr>
              <a:t> Governance and metadata tagging for compliance.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Core Technologies for Data-Intensive Workloads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25715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3"/>
            </a:pPr>
            <a:r>
              <a:rPr lang="en-US" altLang="en-US" sz="2100" b="1">
                <a:solidFill>
                  <a:schemeClr val="tx1"/>
                </a:solidFill>
              </a:rPr>
              <a:t>Data Processing Models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Batch Processing:</a:t>
            </a:r>
          </a:p>
          <a:p>
            <a:pPr marL="1257300" lvl="3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  <a:sym typeface="+mn-ea"/>
              </a:rPr>
              <a:t>Processes large volumes of data at once (e.g., monthly reports).</a:t>
            </a:r>
            <a:endParaRPr lang="en-US" altLang="en-US" sz="2100">
              <a:solidFill>
                <a:schemeClr val="tx1"/>
              </a:solidFill>
            </a:endParaRP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Examples:</a:t>
            </a:r>
            <a:r>
              <a:rPr lang="en-US" altLang="en-US" sz="2100">
                <a:solidFill>
                  <a:schemeClr val="tx1"/>
                </a:solidFill>
              </a:rPr>
              <a:t> Hadoop MapReduce, AWS Glue.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Use Case:</a:t>
            </a:r>
            <a:r>
              <a:rPr lang="en-US" altLang="en-US" sz="2100">
                <a:solidFill>
                  <a:schemeClr val="tx1"/>
                </a:solidFill>
              </a:rPr>
              <a:t> Monthly sales reports, ETL (Extract-Transform-Load) jobs.</a:t>
            </a:r>
          </a:p>
          <a:p>
            <a:pPr marL="457200" lvl="1" indent="0" eaLnBrk="1" fontAlgn="auto" latinLnBrk="0" hangingPunct="1">
              <a:lnSpc>
                <a:spcPct val="200000"/>
              </a:lnSpc>
              <a:buFont typeface="+mj-lt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Core Technologies for Data-Intensive Workloads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25715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3"/>
            </a:pPr>
            <a:r>
              <a:rPr lang="en-US" altLang="en-US" sz="2100" b="1">
                <a:solidFill>
                  <a:schemeClr val="tx1"/>
                </a:solidFill>
              </a:rPr>
              <a:t>Data Processing Models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 startAt="2"/>
            </a:pPr>
            <a:r>
              <a:rPr lang="en-US" altLang="en-US" sz="2100" b="1">
                <a:solidFill>
                  <a:srgbClr val="FF0000"/>
                </a:solidFill>
              </a:rPr>
              <a:t>Stream Processing: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Handles real-time data streams for immediate analysis (e.g., IoT sensor data).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Tools:</a:t>
            </a:r>
            <a:r>
              <a:rPr lang="en-US" altLang="en-US" sz="2100">
                <a:solidFill>
                  <a:schemeClr val="tx1"/>
                </a:solidFill>
              </a:rPr>
              <a:t> Apache Flink, AWS Kinesis.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Use Case: </a:t>
            </a:r>
            <a:r>
              <a:rPr lang="en-US" altLang="en-US" sz="2100">
                <a:solidFill>
                  <a:schemeClr val="tx1"/>
                </a:solidFill>
              </a:rPr>
              <a:t>Real-time social media sentiment analysis.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Core Technologies for Data-Intensive Workloads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264285"/>
            <a:ext cx="1025715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3"/>
            </a:pPr>
            <a:r>
              <a:rPr lang="en-US" altLang="en-US" sz="2100" b="1">
                <a:solidFill>
                  <a:schemeClr val="tx1"/>
                </a:solidFill>
              </a:rPr>
              <a:t>Data Processing Models</a:t>
            </a:r>
          </a:p>
          <a:p>
            <a:pPr marL="914400" lvl="1" indent="-457200" eaLnBrk="1" fontAlgn="auto" latinLnBrk="0" hangingPunct="1">
              <a:lnSpc>
                <a:spcPct val="200000"/>
              </a:lnSpc>
              <a:buFont typeface="+mj-lt"/>
              <a:buAutoNum type="alphaLcPeriod" startAt="3"/>
            </a:pPr>
            <a:r>
              <a:rPr lang="en-US" altLang="en-US" sz="2100" b="1">
                <a:solidFill>
                  <a:srgbClr val="FF0000"/>
                </a:solidFill>
              </a:rPr>
              <a:t>Hybrid Processing (Lambda Architecture):</a:t>
            </a:r>
          </a:p>
          <a:p>
            <a:pPr marL="1257300" lvl="2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Combines batch and stream processing for comprehensive analytics (e.g., Lambda architecture).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Cloud-Native Data-Intensive Architectures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100455"/>
            <a:ext cx="10257155" cy="5353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chemeClr val="tx1"/>
                </a:solidFill>
              </a:rPr>
              <a:t>Scalability &amp; Elasticity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Auto-Scaling:</a:t>
            </a:r>
            <a:r>
              <a:rPr lang="en-US" altLang="en-US" sz="2100">
                <a:solidFill>
                  <a:schemeClr val="tx1"/>
                </a:solidFill>
              </a:rPr>
              <a:t> Dynamically adjust resources (e.g., AWS Auto Scaling for Spark clusters).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Sharding: </a:t>
            </a:r>
            <a:r>
              <a:rPr lang="en-US" altLang="en-US" sz="2100">
                <a:solidFill>
                  <a:schemeClr val="tx1"/>
                </a:solidFill>
              </a:rPr>
              <a:t>Horizontal partitioning of databases (e.g., MongoDB shards).</a:t>
            </a: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chemeClr val="tx1"/>
                </a:solidFill>
              </a:rPr>
              <a:t>Fault Tolerance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Replication: </a:t>
            </a:r>
            <a:r>
              <a:rPr lang="en-US" altLang="en-US" sz="2100">
                <a:solidFill>
                  <a:schemeClr val="tx1"/>
                </a:solidFill>
              </a:rPr>
              <a:t>Data copies across availability zones (e.g., HDFS replication factor).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Checkpointing:</a:t>
            </a:r>
            <a:r>
              <a:rPr lang="en-US" altLang="en-US" sz="2100">
                <a:solidFill>
                  <a:schemeClr val="tx1"/>
                </a:solidFill>
              </a:rPr>
              <a:t> Save intermediate states in Spark to recover from failures.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Cloud-Native Data-Intensive Architectures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312545"/>
            <a:ext cx="10257155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3"/>
            </a:pPr>
            <a:r>
              <a:rPr lang="en-US" altLang="en-US" sz="2100" b="1">
                <a:solidFill>
                  <a:srgbClr val="FF0000"/>
                </a:solidFill>
              </a:rPr>
              <a:t> </a:t>
            </a:r>
            <a:r>
              <a:rPr lang="en-US" altLang="en-US" sz="2100" b="1">
                <a:solidFill>
                  <a:schemeClr val="tx1"/>
                </a:solidFill>
              </a:rPr>
              <a:t>Performance Optimization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In-Memory Caching: </a:t>
            </a:r>
            <a:r>
              <a:rPr lang="en-US" altLang="en-US" sz="2100">
                <a:solidFill>
                  <a:schemeClr val="tx1"/>
                </a:solidFill>
              </a:rPr>
              <a:t>Redis or Memcached to reduce latency.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Columnar Storage: </a:t>
            </a:r>
            <a:r>
              <a:rPr lang="en-US" altLang="en-US" sz="2100">
                <a:solidFill>
                  <a:schemeClr val="tx1"/>
                </a:solidFill>
              </a:rPr>
              <a:t>Formats like Parquet for efficient querying (used in AWS Redshift).</a:t>
            </a:r>
          </a:p>
          <a:p>
            <a:pPr marL="457200" lvl="1" indent="0" eaLnBrk="1" fontAlgn="auto" latinLnBrk="0" hangingPunct="1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Enterprise Considerations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27430" y="1312545"/>
            <a:ext cx="10257155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chemeClr val="tx1"/>
                </a:solidFill>
              </a:rPr>
              <a:t>Data Governance: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Metadata Management: </a:t>
            </a:r>
            <a:r>
              <a:rPr lang="en-US" altLang="en-US" sz="2100">
                <a:solidFill>
                  <a:schemeClr val="tx1"/>
                </a:solidFill>
              </a:rPr>
              <a:t>Track data lineage and usage.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Compliance: </a:t>
            </a:r>
            <a:r>
              <a:rPr lang="en-US" altLang="en-US" sz="2100">
                <a:solidFill>
                  <a:schemeClr val="tx1"/>
                </a:solidFill>
              </a:rPr>
              <a:t>GDPR, HIPAA, and data residency laws.</a:t>
            </a:r>
          </a:p>
          <a:p>
            <a:pPr marL="0" indent="0" eaLnBrk="1" fontAlgn="auto" latinLnBrk="0" hangingPunct="1">
              <a:lnSpc>
                <a:spcPct val="200000"/>
              </a:lnSpc>
              <a:buFont typeface="+mj-lt"/>
              <a:buNone/>
            </a:pPr>
            <a:endParaRPr lang="en-US" altLang="en-US" sz="2100">
              <a:solidFill>
                <a:schemeClr val="tx1"/>
              </a:solidFill>
            </a:endParaRPr>
          </a:p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2100" b="1">
                <a:solidFill>
                  <a:schemeClr val="tx1"/>
                </a:solidFill>
              </a:rPr>
              <a:t>Cost Management: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Pay-per-Query Models:</a:t>
            </a:r>
            <a:r>
              <a:rPr lang="en-US" altLang="en-US" sz="2100">
                <a:solidFill>
                  <a:schemeClr val="tx1"/>
                </a:solidFill>
              </a:rPr>
              <a:t> AWS Athena, Google BigQuery.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Reserved Instances: </a:t>
            </a:r>
            <a:r>
              <a:rPr lang="en-US" altLang="en-US" sz="2100">
                <a:solidFill>
                  <a:schemeClr val="tx1"/>
                </a:solidFill>
              </a:rPr>
              <a:t>For predictable workloads (e.g., nightly batch jobs).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Enterprise Considerations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85215" y="1312545"/>
            <a:ext cx="10257155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00000"/>
              </a:lnSpc>
              <a:buFont typeface="+mj-lt"/>
              <a:buAutoNum type="arabicPeriod" startAt="3"/>
            </a:pPr>
            <a:r>
              <a:rPr lang="en-US" altLang="en-US" sz="2100" b="1">
                <a:solidFill>
                  <a:schemeClr val="tx1"/>
                </a:solidFill>
              </a:rPr>
              <a:t>Hybrid &amp; Multi-Cloud Strategies: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Example:</a:t>
            </a:r>
            <a:r>
              <a:rPr lang="en-US" altLang="en-US" sz="2100">
                <a:solidFill>
                  <a:schemeClr val="tx1"/>
                </a:solidFill>
              </a:rPr>
              <a:t> Storing sensitive data on-premises while processing non-sensitive data in the cloud.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Challenges in Data-Intensive Cloud Computing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9805" y="1312545"/>
            <a:ext cx="10379710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Data Silos:</a:t>
            </a:r>
            <a:r>
              <a:rPr lang="en-US" altLang="en-US" sz="2100">
                <a:solidFill>
                  <a:schemeClr val="tx1"/>
                </a:solidFill>
              </a:rPr>
              <a:t> Integration of disparate data sources (solved via APIs and ETL tools).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Latency:</a:t>
            </a:r>
            <a:r>
              <a:rPr lang="en-US" altLang="en-US" sz="2100">
                <a:solidFill>
                  <a:schemeClr val="tx1"/>
                </a:solidFill>
              </a:rPr>
              <a:t> Minimizing delays in real-time systems (optimized with edge computing).</a:t>
            </a:r>
          </a:p>
          <a:p>
            <a:pPr marL="457200" indent="-457200" eaLnBrk="1" fontAlgn="auto" latinLnBrk="0" hangingPunct="1">
              <a:lnSpc>
                <a:spcPct val="250000"/>
              </a:lnSpc>
              <a:buFont typeface="+mj-lt"/>
              <a:buAutoNum type="alphaLcPeriod"/>
            </a:pPr>
            <a:r>
              <a:rPr lang="en-US" altLang="en-US" sz="2100" b="1">
                <a:solidFill>
                  <a:srgbClr val="FF0000"/>
                </a:solidFill>
              </a:rPr>
              <a:t>Security: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Encryption of data in transit/rest.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>
                <a:solidFill>
                  <a:schemeClr val="tx1"/>
                </a:solidFill>
              </a:rPr>
              <a:t>Role-based access control (e.g., AWS IAM policies).</a:t>
            </a:r>
          </a:p>
          <a:p>
            <a:pPr marL="0" indent="0" eaLnBrk="1" fontAlgn="auto" latinLnBrk="0" hangingPunct="1">
              <a:lnSpc>
                <a:spcPct val="250000"/>
              </a:lnSpc>
              <a:buFont typeface="+mj-lt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Introduction to Cloud File Systems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9805" y="1312545"/>
            <a:ext cx="10514330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r>
              <a:rPr lang="en-US" altLang="en-US" sz="2100">
                <a:solidFill>
                  <a:schemeClr val="tx1"/>
                </a:solidFill>
              </a:rPr>
              <a:t>System that permanently stores data, to store that data in units called </a:t>
            </a:r>
            <a:r>
              <a:rPr lang="en-US" altLang="en-US" sz="2100" b="1">
                <a:solidFill>
                  <a:srgbClr val="FF0000"/>
                </a:solidFill>
              </a:rPr>
              <a:t>"files"</a:t>
            </a:r>
            <a:r>
              <a:rPr lang="en-US" altLang="en-US" sz="2100">
                <a:solidFill>
                  <a:schemeClr val="tx1"/>
                </a:solidFill>
              </a:rPr>
              <a:t> on disks and other media Files are managed by the Operating System.</a:t>
            </a:r>
          </a:p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r>
              <a:rPr lang="en-US" altLang="en-US" sz="2100">
                <a:solidFill>
                  <a:schemeClr val="tx1"/>
                </a:solidFill>
              </a:rPr>
              <a:t>The part of the Operating System that deal with files is known as the </a:t>
            </a:r>
            <a:r>
              <a:rPr lang="en-US" altLang="en-US" sz="2100" b="1">
                <a:solidFill>
                  <a:srgbClr val="FF0000"/>
                </a:solidFill>
              </a:rPr>
              <a:t>"File System"</a:t>
            </a:r>
            <a:r>
              <a:rPr lang="en-US" altLang="en-US" sz="2100">
                <a:solidFill>
                  <a:schemeClr val="tx1"/>
                </a:solidFill>
              </a:rPr>
              <a:t>.</a:t>
            </a:r>
          </a:p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rgbClr val="FF0000"/>
                </a:solidFill>
              </a:rPr>
              <a:t>A file is a collection of disk blocks. </a:t>
            </a:r>
          </a:p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endParaRPr lang="en-US" altLang="en-US" sz="21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Introduction to Cloud File Systems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9805" y="1312545"/>
            <a:ext cx="10379710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rgbClr val="FF0000"/>
                </a:solidFill>
              </a:rPr>
              <a:t>Definition:</a:t>
            </a:r>
            <a:r>
              <a:rPr lang="en-US" altLang="en-US" sz="2100">
                <a:solidFill>
                  <a:schemeClr val="tx1"/>
                </a:solidFill>
              </a:rPr>
              <a:t> Distributed file systems designed for scalable, fault-tolerant storage across clusters of commodity hardware.</a:t>
            </a:r>
          </a:p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rgbClr val="FF0000"/>
                </a:solidFill>
              </a:rPr>
              <a:t>Key Use Cases:</a:t>
            </a:r>
            <a:r>
              <a:rPr lang="en-US" altLang="en-US" sz="2100">
                <a:solidFill>
                  <a:schemeClr val="tx1"/>
                </a:solidFill>
              </a:rPr>
              <a:t> Big data processing, analytics, and enterprise cloud applications.</a:t>
            </a:r>
          </a:p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rgbClr val="FF0000"/>
                </a:solidFill>
              </a:rPr>
              <a:t>Examples:</a:t>
            </a:r>
            <a:r>
              <a:rPr lang="en-US" altLang="en-US" sz="2100">
                <a:solidFill>
                  <a:schemeClr val="tx1"/>
                </a:solidFill>
              </a:rPr>
              <a:t> Google File System (GFS), Hadoop Distributed File System (HDFS).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Google File System (GFS)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9805" y="1312545"/>
            <a:ext cx="10379710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50000"/>
              </a:lnSpc>
              <a:buFont typeface="Wingdings" panose="05000000000000000000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  <p:pic>
        <p:nvPicPr>
          <p:cNvPr id="4" name="Picture 3" descr="GoogleFile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210" y="1421765"/>
            <a:ext cx="9948545" cy="520573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Google File System (GFS)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9805" y="1312545"/>
            <a:ext cx="10379710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Components: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Master Node:</a:t>
            </a:r>
            <a:r>
              <a:rPr lang="en-US" altLang="en-US" sz="2100">
                <a:solidFill>
                  <a:schemeClr val="tx1"/>
                </a:solidFill>
              </a:rPr>
              <a:t> Manages metadata (file names, chunk locations, access control).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Chunk Servers:</a:t>
            </a:r>
            <a:r>
              <a:rPr lang="en-US" altLang="en-US" sz="2100">
                <a:solidFill>
                  <a:schemeClr val="tx1"/>
                </a:solidFill>
              </a:rPr>
              <a:t> Store 64MB chunks of data; replicate chunks (default: 3 copies).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Clients: </a:t>
            </a:r>
            <a:r>
              <a:rPr lang="en-US" altLang="en-US" sz="2100">
                <a:solidFill>
                  <a:schemeClr val="tx1"/>
                </a:solidFill>
              </a:rPr>
              <a:t>Interact with master for metadata, then read/write directly from chunk servers.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Google File System (GFS)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9805" y="1013460"/>
            <a:ext cx="10379710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Key Features: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Fault Tolerance:</a:t>
            </a:r>
            <a:r>
              <a:rPr lang="en-US" altLang="en-US" sz="2100">
                <a:solidFill>
                  <a:schemeClr val="tx1"/>
                </a:solidFill>
              </a:rPr>
              <a:t> Automatic chunk replication.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Relaxed Consistency:</a:t>
            </a:r>
            <a:r>
              <a:rPr lang="en-US" altLang="en-US" sz="2100">
                <a:solidFill>
                  <a:schemeClr val="tx1"/>
                </a:solidFill>
              </a:rPr>
              <a:t> Append-heavy workloads </a:t>
            </a:r>
          </a:p>
          <a:p>
            <a:pPr marL="3200400" lvl="7" indent="457200" eaLnBrk="1" fontAlgn="auto" latinLnBrk="0" hangingPunct="1">
              <a:lnSpc>
                <a:spcPct val="250000"/>
              </a:lnSpc>
              <a:buFont typeface="Arial" panose="020B0604020202020204" pitchFamily="34" charset="0"/>
              <a:buNone/>
            </a:pPr>
            <a:r>
              <a:rPr lang="en-US" altLang="en-US" sz="2100">
                <a:solidFill>
                  <a:schemeClr val="tx1"/>
                </a:solidFill>
              </a:rPr>
              <a:t>(e.g., "record append" for logs).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Optimized for Large Files:</a:t>
            </a:r>
            <a:r>
              <a:rPr lang="en-US" altLang="en-US" sz="2100">
                <a:solidFill>
                  <a:schemeClr val="tx1"/>
                </a:solidFill>
              </a:rPr>
              <a:t> Efficient for streaming reads/writes.</a:t>
            </a:r>
          </a:p>
          <a:p>
            <a:pPr marL="342900" lvl="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rgbClr val="FF0000"/>
                </a:solidFill>
                <a:sym typeface="+mn-ea"/>
              </a:rPr>
              <a:t>GFS prioritizes high throughput over low latency, ideal for Google’s search indexing.</a:t>
            </a:r>
            <a:endParaRPr lang="en-US" altLang="en-US" sz="2100" b="1">
              <a:solidFill>
                <a:srgbClr val="FF0000"/>
              </a:solidFill>
            </a:endParaRPr>
          </a:p>
          <a:p>
            <a:pPr marL="0" lvl="0" indent="0" eaLnBrk="1" fontAlgn="auto" latinLnBrk="0" hangingPunct="1">
              <a:lnSpc>
                <a:spcPct val="250000"/>
              </a:lnSpc>
              <a:buFont typeface="Arial" panose="020B0604020202020204" pitchFamily="34" charset="0"/>
              <a:buNone/>
            </a:pPr>
            <a:endParaRPr lang="en-US" altLang="en-US" sz="21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Hadoop Distributed File System (HDFS)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9805" y="1312545"/>
            <a:ext cx="10379710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eaLnBrk="1" fontAlgn="auto" latinLnBrk="0" hangingPunct="1">
              <a:lnSpc>
                <a:spcPct val="250000"/>
              </a:lnSpc>
              <a:buFont typeface="Wingdings" panose="05000000000000000000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  <p:pic>
        <p:nvPicPr>
          <p:cNvPr id="4" name="Picture 3" descr="hdf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315" y="1394460"/>
            <a:ext cx="8979535" cy="521462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Hadoop Distributed File System (HDFS)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9805" y="1312545"/>
            <a:ext cx="10379710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30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Components:</a:t>
            </a:r>
          </a:p>
          <a:p>
            <a:pPr marL="800100" lvl="1" indent="-342900" eaLnBrk="1" fontAlgn="auto" latinLnBrk="0" hangingPunct="1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NameNode: </a:t>
            </a:r>
            <a:r>
              <a:rPr lang="en-US" altLang="en-US" sz="2100">
                <a:solidFill>
                  <a:schemeClr val="tx1"/>
                </a:solidFill>
              </a:rPr>
              <a:t>Manages metadata (file system tree, block locations).</a:t>
            </a:r>
          </a:p>
          <a:p>
            <a:pPr marL="800100" lvl="1" indent="-342900" eaLnBrk="1" fontAlgn="auto" latinLnBrk="0" hangingPunct="1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DataNodes: </a:t>
            </a:r>
            <a:r>
              <a:rPr lang="en-US" altLang="en-US" sz="2100">
                <a:solidFill>
                  <a:schemeClr val="tx1"/>
                </a:solidFill>
              </a:rPr>
              <a:t>Store data blocks (default: 128MB); report health to NameNode.</a:t>
            </a:r>
          </a:p>
          <a:p>
            <a:pPr marL="800100" lvl="1" indent="-342900" eaLnBrk="1" fontAlgn="auto" latinLnBrk="0" hangingPunct="1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Clients:</a:t>
            </a:r>
            <a:r>
              <a:rPr lang="en-US" altLang="en-US" sz="2100">
                <a:solidFill>
                  <a:schemeClr val="tx1"/>
                </a:solidFill>
              </a:rPr>
              <a:t> Read/write via NameNode coordination.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Hadoop Distributed File System (HDFS)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9805" y="1100455"/>
            <a:ext cx="10379710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Key Features: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Write-Once-Read-Many (WORM):</a:t>
            </a:r>
            <a:r>
              <a:rPr lang="en-US" altLang="en-US" sz="2100">
                <a:solidFill>
                  <a:schemeClr val="tx1"/>
                </a:solidFill>
              </a:rPr>
              <a:t> Optimized for batch processing (e.g., MapReduce).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Replication: </a:t>
            </a:r>
            <a:r>
              <a:rPr lang="en-US" altLang="en-US" sz="2100">
                <a:solidFill>
                  <a:schemeClr val="tx1"/>
                </a:solidFill>
              </a:rPr>
              <a:t>Configurable replication factor (default: 3).</a:t>
            </a: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Scalability:</a:t>
            </a:r>
            <a:r>
              <a:rPr lang="en-US" altLang="en-US" sz="2100">
                <a:solidFill>
                  <a:schemeClr val="tx1"/>
                </a:solidFill>
              </a:rPr>
              <a:t> Horizontal scaling with commodity hardware.</a:t>
            </a:r>
          </a:p>
          <a:p>
            <a:pPr marL="342900" lvl="0" indent="-342900" algn="l" eaLnBrk="1" fontAlgn="auto" latinLnBrk="0" hangingPunct="1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rgbClr val="FF0000"/>
                </a:solidFill>
                <a:sym typeface="+mn-ea"/>
              </a:rPr>
              <a:t>HDFS is central to Hadoop’s ecosystem, enabling cost-effective big data analytics.</a:t>
            </a:r>
            <a:endParaRPr lang="en-US" altLang="en-US" sz="2100" b="1">
              <a:solidFill>
                <a:srgbClr val="FF0000"/>
              </a:solidFill>
            </a:endParaRPr>
          </a:p>
          <a:p>
            <a:pPr marL="800100" lvl="1" indent="-342900" eaLnBrk="1" fontAlgn="auto" latinLnBrk="0" hangingPunct="1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altLang="en-US" sz="21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GFS vs. HDFS Comparison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9805" y="1100455"/>
            <a:ext cx="10379710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eaLnBrk="1" fontAlgn="auto" latinLnBrk="0" hangingPunct="1">
              <a:lnSpc>
                <a:spcPct val="250000"/>
              </a:lnSpc>
              <a:buFont typeface="Arial" panose="020B0604020202020204" pitchFamily="34" charset="0"/>
              <a:buNone/>
            </a:pPr>
            <a:endParaRPr lang="en-US" altLang="en-US" sz="2100" b="1">
              <a:solidFill>
                <a:srgbClr val="FF0000"/>
              </a:solidFill>
            </a:endParaRPr>
          </a:p>
        </p:txBody>
      </p:sp>
      <p:pic>
        <p:nvPicPr>
          <p:cNvPr id="4" name="Picture 3" descr="google-vs-hadoop-l"/>
          <p:cNvPicPr>
            <a:picLocks noChangeAspect="1"/>
          </p:cNvPicPr>
          <p:nvPr/>
        </p:nvPicPr>
        <p:blipFill>
          <a:blip r:embed="rId2"/>
          <a:srcRect b="4509"/>
          <a:stretch>
            <a:fillRect/>
          </a:stretch>
        </p:blipFill>
        <p:spPr>
          <a:xfrm>
            <a:off x="1109980" y="1312545"/>
            <a:ext cx="10050145" cy="543814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Distributed Data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79805" y="1100455"/>
            <a:ext cx="10379710" cy="5141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eaLnBrk="1" fontAlgn="auto" latinLnBrk="0" hangingPunct="1">
              <a:lnSpc>
                <a:spcPct val="250000"/>
              </a:lnSpc>
              <a:buFont typeface="Arial" panose="020B0604020202020204" pitchFamily="34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  <p:pic>
        <p:nvPicPr>
          <p:cNvPr id="4" name="Picture 3" descr="d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60" y="1398270"/>
            <a:ext cx="8728075" cy="5208905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Distributed Data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08380" y="1235710"/>
            <a:ext cx="10351135" cy="551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100">
                <a:solidFill>
                  <a:schemeClr val="tx1"/>
                </a:solidFill>
              </a:rPr>
              <a:t>A system where </a:t>
            </a:r>
            <a:r>
              <a:rPr lang="en-US" altLang="en-US" sz="2100" b="1">
                <a:solidFill>
                  <a:srgbClr val="FF0000"/>
                </a:solidFill>
              </a:rPr>
              <a:t>data is stored across multiple interconnected servers or nodes</a:t>
            </a:r>
            <a:r>
              <a:rPr lang="en-US" altLang="en-US" sz="2100">
                <a:solidFill>
                  <a:schemeClr val="tx1"/>
                </a:solidFill>
              </a:rPr>
              <a:t>, rather than on a single machine.</a:t>
            </a:r>
          </a:p>
          <a:p>
            <a:pPr marL="342900" lvl="0" indent="-342900" eaLnBrk="1" fontAlgn="auto" latinLnBrk="0" hangingPunct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100" b="1">
                <a:solidFill>
                  <a:schemeClr val="tx1"/>
                </a:solidFill>
              </a:rPr>
              <a:t>Why Distribute Data?</a:t>
            </a:r>
          </a:p>
          <a:p>
            <a:pPr marL="800100" lvl="1" indent="-342900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Scalability: </a:t>
            </a:r>
            <a:r>
              <a:rPr lang="en-US" altLang="en-US" sz="2100">
                <a:solidFill>
                  <a:schemeClr val="tx1"/>
                </a:solidFill>
              </a:rPr>
              <a:t>Handle massive amounts of data by adding more nodes. Traditional storage systems have limits. </a:t>
            </a:r>
          </a:p>
          <a:p>
            <a:pPr marL="800100" lvl="1" indent="-342900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Availability/Fault Tolerance:</a:t>
            </a:r>
            <a:r>
              <a:rPr lang="en-US" altLang="en-US" sz="2100">
                <a:solidFill>
                  <a:schemeClr val="tx1"/>
                </a:solidFill>
              </a:rPr>
              <a:t> If one node fails, data remains accessible from other nodes. Redundancy is key. </a:t>
            </a:r>
          </a:p>
          <a:p>
            <a:pPr marL="800100" lvl="1" indent="-342900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Performance:</a:t>
            </a:r>
            <a:r>
              <a:rPr lang="en-US" altLang="en-US" sz="2100">
                <a:solidFill>
                  <a:schemeClr val="tx1"/>
                </a:solidFill>
              </a:rPr>
              <a:t> Data can be stored closer to users, reducing latency and improving access speeds (especially for geographically dispersed users). </a:t>
            </a:r>
          </a:p>
          <a:p>
            <a:pPr marL="800100" lvl="1" indent="-342900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Cost-effectiveness:</a:t>
            </a:r>
            <a:r>
              <a:rPr lang="en-US" altLang="en-US" sz="2100">
                <a:solidFill>
                  <a:schemeClr val="tx1"/>
                </a:solidFill>
              </a:rPr>
              <a:t> Can leverage commodity hardware rather than expensive, specialized storage systems. 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Distributed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50495" y="1235710"/>
            <a:ext cx="11209020" cy="551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lvl="0" indent="-457200" eaLnBrk="1" fontAlgn="auto" latinLnBrk="0" hangingPunct="1">
              <a:lnSpc>
                <a:spcPct val="150000"/>
              </a:lnSpc>
              <a:buFont typeface="+mj-lt"/>
              <a:buAutoNum type="arabicParenR"/>
            </a:pPr>
            <a:r>
              <a:rPr lang="en-US" altLang="en-US" sz="2100" b="1">
                <a:solidFill>
                  <a:schemeClr val="tx1"/>
                </a:solidFill>
              </a:rPr>
              <a:t>File Systems: </a:t>
            </a:r>
            <a:r>
              <a:rPr lang="en-US" altLang="en-US" sz="2100" b="1">
                <a:solidFill>
                  <a:srgbClr val="FF0000"/>
                </a:solidFill>
              </a:rPr>
              <a:t>Data is organized as files and directories</a:t>
            </a:r>
            <a:r>
              <a:rPr lang="en-US" altLang="en-US" sz="2100">
                <a:solidFill>
                  <a:schemeClr val="tx1"/>
                </a:solidFill>
              </a:rPr>
              <a:t>, distributed across multiple servers. </a:t>
            </a:r>
          </a:p>
          <a:p>
            <a:pPr marL="800100" lvl="1" indent="-342900" eaLnBrk="1" fontAlgn="auto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Examples: </a:t>
            </a:r>
            <a:r>
              <a:rPr lang="en-US" altLang="en-US" sz="2100">
                <a:solidFill>
                  <a:schemeClr val="tx1"/>
                </a:solidFill>
              </a:rPr>
              <a:t>Hadoop Distributed File System (HDFS), GlusterFS.</a:t>
            </a:r>
          </a:p>
          <a:p>
            <a:pPr marL="0" lvl="0" indent="0" eaLnBrk="1" fontAlgn="auto" latinLnBrk="0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sz="2100">
              <a:solidFill>
                <a:schemeClr val="tx1"/>
              </a:solidFill>
            </a:endParaRPr>
          </a:p>
        </p:txBody>
      </p:sp>
      <p:pic>
        <p:nvPicPr>
          <p:cNvPr id="4" name="Picture 3" descr="df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325" y="2817495"/>
            <a:ext cx="7571740" cy="3810635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Types of Distributed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50495" y="1235710"/>
            <a:ext cx="11209020" cy="551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lvl="0" indent="-457200" eaLnBrk="1" fontAlgn="auto" latinLnBrk="0" hangingPunct="1">
              <a:lnSpc>
                <a:spcPct val="200000"/>
              </a:lnSpc>
              <a:buFont typeface="+mj-lt"/>
              <a:buAutoNum type="arabicParenR" startAt="2"/>
            </a:pPr>
            <a:r>
              <a:rPr lang="en-US" altLang="en-US" sz="2100" b="1">
                <a:solidFill>
                  <a:schemeClr val="tx1"/>
                </a:solidFill>
              </a:rPr>
              <a:t>NoSQL Databases:</a:t>
            </a:r>
            <a:r>
              <a:rPr lang="en-US" altLang="en-US" sz="2100">
                <a:solidFill>
                  <a:schemeClr val="tx1"/>
                </a:solidFill>
              </a:rPr>
              <a:t> </a:t>
            </a:r>
            <a:r>
              <a:rPr lang="en-US" altLang="en-US" sz="2100" b="1">
                <a:solidFill>
                  <a:srgbClr val="FF0000"/>
                </a:solidFill>
              </a:rPr>
              <a:t>Designed for unstructured or semi-structured data</a:t>
            </a:r>
            <a:r>
              <a:rPr lang="en-US" altLang="en-US" sz="2100">
                <a:solidFill>
                  <a:schemeClr val="tx1"/>
                </a:solidFill>
              </a:rPr>
              <a:t>, often used for web applications and big data. 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Examples:</a:t>
            </a:r>
            <a:r>
              <a:rPr lang="en-US" altLang="en-US" sz="2100">
                <a:solidFill>
                  <a:schemeClr val="tx1"/>
                </a:solidFill>
              </a:rPr>
              <a:t> Cassandra, MongoDB.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2100">
              <a:solidFill>
                <a:schemeClr val="tx1"/>
              </a:solidFill>
            </a:endParaRPr>
          </a:p>
          <a:p>
            <a:pPr marL="457200" lvl="0" indent="-457200" eaLnBrk="1" fontAlgn="auto" latinLnBrk="0" hangingPunct="1">
              <a:lnSpc>
                <a:spcPct val="200000"/>
              </a:lnSpc>
              <a:buFont typeface="+mj-lt"/>
              <a:buAutoNum type="arabicParenR" startAt="2"/>
            </a:pPr>
            <a:r>
              <a:rPr lang="en-US" altLang="en-US" sz="2100" b="1">
                <a:solidFill>
                  <a:schemeClr val="tx1"/>
                </a:solidFill>
              </a:rPr>
              <a:t>Object Storage:</a:t>
            </a:r>
            <a:r>
              <a:rPr lang="en-US" altLang="en-US" sz="2100">
                <a:solidFill>
                  <a:schemeClr val="tx1"/>
                </a:solidFill>
              </a:rPr>
              <a:t> </a:t>
            </a:r>
            <a:r>
              <a:rPr lang="en-US" altLang="en-US" sz="2100" b="1">
                <a:solidFill>
                  <a:srgbClr val="FF0000"/>
                </a:solidFill>
              </a:rPr>
              <a:t>Data is stored as objects with metadata</a:t>
            </a:r>
            <a:r>
              <a:rPr lang="en-US" altLang="en-US" sz="2100">
                <a:solidFill>
                  <a:schemeClr val="tx1"/>
                </a:solidFill>
              </a:rPr>
              <a:t>, suitable for large amounts of unstructured data. </a:t>
            </a:r>
          </a:p>
          <a:p>
            <a:pPr marL="800100" lvl="1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chemeClr val="tx1"/>
                </a:solidFill>
              </a:rPr>
              <a:t>Examples:</a:t>
            </a:r>
            <a:r>
              <a:rPr lang="en-US" altLang="en-US" sz="2100">
                <a:solidFill>
                  <a:schemeClr val="tx1"/>
                </a:solidFill>
              </a:rPr>
              <a:t> Amazon S3, OpenStack Swift. 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Key Concepts in Distributed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08380" y="1235710"/>
            <a:ext cx="10187940" cy="551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Data Partitioning (Sharding):</a:t>
            </a:r>
            <a:r>
              <a:rPr lang="en-US" altLang="en-US" sz="2100">
                <a:solidFill>
                  <a:schemeClr val="tx1"/>
                </a:solidFill>
              </a:rPr>
              <a:t> Dividing data into smaller chunks (shards) and distributing them across nodes. Improves query performance.</a:t>
            </a:r>
          </a:p>
          <a:p>
            <a:pPr marL="342900" lvl="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Replication:</a:t>
            </a:r>
            <a:r>
              <a:rPr lang="en-US" altLang="en-US" sz="2100">
                <a:solidFill>
                  <a:schemeClr val="tx1"/>
                </a:solidFill>
              </a:rPr>
              <a:t> Creating multiple copies of data and storing them on different nodes. Enhances availability and fault tolerance.</a:t>
            </a:r>
          </a:p>
          <a:p>
            <a:pPr marL="342900" lvl="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Consistency:</a:t>
            </a:r>
            <a:r>
              <a:rPr lang="en-US" altLang="en-US" sz="2100">
                <a:solidFill>
                  <a:schemeClr val="tx1"/>
                </a:solidFill>
              </a:rPr>
              <a:t> Ensuring that all clients see the same view of the data, even with updates happening across multiple nodes. Different consistency models exist (e.g., strong consistency, eventual consistency).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173990"/>
            <a:ext cx="11663680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 b="1" dirty="0"/>
              <a:t>Key Concepts in Distributed Storage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08380" y="1235710"/>
            <a:ext cx="10187940" cy="551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Fault Tolerance:</a:t>
            </a:r>
            <a:r>
              <a:rPr lang="en-US" altLang="en-US" sz="2100">
                <a:solidFill>
                  <a:schemeClr val="tx1"/>
                </a:solidFill>
              </a:rPr>
              <a:t> The ability of the system to continue operating even if some nodes fail. Achieved through replication and other mechanisms. </a:t>
            </a:r>
          </a:p>
          <a:p>
            <a:pPr marL="342900" lvl="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Data Locality:</a:t>
            </a:r>
            <a:r>
              <a:rPr lang="en-US" altLang="en-US" sz="2100">
                <a:solidFill>
                  <a:schemeClr val="tx1"/>
                </a:solidFill>
              </a:rPr>
              <a:t> Storing data closer to where it is accessed. Reduces latency and improves performance. 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6385" y="-635"/>
            <a:ext cx="11663680" cy="88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ctr" eaLnBrk="1" fontAlgn="auto" latinLnBrk="0" hangingPunct="1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chemeClr val="tx1"/>
                </a:solidFill>
                <a:sym typeface="+mn-ea"/>
              </a:rPr>
              <a:t>Challenges of Distributed Storage</a:t>
            </a:r>
            <a:endParaRPr lang="en-US" altLang="en-US" sz="32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1104900" y="1235710"/>
            <a:ext cx="10033635" cy="4726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Consistency Management:</a:t>
            </a:r>
            <a:r>
              <a:rPr lang="en-US" altLang="en-US" sz="2100">
                <a:solidFill>
                  <a:schemeClr val="tx1"/>
                </a:solidFill>
              </a:rPr>
              <a:t> Maintaining data consistency across multiple nodes can be complex.</a:t>
            </a:r>
          </a:p>
          <a:p>
            <a:pPr marL="342900" lvl="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Fault Tolerance:</a:t>
            </a:r>
            <a:r>
              <a:rPr lang="en-US" altLang="en-US" sz="2100">
                <a:solidFill>
                  <a:schemeClr val="tx1"/>
                </a:solidFill>
              </a:rPr>
              <a:t> Designing systems that can gracefully handle node failures.</a:t>
            </a:r>
          </a:p>
          <a:p>
            <a:pPr marL="342900" lvl="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Data Management:</a:t>
            </a:r>
            <a:r>
              <a:rPr lang="en-US" altLang="en-US" sz="2100">
                <a:solidFill>
                  <a:schemeClr val="tx1"/>
                </a:solidFill>
              </a:rPr>
              <a:t> Managing large amounts of distributed data can be challenging.</a:t>
            </a:r>
          </a:p>
          <a:p>
            <a:pPr marL="342900" lvl="0" indent="-342900" eaLnBrk="1" fontAlgn="auto" latinLnBrk="0" hangingPunct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solidFill>
                  <a:srgbClr val="FF0000"/>
                </a:solidFill>
              </a:rPr>
              <a:t>Security:</a:t>
            </a:r>
            <a:r>
              <a:rPr lang="en-US" altLang="en-US" sz="2100">
                <a:solidFill>
                  <a:schemeClr val="tx1"/>
                </a:solidFill>
              </a:rPr>
              <a:t> Ensuring the security of data stored across multiple locations.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92"/>
          <p:cNvSpPr txBox="1"/>
          <p:nvPr/>
        </p:nvSpPr>
        <p:spPr>
          <a:xfrm>
            <a:off x="1104840" y="2292120"/>
            <a:ext cx="10096200" cy="22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strike="noStrike" cap="none">
                <a:solidFill>
                  <a:srgbClr val="5148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 !!</a:t>
            </a:r>
            <a:endParaRPr sz="4400" b="0" strike="noStrike">
              <a:solidFill>
                <a:srgbClr val="51484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09" name="Google Shape;509;p92"/>
          <p:cNvSpPr txBox="1"/>
          <p:nvPr/>
        </p:nvSpPr>
        <p:spPr>
          <a:xfrm>
            <a:off x="1104840" y="4062600"/>
            <a:ext cx="10096200" cy="140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strike="noStrike">
                <a:solidFill>
                  <a:srgbClr val="51484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K.K.Wagh Institute of Engineering Education &amp; Research, Nashik</a:t>
            </a:r>
            <a:endParaRPr sz="1800" b="0" strike="noStrike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10" name="Google Shape;510;p9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91560" y="1352520"/>
            <a:ext cx="2228400" cy="186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6118</Words>
  <Application>Microsoft Office PowerPoint</Application>
  <PresentationFormat>Widescreen</PresentationFormat>
  <Paragraphs>597</Paragraphs>
  <Slides>122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122</vt:i4>
      </vt:variant>
    </vt:vector>
  </HeadingPairs>
  <TitlesOfParts>
    <vt:vector size="128" baseType="lpstr">
      <vt:lpstr>Arial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Microsoft account</cp:lastModifiedBy>
  <cp:revision>137</cp:revision>
  <dcterms:created xsi:type="dcterms:W3CDTF">2024-07-07T09:14:00Z</dcterms:created>
  <dcterms:modified xsi:type="dcterms:W3CDTF">2026-02-02T04:53:54Z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98790D1968CC4C488A010C040361193A_13</vt:lpwstr>
  </property>
  <property fmtid="{D5CDD505-2E9C-101B-9397-08002B2CF9AE}" pid="3" name="KSOProductBuildVer">
    <vt:lpwstr>1033-12.2.0.19805</vt:lpwstr>
  </property>
</Properties>
</file>